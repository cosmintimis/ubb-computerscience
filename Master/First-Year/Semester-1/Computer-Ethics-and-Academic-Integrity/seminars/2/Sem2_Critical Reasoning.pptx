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93" r:id="rId5"/>
    <p:sldId id="294" r:id="rId6"/>
    <p:sldId id="295" r:id="rId7"/>
    <p:sldId id="298" r:id="rId8"/>
    <p:sldId id="299" r:id="rId9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020D2-5ED9-E1B6-554F-F850C6E7BCBB}" v="1" dt="2025-10-22T12:32:23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IOAN MIHU" userId="S::alexandru.mihu@stud.ubbcluj.ro::a482b415-3f1d-4a85-988f-6bd1d5b9ed6a" providerId="AD" clId="Web-{29C020D2-5ED9-E1B6-554F-F850C6E7BCBB}"/>
    <pc:docChg chg="modSld">
      <pc:chgData name="ALEXANDRU-IOAN MIHU" userId="S::alexandru.mihu@stud.ubbcluj.ro::a482b415-3f1d-4a85-988f-6bd1d5b9ed6a" providerId="AD" clId="Web-{29C020D2-5ED9-E1B6-554F-F850C6E7BCBB}" dt="2025-10-22T12:32:23.309" v="0" actId="20577"/>
      <pc:docMkLst>
        <pc:docMk/>
      </pc:docMkLst>
      <pc:sldChg chg="modSp">
        <pc:chgData name="ALEXANDRU-IOAN MIHU" userId="S::alexandru.mihu@stud.ubbcluj.ro::a482b415-3f1d-4a85-988f-6bd1d5b9ed6a" providerId="AD" clId="Web-{29C020D2-5ED9-E1B6-554F-F850C6E7BCBB}" dt="2025-10-22T12:32:23.309" v="0" actId="20577"/>
        <pc:sldMkLst>
          <pc:docMk/>
          <pc:sldMk cId="4163787676" sldId="298"/>
        </pc:sldMkLst>
        <pc:spChg chg="mod">
          <ac:chgData name="ALEXANDRU-IOAN MIHU" userId="S::alexandru.mihu@stud.ubbcluj.ro::a482b415-3f1d-4a85-988f-6bd1d5b9ed6a" providerId="AD" clId="Web-{29C020D2-5ED9-E1B6-554F-F850C6E7BCBB}" dt="2025-10-22T12:32:23.309" v="0" actId="20577"/>
          <ac:spMkLst>
            <pc:docMk/>
            <pc:sldMk cId="4163787676" sldId="298"/>
            <ac:spMk id="3" creationId="{12FBD140-454C-E091-854D-15B524369340}"/>
          </ac:spMkLst>
        </pc:spChg>
      </pc:sldChg>
    </pc:docChg>
  </pc:docChgLst>
  <pc:docChgLst>
    <pc:chgData name="BOGDAN-IOAN OPRIȘIU" userId="S::bogdan.oprisiu@stud.ubbcluj.ro::3276fd6d-86f0-4378-8cb4-6353c3bd2c99" providerId="AD" clId="Web-{250C8557-0623-A758-7BBA-8F9BF9A8AD70}"/>
    <pc:docChg chg="addSld delSld">
      <pc:chgData name="BOGDAN-IOAN OPRIȘIU" userId="S::bogdan.oprisiu@stud.ubbcluj.ro::3276fd6d-86f0-4378-8cb4-6353c3bd2c99" providerId="AD" clId="Web-{250C8557-0623-A758-7BBA-8F9BF9A8AD70}" dt="2025-10-17T13:25:41.674" v="1"/>
      <pc:docMkLst>
        <pc:docMk/>
      </pc:docMkLst>
      <pc:sldChg chg="add del">
        <pc:chgData name="BOGDAN-IOAN OPRIȘIU" userId="S::bogdan.oprisiu@stud.ubbcluj.ro::3276fd6d-86f0-4378-8cb4-6353c3bd2c99" providerId="AD" clId="Web-{250C8557-0623-A758-7BBA-8F9BF9A8AD70}" dt="2025-10-17T13:25:41.674" v="1"/>
        <pc:sldMkLst>
          <pc:docMk/>
          <pc:sldMk cId="1530548889" sldId="295"/>
        </pc:sldMkLst>
      </pc:sldChg>
    </pc:docChg>
  </pc:docChgLst>
  <pc:docChgLst>
    <pc:chgData name="Simona-Claudia Motogna" userId="S::simona.motogna@ubbcluj.ro::b884329f-a730-4792-ab4e-1d18cc9a9d92" providerId="AD" clId="Web-{C0AC6CD4-7D9E-9655-CE79-1AAE44DE33FA}"/>
    <pc:docChg chg="modSld">
      <pc:chgData name="Simona-Claudia Motogna" userId="S::simona.motogna@ubbcluj.ro::b884329f-a730-4792-ab4e-1d18cc9a9d92" providerId="AD" clId="Web-{C0AC6CD4-7D9E-9655-CE79-1AAE44DE33FA}" dt="2025-10-17T06:27:04.908" v="0"/>
      <pc:docMkLst>
        <pc:docMk/>
      </pc:docMkLst>
      <pc:sldChg chg="modSp">
        <pc:chgData name="Simona-Claudia Motogna" userId="S::simona.motogna@ubbcluj.ro::b884329f-a730-4792-ab4e-1d18cc9a9d92" providerId="AD" clId="Web-{C0AC6CD4-7D9E-9655-CE79-1AAE44DE33FA}" dt="2025-10-17T06:27:04.908" v="0"/>
        <pc:sldMkLst>
          <pc:docMk/>
          <pc:sldMk cId="1530548889" sldId="295"/>
        </pc:sldMkLst>
        <pc:graphicFrameChg chg="modGraphic">
          <ac:chgData name="Simona-Claudia Motogna" userId="S::simona.motogna@ubbcluj.ro::b884329f-a730-4792-ab4e-1d18cc9a9d92" providerId="AD" clId="Web-{C0AC6CD4-7D9E-9655-CE79-1AAE44DE33FA}" dt="2025-10-17T06:27:04.908" v="0"/>
          <ac:graphicFrameMkLst>
            <pc:docMk/>
            <pc:sldMk cId="1530548889" sldId="295"/>
            <ac:graphicFrameMk id="5" creationId="{89219611-0996-3358-A17F-7707FD30BB9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4C51FA-11A0-2147-992A-1819882B0562}" type="doc">
      <dgm:prSet loTypeId="urn:microsoft.com/office/officeart/2005/8/layout/bProcess3" loCatId="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ED685CDA-4D68-A54D-94BA-39D6D527D541}">
      <dgm:prSet phldrT="[Text]"/>
      <dgm:spPr/>
      <dgm:t>
        <a:bodyPr/>
        <a:lstStyle/>
        <a:p>
          <a:r>
            <a:rPr lang="en-GB"/>
            <a:t>Convert arguments to standard form</a:t>
          </a:r>
        </a:p>
      </dgm:t>
    </dgm:pt>
    <dgm:pt modelId="{984E12B6-2E0E-A948-8C05-C35E7D9B06C0}" type="parTrans" cxnId="{E9D68E93-C0CA-9940-A7F1-F7F131982DD2}">
      <dgm:prSet/>
      <dgm:spPr/>
      <dgm:t>
        <a:bodyPr/>
        <a:lstStyle/>
        <a:p>
          <a:endParaRPr lang="en-GB"/>
        </a:p>
      </dgm:t>
    </dgm:pt>
    <dgm:pt modelId="{EFC4C905-285D-4641-986B-248527B7B07D}" type="sibTrans" cxnId="{E9D68E93-C0CA-9940-A7F1-F7F131982DD2}">
      <dgm:prSet/>
      <dgm:spPr/>
      <dgm:t>
        <a:bodyPr/>
        <a:lstStyle/>
        <a:p>
          <a:endParaRPr lang="en-GB"/>
        </a:p>
      </dgm:t>
    </dgm:pt>
    <dgm:pt modelId="{6EB1D4E0-2A83-F848-BAD7-E375531DCC3B}">
      <dgm:prSet phldrT="[Text]"/>
      <dgm:spPr/>
      <dgm:t>
        <a:bodyPr/>
        <a:lstStyle/>
        <a:p>
          <a:r>
            <a:rPr lang="en-GB"/>
            <a:t>Test argument for its </a:t>
          </a:r>
          <a:r>
            <a:rPr lang="en-GB" err="1"/>
            <a:t>strengts</a:t>
          </a:r>
          <a:r>
            <a:rPr lang="en-GB"/>
            <a:t>: is it valid or not?</a:t>
          </a:r>
        </a:p>
      </dgm:t>
    </dgm:pt>
    <dgm:pt modelId="{F29C1CAF-E39A-DA46-8D36-BF17B327DB96}" type="parTrans" cxnId="{18484976-EB8F-7F49-942D-6C95F0E231FB}">
      <dgm:prSet/>
      <dgm:spPr/>
      <dgm:t>
        <a:bodyPr/>
        <a:lstStyle/>
        <a:p>
          <a:endParaRPr lang="en-GB"/>
        </a:p>
      </dgm:t>
    </dgm:pt>
    <dgm:pt modelId="{77188821-6CE4-7C4B-9032-F16AA77BF7D6}" type="sibTrans" cxnId="{18484976-EB8F-7F49-942D-6C95F0E231FB}">
      <dgm:prSet/>
      <dgm:spPr/>
      <dgm:t>
        <a:bodyPr/>
        <a:lstStyle/>
        <a:p>
          <a:endParaRPr lang="en-GB"/>
        </a:p>
      </dgm:t>
    </dgm:pt>
    <dgm:pt modelId="{57276CD2-0E4D-934D-AFCE-4EEE810D01E0}">
      <dgm:prSet phldrT="[Text]"/>
      <dgm:spPr/>
      <dgm:t>
        <a:bodyPr/>
        <a:lstStyle/>
        <a:p>
          <a:r>
            <a:rPr lang="en-GB"/>
            <a:t>Valid: is it sound?</a:t>
          </a:r>
        </a:p>
      </dgm:t>
    </dgm:pt>
    <dgm:pt modelId="{49F86FA6-BA03-5142-896E-5504C20F5C24}" type="parTrans" cxnId="{B20ABA0B-46E2-2540-9DF5-4D64570F962C}">
      <dgm:prSet/>
      <dgm:spPr/>
      <dgm:t>
        <a:bodyPr/>
        <a:lstStyle/>
        <a:p>
          <a:endParaRPr lang="en-GB"/>
        </a:p>
      </dgm:t>
    </dgm:pt>
    <dgm:pt modelId="{C12CEF71-8C4F-094E-BC94-1ADFD9AA0A26}" type="sibTrans" cxnId="{B20ABA0B-46E2-2540-9DF5-4D64570F962C}">
      <dgm:prSet/>
      <dgm:spPr/>
      <dgm:t>
        <a:bodyPr/>
        <a:lstStyle/>
        <a:p>
          <a:endParaRPr lang="en-GB"/>
        </a:p>
      </dgm:t>
    </dgm:pt>
    <dgm:pt modelId="{7C97C5E5-DED5-394C-AEBA-7B5FFC690E83}">
      <dgm:prSet phldrT="[Text]"/>
      <dgm:spPr/>
      <dgm:t>
        <a:bodyPr/>
        <a:lstStyle/>
        <a:p>
          <a:r>
            <a:rPr lang="en-GB"/>
            <a:t>Invalid: inductive or wrong (fallacious)? </a:t>
          </a:r>
        </a:p>
      </dgm:t>
    </dgm:pt>
    <dgm:pt modelId="{499B7D33-BB9D-5440-9844-5A9A65551C4B}" type="parTrans" cxnId="{4C264888-459C-8F4D-A8B1-24F9E1FF0CB2}">
      <dgm:prSet/>
      <dgm:spPr/>
      <dgm:t>
        <a:bodyPr/>
        <a:lstStyle/>
        <a:p>
          <a:endParaRPr lang="en-GB"/>
        </a:p>
      </dgm:t>
    </dgm:pt>
    <dgm:pt modelId="{25885C3B-21D4-114F-8EBC-928B2D72978A}" type="sibTrans" cxnId="{4C264888-459C-8F4D-A8B1-24F9E1FF0CB2}">
      <dgm:prSet/>
      <dgm:spPr/>
      <dgm:t>
        <a:bodyPr/>
        <a:lstStyle/>
        <a:p>
          <a:endParaRPr lang="en-GB"/>
        </a:p>
      </dgm:t>
    </dgm:pt>
    <dgm:pt modelId="{BACDA167-E304-0E4C-A94C-BA86F0C64790}">
      <dgm:prSet phldrT="[Text]"/>
      <dgm:spPr/>
      <dgm:t>
        <a:bodyPr/>
        <a:lstStyle/>
        <a:p>
          <a:r>
            <a:rPr lang="en-GB"/>
            <a:t>Determine whether the arguments are true or false in the real world  </a:t>
          </a:r>
        </a:p>
      </dgm:t>
    </dgm:pt>
    <dgm:pt modelId="{CE5EB7E5-FCAE-1346-8CFE-87DB829F61CB}" type="parTrans" cxnId="{FF868D6A-AD88-8D40-B505-436E2B959D8A}">
      <dgm:prSet/>
      <dgm:spPr/>
      <dgm:t>
        <a:bodyPr/>
        <a:lstStyle/>
        <a:p>
          <a:endParaRPr lang="en-GB"/>
        </a:p>
      </dgm:t>
    </dgm:pt>
    <dgm:pt modelId="{4271259C-0BCF-8641-A662-4A5A329006E3}" type="sibTrans" cxnId="{FF868D6A-AD88-8D40-B505-436E2B959D8A}">
      <dgm:prSet/>
      <dgm:spPr/>
      <dgm:t>
        <a:bodyPr/>
        <a:lstStyle/>
        <a:p>
          <a:endParaRPr lang="en-GB"/>
        </a:p>
      </dgm:t>
    </dgm:pt>
    <dgm:pt modelId="{3736FDA8-FAA1-B04D-AC0D-9D84CA90E9E2}" type="pres">
      <dgm:prSet presAssocID="{DC4C51FA-11A0-2147-992A-1819882B0562}" presName="Name0" presStyleCnt="0">
        <dgm:presLayoutVars>
          <dgm:dir/>
          <dgm:resizeHandles val="exact"/>
        </dgm:presLayoutVars>
      </dgm:prSet>
      <dgm:spPr/>
    </dgm:pt>
    <dgm:pt modelId="{88C86C9E-AF59-3F46-B93B-F435A8E9DF6A}" type="pres">
      <dgm:prSet presAssocID="{ED685CDA-4D68-A54D-94BA-39D6D527D541}" presName="node" presStyleLbl="node1" presStyleIdx="0" presStyleCnt="5">
        <dgm:presLayoutVars>
          <dgm:bulletEnabled val="1"/>
        </dgm:presLayoutVars>
      </dgm:prSet>
      <dgm:spPr/>
    </dgm:pt>
    <dgm:pt modelId="{FDFA6F15-2C58-6347-9830-59FBB5257E59}" type="pres">
      <dgm:prSet presAssocID="{EFC4C905-285D-4641-986B-248527B7B07D}" presName="sibTrans" presStyleLbl="sibTrans1D1" presStyleIdx="0" presStyleCnt="4"/>
      <dgm:spPr/>
    </dgm:pt>
    <dgm:pt modelId="{A42E9C9B-8422-2E4A-994C-67656B522852}" type="pres">
      <dgm:prSet presAssocID="{EFC4C905-285D-4641-986B-248527B7B07D}" presName="connectorText" presStyleLbl="sibTrans1D1" presStyleIdx="0" presStyleCnt="4"/>
      <dgm:spPr/>
    </dgm:pt>
    <dgm:pt modelId="{0E2B54FC-850F-ED4D-9462-B678DDDA4B77}" type="pres">
      <dgm:prSet presAssocID="{6EB1D4E0-2A83-F848-BAD7-E375531DCC3B}" presName="node" presStyleLbl="node1" presStyleIdx="1" presStyleCnt="5">
        <dgm:presLayoutVars>
          <dgm:bulletEnabled val="1"/>
        </dgm:presLayoutVars>
      </dgm:prSet>
      <dgm:spPr/>
    </dgm:pt>
    <dgm:pt modelId="{7728E2BB-ED3E-0148-B802-99BCB1B7C972}" type="pres">
      <dgm:prSet presAssocID="{77188821-6CE4-7C4B-9032-F16AA77BF7D6}" presName="sibTrans" presStyleLbl="sibTrans1D1" presStyleIdx="1" presStyleCnt="4"/>
      <dgm:spPr/>
    </dgm:pt>
    <dgm:pt modelId="{608580C0-3596-3A4A-AA86-E41E23D8ABB9}" type="pres">
      <dgm:prSet presAssocID="{77188821-6CE4-7C4B-9032-F16AA77BF7D6}" presName="connectorText" presStyleLbl="sibTrans1D1" presStyleIdx="1" presStyleCnt="4"/>
      <dgm:spPr/>
    </dgm:pt>
    <dgm:pt modelId="{310C040D-698E-404D-9226-0A0389938A53}" type="pres">
      <dgm:prSet presAssocID="{57276CD2-0E4D-934D-AFCE-4EEE810D01E0}" presName="node" presStyleLbl="node1" presStyleIdx="2" presStyleCnt="5">
        <dgm:presLayoutVars>
          <dgm:bulletEnabled val="1"/>
        </dgm:presLayoutVars>
      </dgm:prSet>
      <dgm:spPr/>
    </dgm:pt>
    <dgm:pt modelId="{11CEA412-3F8C-D543-AC4E-6038EE2EAEF9}" type="pres">
      <dgm:prSet presAssocID="{C12CEF71-8C4F-094E-BC94-1ADFD9AA0A26}" presName="sibTrans" presStyleLbl="sibTrans1D1" presStyleIdx="2" presStyleCnt="4"/>
      <dgm:spPr/>
    </dgm:pt>
    <dgm:pt modelId="{821F6FC1-2094-714D-AB87-17FB59213CA2}" type="pres">
      <dgm:prSet presAssocID="{C12CEF71-8C4F-094E-BC94-1ADFD9AA0A26}" presName="connectorText" presStyleLbl="sibTrans1D1" presStyleIdx="2" presStyleCnt="4"/>
      <dgm:spPr/>
    </dgm:pt>
    <dgm:pt modelId="{5BA24F3B-7402-7946-B046-D3AAC5FAED58}" type="pres">
      <dgm:prSet presAssocID="{7C97C5E5-DED5-394C-AEBA-7B5FFC690E83}" presName="node" presStyleLbl="node1" presStyleIdx="3" presStyleCnt="5">
        <dgm:presLayoutVars>
          <dgm:bulletEnabled val="1"/>
        </dgm:presLayoutVars>
      </dgm:prSet>
      <dgm:spPr/>
    </dgm:pt>
    <dgm:pt modelId="{669CFE90-6E25-5547-878F-BB37DE696E00}" type="pres">
      <dgm:prSet presAssocID="{25885C3B-21D4-114F-8EBC-928B2D72978A}" presName="sibTrans" presStyleLbl="sibTrans1D1" presStyleIdx="3" presStyleCnt="4"/>
      <dgm:spPr/>
    </dgm:pt>
    <dgm:pt modelId="{7F49F42E-7107-CF4C-BFB8-EA87064C4EB5}" type="pres">
      <dgm:prSet presAssocID="{25885C3B-21D4-114F-8EBC-928B2D72978A}" presName="connectorText" presStyleLbl="sibTrans1D1" presStyleIdx="3" presStyleCnt="4"/>
      <dgm:spPr/>
    </dgm:pt>
    <dgm:pt modelId="{4C3A9BED-C8F1-A74E-8B3F-92166BF16355}" type="pres">
      <dgm:prSet presAssocID="{BACDA167-E304-0E4C-A94C-BA86F0C64790}" presName="node" presStyleLbl="node1" presStyleIdx="4" presStyleCnt="5">
        <dgm:presLayoutVars>
          <dgm:bulletEnabled val="1"/>
        </dgm:presLayoutVars>
      </dgm:prSet>
      <dgm:spPr/>
    </dgm:pt>
  </dgm:ptLst>
  <dgm:cxnLst>
    <dgm:cxn modelId="{F3EEF305-BD79-9049-AD72-C8FF108119C6}" type="presOf" srcId="{C12CEF71-8C4F-094E-BC94-1ADFD9AA0A26}" destId="{11CEA412-3F8C-D543-AC4E-6038EE2EAEF9}" srcOrd="0" destOrd="0" presId="urn:microsoft.com/office/officeart/2005/8/layout/bProcess3"/>
    <dgm:cxn modelId="{B20ABA0B-46E2-2540-9DF5-4D64570F962C}" srcId="{DC4C51FA-11A0-2147-992A-1819882B0562}" destId="{57276CD2-0E4D-934D-AFCE-4EEE810D01E0}" srcOrd="2" destOrd="0" parTransId="{49F86FA6-BA03-5142-896E-5504C20F5C24}" sibTransId="{C12CEF71-8C4F-094E-BC94-1ADFD9AA0A26}"/>
    <dgm:cxn modelId="{AE488F17-9791-5543-9386-FEB28CD37836}" type="presOf" srcId="{BACDA167-E304-0E4C-A94C-BA86F0C64790}" destId="{4C3A9BED-C8F1-A74E-8B3F-92166BF16355}" srcOrd="0" destOrd="0" presId="urn:microsoft.com/office/officeart/2005/8/layout/bProcess3"/>
    <dgm:cxn modelId="{F2D34A19-A5B7-0C49-BB54-EDB89C6697F1}" type="presOf" srcId="{77188821-6CE4-7C4B-9032-F16AA77BF7D6}" destId="{608580C0-3596-3A4A-AA86-E41E23D8ABB9}" srcOrd="1" destOrd="0" presId="urn:microsoft.com/office/officeart/2005/8/layout/bProcess3"/>
    <dgm:cxn modelId="{72D22B2D-CF33-F745-856C-68676579AC8A}" type="presOf" srcId="{6EB1D4E0-2A83-F848-BAD7-E375531DCC3B}" destId="{0E2B54FC-850F-ED4D-9462-B678DDDA4B77}" srcOrd="0" destOrd="0" presId="urn:microsoft.com/office/officeart/2005/8/layout/bProcess3"/>
    <dgm:cxn modelId="{C0A4A33D-9F78-3646-AEC2-721A7B38EA35}" type="presOf" srcId="{EFC4C905-285D-4641-986B-248527B7B07D}" destId="{A42E9C9B-8422-2E4A-994C-67656B522852}" srcOrd="1" destOrd="0" presId="urn:microsoft.com/office/officeart/2005/8/layout/bProcess3"/>
    <dgm:cxn modelId="{FF868D6A-AD88-8D40-B505-436E2B959D8A}" srcId="{DC4C51FA-11A0-2147-992A-1819882B0562}" destId="{BACDA167-E304-0E4C-A94C-BA86F0C64790}" srcOrd="4" destOrd="0" parTransId="{CE5EB7E5-FCAE-1346-8CFE-87DB829F61CB}" sibTransId="{4271259C-0BCF-8641-A662-4A5A329006E3}"/>
    <dgm:cxn modelId="{18484976-EB8F-7F49-942D-6C95F0E231FB}" srcId="{DC4C51FA-11A0-2147-992A-1819882B0562}" destId="{6EB1D4E0-2A83-F848-BAD7-E375531DCC3B}" srcOrd="1" destOrd="0" parTransId="{F29C1CAF-E39A-DA46-8D36-BF17B327DB96}" sibTransId="{77188821-6CE4-7C4B-9032-F16AA77BF7D6}"/>
    <dgm:cxn modelId="{6CB90557-30AF-3F44-97FA-B2215F2BE500}" type="presOf" srcId="{77188821-6CE4-7C4B-9032-F16AA77BF7D6}" destId="{7728E2BB-ED3E-0148-B802-99BCB1B7C972}" srcOrd="0" destOrd="0" presId="urn:microsoft.com/office/officeart/2005/8/layout/bProcess3"/>
    <dgm:cxn modelId="{4C264888-459C-8F4D-A8B1-24F9E1FF0CB2}" srcId="{DC4C51FA-11A0-2147-992A-1819882B0562}" destId="{7C97C5E5-DED5-394C-AEBA-7B5FFC690E83}" srcOrd="3" destOrd="0" parTransId="{499B7D33-BB9D-5440-9844-5A9A65551C4B}" sibTransId="{25885C3B-21D4-114F-8EBC-928B2D72978A}"/>
    <dgm:cxn modelId="{E9D68E93-C0CA-9940-A7F1-F7F131982DD2}" srcId="{DC4C51FA-11A0-2147-992A-1819882B0562}" destId="{ED685CDA-4D68-A54D-94BA-39D6D527D541}" srcOrd="0" destOrd="0" parTransId="{984E12B6-2E0E-A948-8C05-C35E7D9B06C0}" sibTransId="{EFC4C905-285D-4641-986B-248527B7B07D}"/>
    <dgm:cxn modelId="{ED7B77A6-9713-7E45-A5E7-CB384F43CEA9}" type="presOf" srcId="{EFC4C905-285D-4641-986B-248527B7B07D}" destId="{FDFA6F15-2C58-6347-9830-59FBB5257E59}" srcOrd="0" destOrd="0" presId="urn:microsoft.com/office/officeart/2005/8/layout/bProcess3"/>
    <dgm:cxn modelId="{AF5684AE-A68C-4F41-B1D9-A9C59F01112C}" type="presOf" srcId="{C12CEF71-8C4F-094E-BC94-1ADFD9AA0A26}" destId="{821F6FC1-2094-714D-AB87-17FB59213CA2}" srcOrd="1" destOrd="0" presId="urn:microsoft.com/office/officeart/2005/8/layout/bProcess3"/>
    <dgm:cxn modelId="{6F38A6B2-6C50-1146-83A1-D8C48F826491}" type="presOf" srcId="{25885C3B-21D4-114F-8EBC-928B2D72978A}" destId="{7F49F42E-7107-CF4C-BFB8-EA87064C4EB5}" srcOrd="1" destOrd="0" presId="urn:microsoft.com/office/officeart/2005/8/layout/bProcess3"/>
    <dgm:cxn modelId="{875A36B6-505E-6949-8FBF-19D14D5706AD}" type="presOf" srcId="{25885C3B-21D4-114F-8EBC-928B2D72978A}" destId="{669CFE90-6E25-5547-878F-BB37DE696E00}" srcOrd="0" destOrd="0" presId="urn:microsoft.com/office/officeart/2005/8/layout/bProcess3"/>
    <dgm:cxn modelId="{E58BF9B7-D7D6-4F4A-A8EC-E67B44455DDF}" type="presOf" srcId="{7C97C5E5-DED5-394C-AEBA-7B5FFC690E83}" destId="{5BA24F3B-7402-7946-B046-D3AAC5FAED58}" srcOrd="0" destOrd="0" presId="urn:microsoft.com/office/officeart/2005/8/layout/bProcess3"/>
    <dgm:cxn modelId="{FB0A87C1-B88C-E544-962F-000E75FAC7DD}" type="presOf" srcId="{57276CD2-0E4D-934D-AFCE-4EEE810D01E0}" destId="{310C040D-698E-404D-9226-0A0389938A53}" srcOrd="0" destOrd="0" presId="urn:microsoft.com/office/officeart/2005/8/layout/bProcess3"/>
    <dgm:cxn modelId="{C01446E1-A981-574B-AEEE-5559722F32FD}" type="presOf" srcId="{DC4C51FA-11A0-2147-992A-1819882B0562}" destId="{3736FDA8-FAA1-B04D-AC0D-9D84CA90E9E2}" srcOrd="0" destOrd="0" presId="urn:microsoft.com/office/officeart/2005/8/layout/bProcess3"/>
    <dgm:cxn modelId="{F6784EE9-37E0-6047-B626-C069F3254513}" type="presOf" srcId="{ED685CDA-4D68-A54D-94BA-39D6D527D541}" destId="{88C86C9E-AF59-3F46-B93B-F435A8E9DF6A}" srcOrd="0" destOrd="0" presId="urn:microsoft.com/office/officeart/2005/8/layout/bProcess3"/>
    <dgm:cxn modelId="{B2779229-9F60-C84F-8B00-EFC94E79A185}" type="presParOf" srcId="{3736FDA8-FAA1-B04D-AC0D-9D84CA90E9E2}" destId="{88C86C9E-AF59-3F46-B93B-F435A8E9DF6A}" srcOrd="0" destOrd="0" presId="urn:microsoft.com/office/officeart/2005/8/layout/bProcess3"/>
    <dgm:cxn modelId="{D790E523-E3E0-4F45-B4F7-B5BC12920F72}" type="presParOf" srcId="{3736FDA8-FAA1-B04D-AC0D-9D84CA90E9E2}" destId="{FDFA6F15-2C58-6347-9830-59FBB5257E59}" srcOrd="1" destOrd="0" presId="urn:microsoft.com/office/officeart/2005/8/layout/bProcess3"/>
    <dgm:cxn modelId="{0A5E5515-46C5-0542-B126-B4DC96925168}" type="presParOf" srcId="{FDFA6F15-2C58-6347-9830-59FBB5257E59}" destId="{A42E9C9B-8422-2E4A-994C-67656B522852}" srcOrd="0" destOrd="0" presId="urn:microsoft.com/office/officeart/2005/8/layout/bProcess3"/>
    <dgm:cxn modelId="{AD90FA64-FC22-F847-871D-272B868D1A01}" type="presParOf" srcId="{3736FDA8-FAA1-B04D-AC0D-9D84CA90E9E2}" destId="{0E2B54FC-850F-ED4D-9462-B678DDDA4B77}" srcOrd="2" destOrd="0" presId="urn:microsoft.com/office/officeart/2005/8/layout/bProcess3"/>
    <dgm:cxn modelId="{49326B2F-EDC0-494C-8BFA-37F985CE3663}" type="presParOf" srcId="{3736FDA8-FAA1-B04D-AC0D-9D84CA90E9E2}" destId="{7728E2BB-ED3E-0148-B802-99BCB1B7C972}" srcOrd="3" destOrd="0" presId="urn:microsoft.com/office/officeart/2005/8/layout/bProcess3"/>
    <dgm:cxn modelId="{426B05BB-2BCA-2848-8D04-F12177DDAEF1}" type="presParOf" srcId="{7728E2BB-ED3E-0148-B802-99BCB1B7C972}" destId="{608580C0-3596-3A4A-AA86-E41E23D8ABB9}" srcOrd="0" destOrd="0" presId="urn:microsoft.com/office/officeart/2005/8/layout/bProcess3"/>
    <dgm:cxn modelId="{ECEA3076-4E33-DF4C-ACFA-AE70C138D5A3}" type="presParOf" srcId="{3736FDA8-FAA1-B04D-AC0D-9D84CA90E9E2}" destId="{310C040D-698E-404D-9226-0A0389938A53}" srcOrd="4" destOrd="0" presId="urn:microsoft.com/office/officeart/2005/8/layout/bProcess3"/>
    <dgm:cxn modelId="{3F55F170-0E92-CB42-A867-195D3912E2CA}" type="presParOf" srcId="{3736FDA8-FAA1-B04D-AC0D-9D84CA90E9E2}" destId="{11CEA412-3F8C-D543-AC4E-6038EE2EAEF9}" srcOrd="5" destOrd="0" presId="urn:microsoft.com/office/officeart/2005/8/layout/bProcess3"/>
    <dgm:cxn modelId="{F7CAE406-B9D9-1046-928A-51CF19CFD98D}" type="presParOf" srcId="{11CEA412-3F8C-D543-AC4E-6038EE2EAEF9}" destId="{821F6FC1-2094-714D-AB87-17FB59213CA2}" srcOrd="0" destOrd="0" presId="urn:microsoft.com/office/officeart/2005/8/layout/bProcess3"/>
    <dgm:cxn modelId="{817BF7A7-7DA4-C049-8C03-9402745EA5BB}" type="presParOf" srcId="{3736FDA8-FAA1-B04D-AC0D-9D84CA90E9E2}" destId="{5BA24F3B-7402-7946-B046-D3AAC5FAED58}" srcOrd="6" destOrd="0" presId="urn:microsoft.com/office/officeart/2005/8/layout/bProcess3"/>
    <dgm:cxn modelId="{C32C8ACA-77FB-6D4E-A6C8-A3030573FBA9}" type="presParOf" srcId="{3736FDA8-FAA1-B04D-AC0D-9D84CA90E9E2}" destId="{669CFE90-6E25-5547-878F-BB37DE696E00}" srcOrd="7" destOrd="0" presId="urn:microsoft.com/office/officeart/2005/8/layout/bProcess3"/>
    <dgm:cxn modelId="{B9958389-CC89-EE43-A43A-51E27A67F405}" type="presParOf" srcId="{669CFE90-6E25-5547-878F-BB37DE696E00}" destId="{7F49F42E-7107-CF4C-BFB8-EA87064C4EB5}" srcOrd="0" destOrd="0" presId="urn:microsoft.com/office/officeart/2005/8/layout/bProcess3"/>
    <dgm:cxn modelId="{26CA32C5-5D98-4B41-9530-D69C17212E82}" type="presParOf" srcId="{3736FDA8-FAA1-B04D-AC0D-9D84CA90E9E2}" destId="{4C3A9BED-C8F1-A74E-8B3F-92166BF16355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A6F15-2C58-6347-9830-59FBB5257E59}">
      <dsp:nvSpPr>
        <dsp:cNvPr id="0" name=""/>
        <dsp:cNvSpPr/>
      </dsp:nvSpPr>
      <dsp:spPr>
        <a:xfrm>
          <a:off x="2770451" y="1679240"/>
          <a:ext cx="605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5328" y="45720"/>
              </a:lnTo>
            </a:path>
          </a:pathLst>
        </a:custGeom>
        <a:noFill/>
        <a:ln w="12700" cap="flat" cmpd="sng" algn="ctr">
          <a:solidFill>
            <a:schemeClr val="accent6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057217" y="1721781"/>
        <a:ext cx="31796" cy="6359"/>
      </dsp:txXfrm>
    </dsp:sp>
    <dsp:sp modelId="{88C86C9E-AF59-3F46-B93B-F435A8E9DF6A}">
      <dsp:nvSpPr>
        <dsp:cNvPr id="0" name=""/>
        <dsp:cNvSpPr/>
      </dsp:nvSpPr>
      <dsp:spPr>
        <a:xfrm>
          <a:off x="7345" y="895488"/>
          <a:ext cx="2764906" cy="165894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Convert arguments to standard form</a:t>
          </a:r>
        </a:p>
      </dsp:txBody>
      <dsp:txXfrm>
        <a:off x="7345" y="895488"/>
        <a:ext cx="2764906" cy="1658943"/>
      </dsp:txXfrm>
    </dsp:sp>
    <dsp:sp modelId="{7728E2BB-ED3E-0148-B802-99BCB1B7C972}">
      <dsp:nvSpPr>
        <dsp:cNvPr id="0" name=""/>
        <dsp:cNvSpPr/>
      </dsp:nvSpPr>
      <dsp:spPr>
        <a:xfrm>
          <a:off x="6171286" y="1679240"/>
          <a:ext cx="605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5328" y="45720"/>
              </a:lnTo>
            </a:path>
          </a:pathLst>
        </a:custGeom>
        <a:noFill/>
        <a:ln w="12700" cap="flat" cmpd="sng" algn="ctr">
          <a:solidFill>
            <a:schemeClr val="accent6">
              <a:shade val="90000"/>
              <a:hueOff val="141045"/>
              <a:satOff val="-10297"/>
              <a:lumOff val="133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458052" y="1721781"/>
        <a:ext cx="31796" cy="6359"/>
      </dsp:txXfrm>
    </dsp:sp>
    <dsp:sp modelId="{0E2B54FC-850F-ED4D-9462-B678DDDA4B77}">
      <dsp:nvSpPr>
        <dsp:cNvPr id="0" name=""/>
        <dsp:cNvSpPr/>
      </dsp:nvSpPr>
      <dsp:spPr>
        <a:xfrm>
          <a:off x="3408179" y="895488"/>
          <a:ext cx="2764906" cy="165894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Test argument for its </a:t>
          </a:r>
          <a:r>
            <a:rPr lang="en-GB" sz="2300" kern="1200" err="1"/>
            <a:t>strengts</a:t>
          </a:r>
          <a:r>
            <a:rPr lang="en-GB" sz="2300" kern="1200"/>
            <a:t>: is it valid or not?</a:t>
          </a:r>
        </a:p>
      </dsp:txBody>
      <dsp:txXfrm>
        <a:off x="3408179" y="895488"/>
        <a:ext cx="2764906" cy="1658943"/>
      </dsp:txXfrm>
    </dsp:sp>
    <dsp:sp modelId="{11CEA412-3F8C-D543-AC4E-6038EE2EAEF9}">
      <dsp:nvSpPr>
        <dsp:cNvPr id="0" name=""/>
        <dsp:cNvSpPr/>
      </dsp:nvSpPr>
      <dsp:spPr>
        <a:xfrm>
          <a:off x="1389798" y="2552632"/>
          <a:ext cx="6801669" cy="605328"/>
        </a:xfrm>
        <a:custGeom>
          <a:avLst/>
          <a:gdLst/>
          <a:ahLst/>
          <a:cxnLst/>
          <a:rect l="0" t="0" r="0" b="0"/>
          <a:pathLst>
            <a:path>
              <a:moveTo>
                <a:pt x="6801669" y="0"/>
              </a:moveTo>
              <a:lnTo>
                <a:pt x="6801669" y="319764"/>
              </a:lnTo>
              <a:lnTo>
                <a:pt x="0" y="319764"/>
              </a:lnTo>
              <a:lnTo>
                <a:pt x="0" y="605328"/>
              </a:lnTo>
            </a:path>
          </a:pathLst>
        </a:custGeom>
        <a:noFill/>
        <a:ln w="12700" cap="flat" cmpd="sng" algn="ctr">
          <a:solidFill>
            <a:schemeClr val="accent6">
              <a:shade val="90000"/>
              <a:hueOff val="282091"/>
              <a:satOff val="-20595"/>
              <a:lumOff val="2667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19849" y="2852117"/>
        <a:ext cx="341566" cy="6359"/>
      </dsp:txXfrm>
    </dsp:sp>
    <dsp:sp modelId="{310C040D-698E-404D-9226-0A0389938A53}">
      <dsp:nvSpPr>
        <dsp:cNvPr id="0" name=""/>
        <dsp:cNvSpPr/>
      </dsp:nvSpPr>
      <dsp:spPr>
        <a:xfrm>
          <a:off x="6809014" y="895488"/>
          <a:ext cx="2764906" cy="165894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Valid: is it sound?</a:t>
          </a:r>
        </a:p>
      </dsp:txBody>
      <dsp:txXfrm>
        <a:off x="6809014" y="895488"/>
        <a:ext cx="2764906" cy="1658943"/>
      </dsp:txXfrm>
    </dsp:sp>
    <dsp:sp modelId="{669CFE90-6E25-5547-878F-BB37DE696E00}">
      <dsp:nvSpPr>
        <dsp:cNvPr id="0" name=""/>
        <dsp:cNvSpPr/>
      </dsp:nvSpPr>
      <dsp:spPr>
        <a:xfrm>
          <a:off x="2770451" y="3974113"/>
          <a:ext cx="605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5328" y="45720"/>
              </a:lnTo>
            </a:path>
          </a:pathLst>
        </a:custGeom>
        <a:noFill/>
        <a:ln w="12700" cap="flat" cmpd="sng" algn="ctr">
          <a:solidFill>
            <a:schemeClr val="accent6">
              <a:shade val="90000"/>
              <a:hueOff val="423136"/>
              <a:satOff val="-30892"/>
              <a:lumOff val="400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057217" y="4016653"/>
        <a:ext cx="31796" cy="6359"/>
      </dsp:txXfrm>
    </dsp:sp>
    <dsp:sp modelId="{5BA24F3B-7402-7946-B046-D3AAC5FAED58}">
      <dsp:nvSpPr>
        <dsp:cNvPr id="0" name=""/>
        <dsp:cNvSpPr/>
      </dsp:nvSpPr>
      <dsp:spPr>
        <a:xfrm>
          <a:off x="7345" y="3190361"/>
          <a:ext cx="2764906" cy="165894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Invalid: inductive or wrong (fallacious)? </a:t>
          </a:r>
        </a:p>
      </dsp:txBody>
      <dsp:txXfrm>
        <a:off x="7345" y="3190361"/>
        <a:ext cx="2764906" cy="1658943"/>
      </dsp:txXfrm>
    </dsp:sp>
    <dsp:sp modelId="{4C3A9BED-C8F1-A74E-8B3F-92166BF16355}">
      <dsp:nvSpPr>
        <dsp:cNvPr id="0" name=""/>
        <dsp:cNvSpPr/>
      </dsp:nvSpPr>
      <dsp:spPr>
        <a:xfrm>
          <a:off x="3408179" y="3190361"/>
          <a:ext cx="2764906" cy="165894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Determine whether the arguments are true or false in the real world  </a:t>
          </a:r>
        </a:p>
      </dsp:txBody>
      <dsp:txXfrm>
        <a:off x="3408179" y="3190361"/>
        <a:ext cx="2764906" cy="1658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718E-0B5F-A444-1245-AF40C6850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9E24B-B5EE-5909-5B17-4CE8BBC98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956F7-FD8C-0FA5-0B29-014F1F45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E7F9-94F7-F1AA-4B44-FD32F5E2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2B78-09FA-FF08-468D-B7BC3507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46399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4C07-1225-88CC-D9C4-F03D465C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ABED-7594-26C2-2A3D-035FAA649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94C7-A8C1-1F77-B30C-9F886376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5347-9987-2C8B-C614-EA251E5E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27CF-2498-78D6-3987-ED2A79B9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33027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BABA-9B80-9080-8759-38DACB70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1ED68-28D0-3DC0-E2AD-5EEBCD745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45829-4FA5-4888-EFC1-6AA67CA8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8DAD9-71D2-D74A-651B-486EE167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6807-41F4-6949-38F1-CC5C0213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0063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5B8D-DE70-45D3-DD4E-CAA147E2A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9DB2-443C-4DF7-C4A1-9DD2EE005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15B81-D3B0-411F-A01A-1EC560E7F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82F22-5539-4290-FEF7-7FCBF649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13335-53E8-ED4B-C5E7-48DB35CB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FEBBD-7892-96DF-2A34-1F52F644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70046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6B56-1C61-85AC-26FF-6915CC50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B2B45-A7C5-37C6-4B12-DF84E35EB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99F77-9068-D74E-AEE6-CE06B5DF6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21CFC-BDF6-B559-8AAE-1A37794FB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32B07-25BA-05A7-14B1-1FDAC40AF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FAA74-38CB-FB27-48C4-5912FF6A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575CD-E696-FBB1-5AE3-E68DA15D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D3F98-7A71-0E9C-C3F6-C86608BF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6438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B1BA-CC41-0D37-41E9-01BCCACC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4EED1-9944-945D-16FC-83EA324C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9251C-5B5D-6A9E-EE72-7A0634919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5F575-2DA3-F330-A113-A9DA5942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29050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40355-0BA2-34BF-F955-36A713A4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78F3A-A460-10AE-E7AF-D8B89BB4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24F1A-09D4-E9B4-D0BB-A5C4FA36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2702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DC25-DF78-C657-6EE9-9C099C55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92E13-AAEA-79C7-02F4-8A14582B2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D897F-64FB-2DAF-2999-FE839FF6A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DBC40-21B1-6B87-6BB1-40F5A53F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4D31D-7054-C6E7-8209-8F058944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E6DD2-1240-70ED-B98F-E54E12CF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738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18BB-4906-D48C-1310-1D5AD6F3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41AB3-0FF3-DF3B-4FD9-3C28192E5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28C99-A952-BC30-053C-370EB3D29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A7AFE-0AF6-BF57-7C5D-5465C1F1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318E8-A00A-E447-C8FA-F50D0F53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5B0AC-3B63-1A18-0B1C-E8C198F6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68121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31CA-BF5F-62D6-CC2B-E2ACC327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69B7A-D1C4-F89C-41C6-C5A976777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CA5E2-6F7B-8190-16E6-6CB9984D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D704B-526E-BF75-3D2B-8E1D813B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4D744-454B-BA53-8E18-43622F8C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31035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5AF68-ACCD-5C48-14E0-360480816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1809C-D4B8-6DB5-1F83-E8BA9E3E8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DBE1F-7AEB-ECF8-6AB8-710B8030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712A4-06C5-D506-B1E2-91228EDD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5AE2-2B35-7E8D-B004-D22B6236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660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5A5F-6954-D703-468E-A117DA14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92BF2-4965-1FE1-03EA-052F9515F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BE201-4B5C-5B8F-C0A9-42F8823EE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5BE14-4D73-6546-9CE2-44396BC02B5F}" type="datetimeFigureOut">
              <a:rPr lang="en-RO" smtClean="0"/>
              <a:t>10/22/2025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C20C-10AB-1659-D26A-AE884D4FC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F252F-91C1-341E-D624-3AAA40735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0FFFD-7716-6049-B27E-06C1759FDA6A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6242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ifancao.wordpress.com/2009/11/28/line-drawing-methodology-and-case-study/" TargetMode="External"/><Relationship Id="rId2" Type="http://schemas.openxmlformats.org/officeDocument/2006/relationships/hyperlink" Target="https://michaelkhan.wordpress.com/2009/11/29/line-drawing-method-briber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pliance.ufl.edu/media/complianceufledu/documents/Ethical-Decision-Making-Flow-Chart---5-24-22.pdf" TargetMode="External"/><Relationship Id="rId4" Type="http://schemas.openxmlformats.org/officeDocument/2006/relationships/hyperlink" Target="https://www.ukri.org/wp-content/uploads/2021/07/ESRC-210721-EthicsReview-ExampleOfFlowchart.pdf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F02728-7BF9-53CC-1E34-476A0E5C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Critical reasoning (seminar)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58F75F-7B64-CAD8-36EB-777C350B1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D7E56-FEB6-6975-E280-3051DA2A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S.Motogna - Ethics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8476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859FFD-0E1F-05DD-4EDA-D826F02E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>
                <a:effectLst/>
                <a:latin typeface="AdvOTbb216540"/>
              </a:rPr>
              <a:t>Critical Reasoning (from  - </a:t>
            </a:r>
            <a:r>
              <a:rPr lang="en-GB" sz="1800">
                <a:effectLst/>
                <a:latin typeface="AdvOTbb216540"/>
              </a:rPr>
              <a:t>H. </a:t>
            </a:r>
            <a:r>
              <a:rPr lang="en-GB" sz="1800" err="1">
                <a:latin typeface="AdvOTbb216540"/>
              </a:rPr>
              <a:t>T</a:t>
            </a:r>
            <a:r>
              <a:rPr lang="en-GB" sz="1800" err="1">
                <a:effectLst/>
                <a:latin typeface="AdvOTbb216540"/>
              </a:rPr>
              <a:t>arvani</a:t>
            </a:r>
            <a:r>
              <a:rPr lang="en-GB" sz="1800">
                <a:latin typeface="AdvOTbb216540"/>
              </a:rPr>
              <a:t>,</a:t>
            </a:r>
            <a:r>
              <a:rPr lang="en-GB" sz="3200">
                <a:effectLst/>
                <a:latin typeface="AdvOTbb216540"/>
              </a:rPr>
              <a:t> </a:t>
            </a:r>
            <a:r>
              <a:rPr lang="en-GB" sz="1800">
                <a:effectLst/>
                <a:latin typeface="AdvOTbb216540"/>
              </a:rPr>
              <a:t>Ethics and technology : controversies, questions, and strategies for ethical  computing</a:t>
            </a:r>
            <a:r>
              <a:rPr lang="en-GB" sz="1800">
                <a:latin typeface="AdvOTbb216540+20"/>
              </a:rPr>
              <a:t>, </a:t>
            </a:r>
            <a:r>
              <a:rPr lang="en-GB" sz="1800">
                <a:effectLst/>
                <a:latin typeface="AdvOTbb216540"/>
              </a:rPr>
              <a:t>Fourth edition, Wiley, 2013)</a:t>
            </a:r>
            <a:endParaRPr lang="en-RO" sz="32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367E9-77CC-5CBC-B26C-3714B1921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>
                <a:effectLst/>
                <a:latin typeface="AdvOTbb216540"/>
              </a:rPr>
              <a:t>evaluating the strength of </a:t>
            </a:r>
            <a:r>
              <a:rPr lang="en-GB" b="1">
                <a:effectLst/>
                <a:latin typeface="AdvOT2b0f33d7.I"/>
              </a:rPr>
              <a:t>arguments</a:t>
            </a:r>
            <a:r>
              <a:rPr lang="en-GB">
                <a:effectLst/>
                <a:latin typeface="AdvOT2b0f33d7.I"/>
              </a:rPr>
              <a:t> </a:t>
            </a:r>
            <a:r>
              <a:rPr lang="en-GB">
                <a:effectLst/>
                <a:latin typeface="AdvOTbb216540"/>
              </a:rPr>
              <a:t>and in </a:t>
            </a:r>
            <a:r>
              <a:rPr lang="en-GB" err="1">
                <a:effectLst/>
                <a:latin typeface="AdvOTbb216540"/>
              </a:rPr>
              <a:t>analyzing</a:t>
            </a:r>
            <a:r>
              <a:rPr lang="en-GB">
                <a:effectLst/>
                <a:latin typeface="AdvOTbb216540"/>
              </a:rPr>
              <a:t> (the truth or falsity of) </a:t>
            </a:r>
            <a:r>
              <a:rPr lang="en-GB" b="1">
                <a:effectLst/>
                <a:latin typeface="AdvOT2b0f33d7.I"/>
              </a:rPr>
              <a:t>claims</a:t>
            </a:r>
            <a:r>
              <a:rPr lang="en-GB">
                <a:effectLst/>
                <a:latin typeface="AdvOT2b0f33d7.I"/>
              </a:rPr>
              <a:t> </a:t>
            </a:r>
            <a:endParaRPr lang="en-GB"/>
          </a:p>
          <a:p>
            <a:r>
              <a:rPr lang="en-GB"/>
              <a:t>C</a:t>
            </a:r>
            <a:r>
              <a:rPr lang="en-RO"/>
              <a:t>laims – premises – at least 2</a:t>
            </a:r>
          </a:p>
          <a:p>
            <a:r>
              <a:rPr lang="en-GB"/>
              <a:t>A</a:t>
            </a:r>
            <a:r>
              <a:rPr lang="en-RO"/>
              <a:t>im to establish a 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DB0A-E8EE-AB08-2A0C-8B0624E7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S.Motogna - Ethics</a:t>
            </a:r>
            <a:endParaRPr lang="en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488AA-F93B-A30D-E3F5-4107C82DBEC8}"/>
              </a:ext>
            </a:extLst>
          </p:cNvPr>
          <p:cNvSpPr/>
          <p:nvPr/>
        </p:nvSpPr>
        <p:spPr>
          <a:xfrm>
            <a:off x="838200" y="4001294"/>
            <a:ext cx="7535119" cy="1956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>
                <a:effectLst/>
                <a:latin typeface="AdvOT487b4e6e.B"/>
              </a:rPr>
              <a:t>PREMISE 1. </a:t>
            </a:r>
            <a:r>
              <a:rPr lang="en-GB" sz="1800">
                <a:effectLst/>
                <a:latin typeface="AdvOTbb216540"/>
              </a:rPr>
              <a:t>People who own iMac</a:t>
            </a:r>
            <a:r>
              <a:rPr lang="en-GB" sz="1800">
                <a:effectLst/>
                <a:latin typeface="AdvOTbb216540+20"/>
              </a:rPr>
              <a:t>’</a:t>
            </a:r>
            <a:r>
              <a:rPr lang="en-GB" sz="1800">
                <a:effectLst/>
                <a:latin typeface="AdvOTbb216540"/>
              </a:rPr>
              <a:t>s are smarter than those who own PCs. </a:t>
            </a:r>
            <a:r>
              <a:rPr lang="en-GB" sz="1800">
                <a:effectLst/>
                <a:latin typeface="AdvOT487b4e6e.B"/>
              </a:rPr>
              <a:t>PREMISE 2. </a:t>
            </a:r>
            <a:r>
              <a:rPr lang="en-GB" sz="1800">
                <a:effectLst/>
                <a:latin typeface="AdvOTbb216540"/>
              </a:rPr>
              <a:t>My roommate owns an iMac.</a:t>
            </a:r>
            <a:br>
              <a:rPr lang="en-GB" sz="1800">
                <a:effectLst/>
                <a:latin typeface="AdvOTbb216540"/>
              </a:rPr>
            </a:br>
            <a:r>
              <a:rPr lang="en-GB" sz="1800">
                <a:effectLst/>
                <a:latin typeface="AdvOT487b4e6e.B"/>
              </a:rPr>
              <a:t>PREMISE 3. </a:t>
            </a:r>
            <a:r>
              <a:rPr lang="en-GB" sz="1800">
                <a:effectLst/>
                <a:latin typeface="AdvOTbb216540"/>
              </a:rPr>
              <a:t>I own a PC. </a:t>
            </a:r>
          </a:p>
          <a:p>
            <a:endParaRPr lang="en-GB">
              <a:effectLst/>
            </a:endParaRPr>
          </a:p>
          <a:p>
            <a:r>
              <a:rPr lang="en-GB" sz="1800">
                <a:effectLst/>
                <a:latin typeface="AdvOT487b4e6e.B"/>
              </a:rPr>
              <a:t>CONCLUSION. </a:t>
            </a:r>
            <a:r>
              <a:rPr lang="en-GB" sz="1800">
                <a:effectLst/>
                <a:latin typeface="AdvOTbb216540"/>
              </a:rPr>
              <a:t>My roommate is smarter than me. </a:t>
            </a:r>
            <a:endParaRPr lang="en-GB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B08BD-B9C9-E9C3-0ADD-6CB94DC54DBF}"/>
              </a:ext>
            </a:extLst>
          </p:cNvPr>
          <p:cNvSpPr/>
          <p:nvPr/>
        </p:nvSpPr>
        <p:spPr>
          <a:xfrm>
            <a:off x="9005104" y="2627453"/>
            <a:ext cx="2348696" cy="17709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O" b="1"/>
              <a:t>Arguments</a:t>
            </a:r>
            <a:r>
              <a:rPr lang="en-RO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V</a:t>
            </a:r>
            <a:r>
              <a:rPr lang="en-RO"/>
              <a:t>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</a:t>
            </a:r>
            <a:r>
              <a:rPr lang="en-RO"/>
              <a:t>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5587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21538-D6BE-25AA-36F1-258EE123D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S.Motogna - Ethics</a:t>
            </a:r>
            <a:endParaRPr lang="en-RO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9219611-0996-3358-A17F-7707FD30B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24463"/>
              </p:ext>
            </p:extLst>
          </p:nvPr>
        </p:nvGraphicFramePr>
        <p:xfrm>
          <a:off x="578734" y="393540"/>
          <a:ext cx="9581266" cy="5744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E38A16-644D-5C7A-4497-C80B8E21E6A2}"/>
              </a:ext>
            </a:extLst>
          </p:cNvPr>
          <p:cNvCxnSpPr>
            <a:cxnSpLocks/>
          </p:cNvCxnSpPr>
          <p:nvPr/>
        </p:nvCxnSpPr>
        <p:spPr>
          <a:xfrm flipH="1">
            <a:off x="1250066" y="2858947"/>
            <a:ext cx="2788534" cy="706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54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8B33-1470-7E2C-166C-1D78F584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1">
                <a:effectLst/>
                <a:latin typeface="NewBaskervilleStd"/>
              </a:rPr>
              <a:t>ANALYSIS OF ISSUES IN ETHICAL PROBLEMS 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BD140-454C-E091-854D-15B524369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 b="1">
                <a:effectLst/>
                <a:latin typeface="NewBaskervilleStd"/>
              </a:rPr>
              <a:t>LINE DRAWING </a:t>
            </a:r>
            <a:endParaRPr lang="en-GB"/>
          </a:p>
          <a:p>
            <a:pPr lvl="1"/>
            <a:r>
              <a:rPr lang="en-GB">
                <a:hlinkClick r:id="rId2"/>
              </a:rPr>
              <a:t>https michaelkhan.wordpress.com/2009/11/29/line-drawing-method-bribery/</a:t>
            </a:r>
            <a:r>
              <a:rPr lang="en-GB"/>
              <a:t> </a:t>
            </a:r>
          </a:p>
          <a:p>
            <a:pPr lvl="1"/>
            <a:r>
              <a:rPr lang="en-GB">
                <a:hlinkClick r:id="rId3"/>
              </a:rPr>
              <a:t>https://yifancao.wordpress.com/2009/11/28/line-drawing-methodology-and-case-study/</a:t>
            </a:r>
            <a:endParaRPr lang="en-GB"/>
          </a:p>
          <a:p>
            <a:r>
              <a:rPr lang="en-GB" sz="1800" b="1">
                <a:effectLst/>
                <a:latin typeface="NewBaskervilleStd"/>
              </a:rPr>
              <a:t>FLOW CHARTING </a:t>
            </a:r>
            <a:endParaRPr lang="en-GB"/>
          </a:p>
          <a:p>
            <a:pPr lvl="1"/>
            <a:r>
              <a:rPr lang="en-GB">
                <a:hlinkClick r:id="rId4"/>
              </a:rPr>
              <a:t>https://www.ukri.org/wp-content/uploads/2021/07/ESRC-210721-EthicsReview-ExampleOfFlowchart.pdf</a:t>
            </a:r>
            <a:r>
              <a:rPr lang="en-GB"/>
              <a:t> </a:t>
            </a:r>
          </a:p>
          <a:p>
            <a:pPr lvl="1"/>
            <a:r>
              <a:rPr lang="en-GB">
                <a:hlinkClick r:id="rId5"/>
              </a:rPr>
              <a:t>https://compliance.ufl.edu/media/complianceufledu/documents/Ethical-Decision-Making-Flow-Chart---5-24-22.pdf</a:t>
            </a:r>
            <a:r>
              <a:rPr lang="en-GB"/>
              <a:t> </a:t>
            </a:r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554AA-9174-5DC8-5BE1-D8895994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S.Motogna - Ethics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163787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97FC-6911-C4ED-0DD1-C23CDDBF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619"/>
          </a:xfrm>
          <a:ln>
            <a:solidFill>
              <a:srgbClr val="002060"/>
            </a:solidFill>
          </a:ln>
        </p:spPr>
        <p:txBody>
          <a:bodyPr/>
          <a:lstStyle/>
          <a:p>
            <a:r>
              <a:rPr lang="en-RO"/>
              <a:t>Now,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F0404-481C-9EDE-33E0-896802A6A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744"/>
            <a:ext cx="10515600" cy="50542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 b="1">
                <a:solidFill>
                  <a:srgbClr val="0432FF"/>
                </a:solidFill>
              </a:rPr>
              <a:t>2. PROFESSIONAL RESPONSIBILITIES</a:t>
            </a:r>
            <a:r>
              <a:rPr lang="ro-RO"/>
              <a:t>: </a:t>
            </a:r>
            <a:r>
              <a:rPr lang="ro-RO" i="1"/>
              <a:t>A </a:t>
            </a:r>
            <a:r>
              <a:rPr lang="ro-RO" i="1" err="1"/>
              <a:t>computing</a:t>
            </a:r>
            <a:r>
              <a:rPr lang="ro-RO" i="1"/>
              <a:t> </a:t>
            </a:r>
            <a:r>
              <a:rPr lang="ro-RO" i="1" err="1"/>
              <a:t>professional</a:t>
            </a:r>
            <a:r>
              <a:rPr lang="ro-RO" i="1"/>
              <a:t> </a:t>
            </a:r>
            <a:r>
              <a:rPr lang="ro-RO" i="1" err="1"/>
              <a:t>should</a:t>
            </a:r>
            <a:r>
              <a:rPr lang="ro-RO" i="1"/>
              <a:t>...</a:t>
            </a:r>
            <a:endParaRPr lang="ro-RO"/>
          </a:p>
          <a:p>
            <a:pPr marL="457200" lvl="1" indent="0">
              <a:buNone/>
            </a:pPr>
            <a:r>
              <a:rPr lang="ro-RO"/>
              <a:t>2.1 </a:t>
            </a:r>
            <a:r>
              <a:rPr lang="ro-RO" err="1"/>
              <a:t>Strive</a:t>
            </a:r>
            <a:r>
              <a:rPr lang="ro-RO"/>
              <a:t> </a:t>
            </a:r>
            <a:r>
              <a:rPr lang="ro-RO" err="1"/>
              <a:t>to</a:t>
            </a:r>
            <a:r>
              <a:rPr lang="ro-RO"/>
              <a:t> </a:t>
            </a:r>
            <a:r>
              <a:rPr lang="ro-RO" err="1"/>
              <a:t>achieve</a:t>
            </a:r>
            <a:r>
              <a:rPr lang="ro-RO"/>
              <a:t> </a:t>
            </a:r>
            <a:r>
              <a:rPr lang="ro-RO" err="1"/>
              <a:t>high</a:t>
            </a:r>
            <a:r>
              <a:rPr lang="ro-RO"/>
              <a:t> quality in </a:t>
            </a:r>
            <a:r>
              <a:rPr lang="ro-RO" err="1"/>
              <a:t>both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</a:t>
            </a:r>
            <a:r>
              <a:rPr lang="ro-RO" err="1"/>
              <a:t>processes</a:t>
            </a:r>
            <a:r>
              <a:rPr lang="ro-RO"/>
              <a:t>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products</a:t>
            </a:r>
            <a:r>
              <a:rPr lang="ro-RO"/>
              <a:t> of </a:t>
            </a:r>
            <a:r>
              <a:rPr lang="ro-RO" err="1"/>
              <a:t>professional</a:t>
            </a:r>
            <a:r>
              <a:rPr lang="ro-RO"/>
              <a:t> </a:t>
            </a:r>
            <a:r>
              <a:rPr lang="ro-RO" err="1"/>
              <a:t>work</a:t>
            </a:r>
            <a:endParaRPr lang="ro-RO"/>
          </a:p>
          <a:p>
            <a:pPr marL="457200" lvl="1" indent="0">
              <a:buNone/>
            </a:pPr>
            <a:r>
              <a:rPr lang="ro-RO"/>
              <a:t>2.2 </a:t>
            </a:r>
            <a:r>
              <a:rPr lang="ro-RO" err="1"/>
              <a:t>Maintain</a:t>
            </a:r>
            <a:r>
              <a:rPr lang="ro-RO"/>
              <a:t> </a:t>
            </a:r>
            <a:r>
              <a:rPr lang="ro-RO" err="1"/>
              <a:t>high</a:t>
            </a:r>
            <a:r>
              <a:rPr lang="ro-RO"/>
              <a:t> </a:t>
            </a:r>
            <a:r>
              <a:rPr lang="ro-RO" err="1"/>
              <a:t>standards</a:t>
            </a:r>
            <a:r>
              <a:rPr lang="ro-RO"/>
              <a:t> of </a:t>
            </a:r>
            <a:r>
              <a:rPr lang="ro-RO" err="1"/>
              <a:t>professional</a:t>
            </a:r>
            <a:r>
              <a:rPr lang="ro-RO"/>
              <a:t> </a:t>
            </a:r>
            <a:r>
              <a:rPr lang="ro-RO" err="1"/>
              <a:t>competence</a:t>
            </a:r>
            <a:r>
              <a:rPr lang="ro-RO"/>
              <a:t>, conduct,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ethical</a:t>
            </a:r>
            <a:r>
              <a:rPr lang="ro-RO"/>
              <a:t> practice</a:t>
            </a:r>
          </a:p>
          <a:p>
            <a:pPr marL="457200" lvl="1" indent="0">
              <a:buNone/>
            </a:pPr>
            <a:r>
              <a:rPr lang="ro-RO"/>
              <a:t>2.3 </a:t>
            </a:r>
            <a:r>
              <a:rPr lang="ro-RO" err="1"/>
              <a:t>Know</a:t>
            </a:r>
            <a:r>
              <a:rPr lang="ro-RO"/>
              <a:t> </a:t>
            </a:r>
            <a:r>
              <a:rPr lang="ro-RO" err="1"/>
              <a:t>and</a:t>
            </a:r>
            <a:r>
              <a:rPr lang="ro-RO"/>
              <a:t> respect </a:t>
            </a:r>
            <a:r>
              <a:rPr lang="ro-RO" err="1"/>
              <a:t>existing</a:t>
            </a:r>
            <a:r>
              <a:rPr lang="ro-RO"/>
              <a:t> </a:t>
            </a:r>
            <a:r>
              <a:rPr lang="ro-RO" err="1"/>
              <a:t>rules</a:t>
            </a:r>
            <a:r>
              <a:rPr lang="ro-RO"/>
              <a:t> </a:t>
            </a:r>
            <a:r>
              <a:rPr lang="ro-RO" err="1"/>
              <a:t>pertaining</a:t>
            </a:r>
            <a:r>
              <a:rPr lang="ro-RO"/>
              <a:t> </a:t>
            </a:r>
            <a:r>
              <a:rPr lang="ro-RO" err="1"/>
              <a:t>to</a:t>
            </a:r>
            <a:r>
              <a:rPr lang="ro-RO"/>
              <a:t> </a:t>
            </a:r>
            <a:r>
              <a:rPr lang="ro-RO" err="1"/>
              <a:t>professional</a:t>
            </a:r>
            <a:r>
              <a:rPr lang="ro-RO"/>
              <a:t> </a:t>
            </a:r>
            <a:r>
              <a:rPr lang="ro-RO" err="1"/>
              <a:t>work</a:t>
            </a:r>
            <a:endParaRPr lang="ro-RO"/>
          </a:p>
          <a:p>
            <a:pPr marL="457200" lvl="1" indent="0">
              <a:buNone/>
            </a:pPr>
            <a:r>
              <a:rPr lang="ro-RO"/>
              <a:t>2.4 Accept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provide</a:t>
            </a:r>
            <a:r>
              <a:rPr lang="ro-RO"/>
              <a:t> </a:t>
            </a:r>
            <a:r>
              <a:rPr lang="ro-RO" err="1"/>
              <a:t>appropriate</a:t>
            </a:r>
            <a:r>
              <a:rPr lang="ro-RO"/>
              <a:t> </a:t>
            </a:r>
            <a:r>
              <a:rPr lang="ro-RO" err="1"/>
              <a:t>professional</a:t>
            </a:r>
            <a:r>
              <a:rPr lang="ro-RO"/>
              <a:t> </a:t>
            </a:r>
            <a:r>
              <a:rPr lang="ro-RO" err="1"/>
              <a:t>review</a:t>
            </a:r>
            <a:endParaRPr lang="ro-RO"/>
          </a:p>
          <a:p>
            <a:pPr marL="457200" lvl="1" indent="0">
              <a:buNone/>
            </a:pPr>
            <a:r>
              <a:rPr lang="ro-RO"/>
              <a:t>2.5 </a:t>
            </a:r>
            <a:r>
              <a:rPr lang="ro-RO" err="1"/>
              <a:t>Give</a:t>
            </a:r>
            <a:r>
              <a:rPr lang="ro-RO"/>
              <a:t> comprehensive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thorough</a:t>
            </a:r>
            <a:r>
              <a:rPr lang="ro-RO"/>
              <a:t> </a:t>
            </a:r>
            <a:r>
              <a:rPr lang="ro-RO" err="1"/>
              <a:t>evaluations</a:t>
            </a:r>
            <a:r>
              <a:rPr lang="ro-RO"/>
              <a:t> of computer </a:t>
            </a:r>
            <a:r>
              <a:rPr lang="ro-RO" err="1"/>
              <a:t>systems</a:t>
            </a:r>
            <a:r>
              <a:rPr lang="ro-RO"/>
              <a:t>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their</a:t>
            </a:r>
            <a:r>
              <a:rPr lang="ro-RO"/>
              <a:t> </a:t>
            </a:r>
            <a:r>
              <a:rPr lang="ro-RO" err="1"/>
              <a:t>impacts</a:t>
            </a:r>
            <a:r>
              <a:rPr lang="ro-RO"/>
              <a:t>, </a:t>
            </a:r>
            <a:r>
              <a:rPr lang="ro-RO" err="1"/>
              <a:t>including</a:t>
            </a:r>
            <a:r>
              <a:rPr lang="ro-RO"/>
              <a:t> </a:t>
            </a:r>
            <a:r>
              <a:rPr lang="ro-RO" err="1"/>
              <a:t>analysis</a:t>
            </a:r>
            <a:r>
              <a:rPr lang="ro-RO"/>
              <a:t> of </a:t>
            </a:r>
            <a:r>
              <a:rPr lang="ro-RO" err="1"/>
              <a:t>possible</a:t>
            </a:r>
            <a:r>
              <a:rPr lang="ro-RO"/>
              <a:t> </a:t>
            </a:r>
            <a:r>
              <a:rPr lang="ro-RO" err="1"/>
              <a:t>risks</a:t>
            </a:r>
            <a:endParaRPr lang="ro-RO"/>
          </a:p>
          <a:p>
            <a:pPr marL="457200" lvl="1" indent="0">
              <a:buNone/>
            </a:pPr>
            <a:r>
              <a:rPr lang="ro-RO"/>
              <a:t>2.6 </a:t>
            </a:r>
            <a:r>
              <a:rPr lang="ro-RO" err="1"/>
              <a:t>Perform</a:t>
            </a:r>
            <a:r>
              <a:rPr lang="ro-RO"/>
              <a:t> </a:t>
            </a:r>
            <a:r>
              <a:rPr lang="ro-RO" err="1"/>
              <a:t>work</a:t>
            </a:r>
            <a:r>
              <a:rPr lang="ro-RO"/>
              <a:t> </a:t>
            </a:r>
            <a:r>
              <a:rPr lang="ro-RO" err="1"/>
              <a:t>only</a:t>
            </a:r>
            <a:r>
              <a:rPr lang="ro-RO"/>
              <a:t> in </a:t>
            </a:r>
            <a:r>
              <a:rPr lang="ro-RO" err="1"/>
              <a:t>areas</a:t>
            </a:r>
            <a:r>
              <a:rPr lang="ro-RO"/>
              <a:t> of </a:t>
            </a:r>
            <a:r>
              <a:rPr lang="ro-RO" err="1"/>
              <a:t>competence</a:t>
            </a:r>
            <a:endParaRPr lang="ro-RO"/>
          </a:p>
          <a:p>
            <a:pPr marL="457200" lvl="1" indent="0">
              <a:buNone/>
            </a:pPr>
            <a:r>
              <a:rPr lang="ro-RO"/>
              <a:t>2.7 Foster public </a:t>
            </a:r>
            <a:r>
              <a:rPr lang="ro-RO" err="1"/>
              <a:t>awareness</a:t>
            </a:r>
            <a:r>
              <a:rPr lang="ro-RO"/>
              <a:t>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understanding</a:t>
            </a:r>
            <a:r>
              <a:rPr lang="ro-RO"/>
              <a:t> of </a:t>
            </a:r>
            <a:r>
              <a:rPr lang="ro-RO" err="1"/>
              <a:t>computing</a:t>
            </a:r>
            <a:r>
              <a:rPr lang="ro-RO"/>
              <a:t>, </a:t>
            </a:r>
            <a:r>
              <a:rPr lang="ro-RO" err="1"/>
              <a:t>related</a:t>
            </a:r>
            <a:r>
              <a:rPr lang="ro-RO"/>
              <a:t> </a:t>
            </a:r>
            <a:r>
              <a:rPr lang="ro-RO" err="1"/>
              <a:t>technologies</a:t>
            </a:r>
            <a:r>
              <a:rPr lang="ro-RO"/>
              <a:t>,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their</a:t>
            </a:r>
            <a:r>
              <a:rPr lang="ro-RO"/>
              <a:t> </a:t>
            </a:r>
            <a:r>
              <a:rPr lang="ro-RO" err="1"/>
              <a:t>consequences</a:t>
            </a:r>
            <a:endParaRPr lang="ro-RO"/>
          </a:p>
          <a:p>
            <a:pPr marL="457200" lvl="1" indent="0">
              <a:buNone/>
            </a:pPr>
            <a:r>
              <a:rPr lang="ro-RO"/>
              <a:t>2.8 Access </a:t>
            </a:r>
            <a:r>
              <a:rPr lang="ro-RO" err="1"/>
              <a:t>computing</a:t>
            </a:r>
            <a:r>
              <a:rPr lang="ro-RO"/>
              <a:t>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communication</a:t>
            </a:r>
            <a:r>
              <a:rPr lang="ro-RO"/>
              <a:t> </a:t>
            </a:r>
            <a:r>
              <a:rPr lang="ro-RO" err="1"/>
              <a:t>resources</a:t>
            </a:r>
            <a:r>
              <a:rPr lang="ro-RO"/>
              <a:t> </a:t>
            </a:r>
            <a:r>
              <a:rPr lang="ro-RO" err="1"/>
              <a:t>only</a:t>
            </a:r>
            <a:r>
              <a:rPr lang="ro-RO"/>
              <a:t> </a:t>
            </a:r>
            <a:r>
              <a:rPr lang="ro-RO" err="1"/>
              <a:t>when</a:t>
            </a:r>
            <a:r>
              <a:rPr lang="ro-RO"/>
              <a:t> </a:t>
            </a:r>
            <a:r>
              <a:rPr lang="ro-RO" err="1"/>
              <a:t>authorized</a:t>
            </a:r>
            <a:r>
              <a:rPr lang="ro-RO"/>
              <a:t> or </a:t>
            </a:r>
            <a:r>
              <a:rPr lang="ro-RO" err="1"/>
              <a:t>when</a:t>
            </a:r>
            <a:r>
              <a:rPr lang="ro-RO"/>
              <a:t> </a:t>
            </a:r>
            <a:r>
              <a:rPr lang="ro-RO" err="1"/>
              <a:t>compelled</a:t>
            </a:r>
            <a:r>
              <a:rPr lang="ro-RO"/>
              <a:t> </a:t>
            </a:r>
            <a:r>
              <a:rPr lang="ro-RO" err="1"/>
              <a:t>by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public </a:t>
            </a:r>
            <a:r>
              <a:rPr lang="ro-RO" err="1"/>
              <a:t>good</a:t>
            </a:r>
            <a:r>
              <a:rPr lang="ro-RO"/>
              <a:t>.</a:t>
            </a:r>
          </a:p>
          <a:p>
            <a:pPr marL="457200" lvl="1" indent="0">
              <a:buNone/>
            </a:pPr>
            <a:r>
              <a:rPr lang="ro-RO"/>
              <a:t>2.9 Design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implement</a:t>
            </a:r>
            <a:r>
              <a:rPr lang="ro-RO"/>
              <a:t> </a:t>
            </a:r>
            <a:r>
              <a:rPr lang="ro-RO" err="1"/>
              <a:t>systems</a:t>
            </a:r>
            <a:r>
              <a:rPr lang="ro-RO"/>
              <a:t> </a:t>
            </a:r>
            <a:r>
              <a:rPr lang="ro-RO" err="1"/>
              <a:t>that</a:t>
            </a:r>
            <a:r>
              <a:rPr lang="ro-RO"/>
              <a:t> are </a:t>
            </a:r>
            <a:r>
              <a:rPr lang="ro-RO" err="1"/>
              <a:t>robustly</a:t>
            </a:r>
            <a:r>
              <a:rPr lang="ro-RO"/>
              <a:t> </a:t>
            </a:r>
            <a:r>
              <a:rPr lang="ro-RO" err="1"/>
              <a:t>and</a:t>
            </a:r>
            <a:r>
              <a:rPr lang="ro-RO"/>
              <a:t> </a:t>
            </a:r>
            <a:r>
              <a:rPr lang="ro-RO" err="1"/>
              <a:t>usably</a:t>
            </a:r>
            <a:r>
              <a:rPr lang="ro-RO"/>
              <a:t> secure</a:t>
            </a:r>
          </a:p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10F9B-8A10-C00D-5B90-9AE4DAC2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S.Motogna - Ethics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34875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016ADA1DFAFA48AF65F94B16AE3FC6" ma:contentTypeVersion="11" ma:contentTypeDescription="Create a new document." ma:contentTypeScope="" ma:versionID="3924e083f7d1407e328d9307830035f6">
  <xsd:schema xmlns:xsd="http://www.w3.org/2001/XMLSchema" xmlns:xs="http://www.w3.org/2001/XMLSchema" xmlns:p="http://schemas.microsoft.com/office/2006/metadata/properties" xmlns:ns2="8898434f-f057-42d5-bce4-0b5a9aca959f" xmlns:ns3="efb1789d-98cc-491e-820a-b5f4c63bbcf8" targetNamespace="http://schemas.microsoft.com/office/2006/metadata/properties" ma:root="true" ma:fieldsID="100de76d67bc2b40de0dd4e296facec1" ns2:_="" ns3:_="">
    <xsd:import namespace="8898434f-f057-42d5-bce4-0b5a9aca959f"/>
    <xsd:import namespace="efb1789d-98cc-491e-820a-b5f4c63bbc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8434f-f057-42d5-bce4-0b5a9aca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1789d-98cc-491e-820a-b5f4c63bbcf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962476-73d0-49b5-a370-5d123df14e18}" ma:internalName="TaxCatchAll" ma:showField="CatchAllData" ma:web="efb1789d-98cc-491e-820a-b5f4c63bbc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b1789d-98cc-491e-820a-b5f4c63bbcf8" xsi:nil="true"/>
    <lcf76f155ced4ddcb4097134ff3c332f xmlns="8898434f-f057-42d5-bce4-0b5a9aca959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AC463B-4400-458A-B293-E0767EB3B541}">
  <ds:schemaRefs>
    <ds:schemaRef ds:uri="8898434f-f057-42d5-bce4-0b5a9aca959f"/>
    <ds:schemaRef ds:uri="efb1789d-98cc-491e-820a-b5f4c63bbc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E4DFF80-AFB3-42D8-BB47-5BB6342B4577}">
  <ds:schemaRefs>
    <ds:schemaRef ds:uri="8898434f-f057-42d5-bce4-0b5a9aca959f"/>
    <ds:schemaRef ds:uri="efb1789d-98cc-491e-820a-b5f4c63bbcf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243A5CA-5AA5-4725-8434-61A91E4B2B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Critical reasoning (seminar)</vt:lpstr>
      <vt:lpstr>Critical Reasoning (from  - H. Tarvani, Ethics and technology : controversies, questions, and strategies for ethical  computing, Fourth edition, Wiley, 2013)</vt:lpstr>
      <vt:lpstr>PowerPoint Presentation</vt:lpstr>
      <vt:lpstr>ANALYSIS OF ISSUES IN ETHICAL PROBLEMS </vt:lpstr>
      <vt:lpstr>Now, apply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Simona-Claudia Motogna</dc:creator>
  <cp:revision>1</cp:revision>
  <dcterms:created xsi:type="dcterms:W3CDTF">2024-10-07T09:06:08Z</dcterms:created>
  <dcterms:modified xsi:type="dcterms:W3CDTF">2025-10-22T12:32:24Z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0x0101002E016ADA1DFAFA48AF65F94B16AE3FC6</vt:lpwstr>
  </property>
  <property fmtid="{D5CDD505-2E9C-101B-9397-08002B2CF9AE}" pid="3" name="MediaServiceImageTags">
    <vt:lpwstr/>
  </property>
</Properties>
</file>