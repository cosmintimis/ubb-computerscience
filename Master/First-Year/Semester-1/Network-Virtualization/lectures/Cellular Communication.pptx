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312" r:id="rId13"/>
    <p:sldId id="313" r:id="rId14"/>
    <p:sldId id="267" r:id="rId15"/>
    <p:sldId id="268" r:id="rId16"/>
    <p:sldId id="269" r:id="rId17"/>
    <p:sldId id="270" r:id="rId18"/>
    <p:sldId id="271" r:id="rId19"/>
    <p:sldId id="272" r:id="rId20"/>
    <p:sldId id="275" r:id="rId21"/>
    <p:sldId id="276" r:id="rId22"/>
    <p:sldId id="277" r:id="rId23"/>
    <p:sldId id="278" r:id="rId24"/>
    <p:sldId id="279" r:id="rId25"/>
    <p:sldId id="280" r:id="rId26"/>
    <p:sldId id="281" r:id="rId27"/>
    <p:sldId id="282" r:id="rId28"/>
    <p:sldId id="283" r:id="rId29"/>
    <p:sldId id="284" r:id="rId30"/>
    <p:sldId id="315" r:id="rId31"/>
    <p:sldId id="316" r:id="rId32"/>
    <p:sldId id="314" r:id="rId33"/>
    <p:sldId id="285" r:id="rId34"/>
    <p:sldId id="286" r:id="rId35"/>
    <p:sldId id="311" r:id="rId36"/>
    <p:sldId id="287" r:id="rId37"/>
    <p:sldId id="317" r:id="rId38"/>
    <p:sldId id="290" r:id="rId39"/>
    <p:sldId id="291" r:id="rId40"/>
    <p:sldId id="292" r:id="rId41"/>
    <p:sldId id="293" r:id="rId42"/>
    <p:sldId id="294" r:id="rId43"/>
    <p:sldId id="318" r:id="rId44"/>
    <p:sldId id="320" r:id="rId45"/>
    <p:sldId id="319" r:id="rId46"/>
    <p:sldId id="295" r:id="rId47"/>
    <p:sldId id="296" r:id="rId48"/>
    <p:sldId id="297" r:id="rId49"/>
    <p:sldId id="298" r:id="rId50"/>
    <p:sldId id="299" r:id="rId51"/>
    <p:sldId id="300" r:id="rId52"/>
    <p:sldId id="301" r:id="rId53"/>
    <p:sldId id="302" r:id="rId54"/>
    <p:sldId id="303" r:id="rId55"/>
    <p:sldId id="304" r:id="rId56"/>
    <p:sldId id="305" r:id="rId57"/>
    <p:sldId id="321" r:id="rId58"/>
    <p:sldId id="330" r:id="rId59"/>
    <p:sldId id="331" r:id="rId60"/>
    <p:sldId id="306" r:id="rId61"/>
    <p:sldId id="322" r:id="rId62"/>
    <p:sldId id="323" r:id="rId63"/>
    <p:sldId id="307" r:id="rId64"/>
    <p:sldId id="308" r:id="rId65"/>
    <p:sldId id="324" r:id="rId66"/>
    <p:sldId id="309" r:id="rId67"/>
    <p:sldId id="325" r:id="rId68"/>
    <p:sldId id="310" r:id="rId69"/>
    <p:sldId id="326" r:id="rId70"/>
    <p:sldId id="333" r:id="rId71"/>
    <p:sldId id="327" r:id="rId72"/>
    <p:sldId id="328" r:id="rId73"/>
    <p:sldId id="329" r:id="rId74"/>
    <p:sldId id="332" r:id="rId75"/>
  </p:sldIdLst>
  <p:sldSz cx="9144000" cy="6858000" type="screen4x3"/>
  <p:notesSz cx="6858000" cy="9144000"/>
  <p:embeddedFontLst>
    <p:embeddedFont>
      <p:font typeface="Tahoma" panose="020B0604030504040204" pitchFamily="34" charset="0"/>
      <p:regular r:id="rId77"/>
      <p:bold r:id="rId78"/>
    </p:embeddedFont>
    <p:embeddedFont>
      <p:font typeface="Proxima Nova" panose="020B0604020202020204" charset="0"/>
      <p:regular r:id="rId79"/>
      <p:bold r:id="rId80"/>
      <p:italic r:id="rId81"/>
      <p:boldItalic r:id="rId82"/>
    </p:embeddedFont>
    <p:embeddedFont>
      <p:font typeface="Calibri" panose="020F0502020204030204" pitchFamily="34"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2D200454-40CA-4A62-9FC3-DE9A4176ACB9}">
      <p15:notes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592EF4B-0547-44F9-8598-2D7FB016A1D7}">
  <a:tblStyle styleId="{F592EF4B-0547-44F9-8598-2D7FB016A1D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p:scale>
          <a:sx n="76" d="100"/>
          <a:sy n="76" d="100"/>
        </p:scale>
        <p:origin x="-1122" y="1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84" Type="http://schemas.openxmlformats.org/officeDocument/2006/relationships/font" Target="fonts/font8.fntdata"/><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3.fntdata"/><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6.fntdata"/><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685800" y="4343400"/>
            <a:ext cx="5484813" cy="4113213"/>
          </a:xfrm>
          <a:prstGeom prst="rect">
            <a:avLst/>
          </a:prstGeom>
          <a:noFill/>
          <a:ln>
            <a:noFill/>
          </a:ln>
        </p:spPr>
        <p:txBody>
          <a:bodyPr spcFirstLastPara="1" wrap="square" lIns="0" tIns="0" rIns="0" bIns="0" anchor="t" anchorCtr="0">
            <a:noAutofit/>
          </a:bodyPr>
          <a:lstStyle>
            <a:lvl1pPr marL="457200" marR="0" lvl="0"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42548755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8" name="Google Shape;68;p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4" name="Google Shape;74;p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1" name="Google Shape;81;p3: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7" name="Google Shape;87;p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99" name="Google Shape;99;p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5" name="Google Shape;105;p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11" name="Google Shape;111;p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17" name="Google Shape;117;p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26" name="Google Shape;126;p1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1: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32" name="Google Shape;132;p1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80" name="Google Shape;180;p1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85" name="Google Shape;185;p1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2: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38" name="Google Shape;138;p1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3: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4" name="Google Shape;144;p13: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50" name="Google Shape;150;p1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62" name="Google Shape;162;p1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68" name="Google Shape;168;p1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74" name="Google Shape;174;p1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91" name="Google Shape;191;p2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1: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97" name="Google Shape;197;p2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2: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03" name="Google Shape;203;p2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3: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09" name="Google Shape;209;p23: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15" name="Google Shape;215;p2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20" name="Google Shape;220;p2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26" name="Google Shape;226;p2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32" name="Google Shape;232;p2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38" name="Google Shape;238;p2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5" name="Google Shape;245;p2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74" name="Google Shape;274;p3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3: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68" name="Google Shape;268;p33: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50" name="Google Shape;250;p3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1:notes"/>
          <p:cNvSpPr>
            <a:spLocks noGrp="1" noRot="1" noChangeAspect="1"/>
          </p:cNvSpPr>
          <p:nvPr>
            <p:ph type="sldImg" idx="2"/>
          </p:nvPr>
        </p:nvSpPr>
        <p:spPr>
          <a:xfrm>
            <a:off x="1588" y="0"/>
            <a:ext cx="1587" cy="158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56" name="Google Shape;256;p3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2:notes"/>
          <p:cNvSpPr>
            <a:spLocks noGrp="1" noRot="1" noChangeAspect="1"/>
          </p:cNvSpPr>
          <p:nvPr>
            <p:ph type="sldImg" idx="2"/>
          </p:nvPr>
        </p:nvSpPr>
        <p:spPr>
          <a:xfrm>
            <a:off x="1588" y="0"/>
            <a:ext cx="1587" cy="158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62" name="Google Shape;262;p3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80" name="Google Shape;280;p3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86" name="Google Shape;286;p3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92" name="Google Shape;292;p3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98" name="Google Shape;298;p3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04" name="Google Shape;304;p3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4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10" name="Google Shape;310;p4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41: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15" name="Google Shape;315;p41: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42: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21" name="Google Shape;321;p42: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43: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27" name="Google Shape;327;p43: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4: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33" name="Google Shape;333;p44: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5: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39" name="Google Shape;339;p45: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6: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45" name="Google Shape;345;p46: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7: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51" name="Google Shape;351;p47: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8: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57" name="Google Shape;357;p48: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9: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63" name="Google Shape;363;p49: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50:notes"/>
          <p:cNvSpPr>
            <a:spLocks noGrp="1" noRot="1" noChangeAspect="1"/>
          </p:cNvSpPr>
          <p:nvPr>
            <p:ph type="sldImg" idx="2"/>
          </p:nvPr>
        </p:nvSpPr>
        <p:spPr>
          <a:xfrm>
            <a:off x="1143000" y="695325"/>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69" name="Google Shape;369;p50:notes"/>
          <p:cNvSpPr txBox="1">
            <a:spLocks noGrp="1"/>
          </p:cNvSpPr>
          <p:nvPr>
            <p:ph type="body" idx="1"/>
          </p:nvPr>
        </p:nvSpPr>
        <p:spPr>
          <a:xfrm>
            <a:off x="685800" y="4343400"/>
            <a:ext cx="5486400" cy="411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51:notes"/>
          <p:cNvSpPr txBox="1">
            <a:spLocks noGrp="1"/>
          </p:cNvSpPr>
          <p:nvPr>
            <p:ph type="body" idx="1"/>
          </p:nvPr>
        </p:nvSpPr>
        <p:spPr>
          <a:xfrm>
            <a:off x="685800" y="4343400"/>
            <a:ext cx="5484813" cy="4113213"/>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375" name="Google Shape;375;p51: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52:notes"/>
          <p:cNvSpPr txBox="1">
            <a:spLocks noGrp="1"/>
          </p:cNvSpPr>
          <p:nvPr>
            <p:ph type="body" idx="1"/>
          </p:nvPr>
        </p:nvSpPr>
        <p:spPr>
          <a:xfrm>
            <a:off x="685800" y="4343400"/>
            <a:ext cx="5484813" cy="4113213"/>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381" name="Google Shape;381;p52: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53:notes"/>
          <p:cNvSpPr txBox="1">
            <a:spLocks noGrp="1"/>
          </p:cNvSpPr>
          <p:nvPr>
            <p:ph type="body" idx="1"/>
          </p:nvPr>
        </p:nvSpPr>
        <p:spPr>
          <a:xfrm>
            <a:off x="685800" y="4343400"/>
            <a:ext cx="5484813" cy="4113213"/>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388" name="Google Shape;388;p53: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54:notes"/>
          <p:cNvSpPr txBox="1">
            <a:spLocks noGrp="1"/>
          </p:cNvSpPr>
          <p:nvPr>
            <p:ph type="body" idx="1"/>
          </p:nvPr>
        </p:nvSpPr>
        <p:spPr>
          <a:xfrm>
            <a:off x="685800" y="4343400"/>
            <a:ext cx="5484813" cy="4113213"/>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395" name="Google Shape;395;p54: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5:notes"/>
          <p:cNvSpPr txBox="1">
            <a:spLocks noGrp="1"/>
          </p:cNvSpPr>
          <p:nvPr>
            <p:ph type="body" idx="1"/>
          </p:nvPr>
        </p:nvSpPr>
        <p:spPr>
          <a:xfrm>
            <a:off x="685800" y="4343400"/>
            <a:ext cx="5484813" cy="4113213"/>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402" name="Google Shape;402;p55:notes"/>
          <p:cNvSpPr>
            <a:spLocks noGrp="1" noRot="1" noChangeAspect="1"/>
          </p:cNvSpPr>
          <p:nvPr>
            <p:ph type="sldImg" idx="2"/>
          </p:nvPr>
        </p:nvSpPr>
        <p:spPr>
          <a:xfrm>
            <a:off x="0" y="695325"/>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3997533"/>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676400"/>
            <a:ext cx="8123100" cy="21180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4243083"/>
            <a:ext cx="8123100" cy="84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3997533"/>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743200"/>
            <a:ext cx="8123100" cy="10383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2" name="Google Shape;22;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6" name="Google Shape;26;p5"/>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701800"/>
            <a:ext cx="57975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100"/>
            <a:ext cx="4572000" cy="6858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59940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607767"/>
            <a:ext cx="4045200" cy="20127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3692001"/>
            <a:ext cx="4045200" cy="179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5649100"/>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1321967"/>
            <a:ext cx="8520600" cy="2557200"/>
          </a:xfrm>
          <a:prstGeom prst="rect">
            <a:avLst/>
          </a:prstGeom>
        </p:spPr>
        <p:txBody>
          <a:bodyPr spcFirstLastPara="1" wrap="square" lIns="91425" tIns="91425" rIns="91425" bIns="91425" anchor="ctr"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4095067"/>
            <a:ext cx="8520600" cy="12024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990600" y="1828800"/>
            <a:ext cx="7770900" cy="11415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7" name="Google Shape;57;p13"/>
          <p:cNvSpPr txBox="1">
            <a:spLocks noGrp="1"/>
          </p:cNvSpPr>
          <p:nvPr>
            <p:ph type="dt" idx="10"/>
          </p:nvPr>
        </p:nvSpPr>
        <p:spPr>
          <a:xfrm>
            <a:off x="990600" y="6248400"/>
            <a:ext cx="1903500" cy="4557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1400"/>
              <a:buChar char="●"/>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13"/>
          <p:cNvSpPr txBox="1">
            <a:spLocks noGrp="1"/>
          </p:cNvSpPr>
          <p:nvPr>
            <p:ph type="ftr" idx="11"/>
          </p:nvPr>
        </p:nvSpPr>
        <p:spPr>
          <a:xfrm>
            <a:off x="3429000" y="6248400"/>
            <a:ext cx="2894100" cy="455700"/>
          </a:xfrm>
          <a:prstGeom prst="rect">
            <a:avLst/>
          </a:prstGeom>
          <a:noFill/>
          <a:ln>
            <a:noFill/>
          </a:ln>
        </p:spPr>
        <p:txBody>
          <a:bodyPr spcFirstLastPara="1" wrap="square" lIns="90000" tIns="46800" rIns="90000" bIns="46800" anchor="b" anchorCtr="0">
            <a:noAutofit/>
          </a:bodyPr>
          <a:lstStyle>
            <a:lvl1pPr lvl="0" algn="ctr" rtl="0">
              <a:spcBef>
                <a:spcPts val="0"/>
              </a:spcBef>
              <a:spcAft>
                <a:spcPts val="0"/>
              </a:spcAft>
              <a:buSzPts val="1400"/>
              <a:buChar char="●"/>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13"/>
          <p:cNvSpPr txBox="1">
            <a:spLocks noGrp="1"/>
          </p:cNvSpPr>
          <p:nvPr>
            <p:ph type="sldNum" idx="12"/>
          </p:nvPr>
        </p:nvSpPr>
        <p:spPr>
          <a:xfrm>
            <a:off x="6858000" y="6248400"/>
            <a:ext cx="1903500" cy="455700"/>
          </a:xfrm>
          <a:prstGeom prst="rect">
            <a:avLst/>
          </a:prstGeom>
          <a:noFill/>
          <a:ln>
            <a:noFill/>
          </a:ln>
        </p:spPr>
        <p:txBody>
          <a:bodyPr spcFirstLastPara="1" wrap="square" lIns="90000" tIns="46800" rIns="90000" bIns="46800" anchor="b" anchorCtr="0">
            <a:noAutofit/>
          </a:bodyPr>
          <a:lstStyle>
            <a:lvl1pPr marL="0" marR="0" lvl="0"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1pPr>
            <a:lvl2pPr marL="0" marR="0" lvl="1"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2pPr>
            <a:lvl3pPr marL="0" marR="0" lvl="2"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3pPr>
            <a:lvl4pPr marL="0" marR="0" lvl="3"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4pPr>
            <a:lvl5pPr marL="0" marR="0" lvl="4"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5pPr>
            <a:lvl6pPr marL="0" marR="0" lvl="5"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6pPr>
            <a:lvl7pPr marL="0" marR="0" lvl="6"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7pPr>
            <a:lvl8pPr marL="0" marR="0" lvl="7"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8pPr>
            <a:lvl9pPr marL="0" marR="0" lvl="8" indent="0" algn="r" rtl="0">
              <a:spcBef>
                <a:spcPts val="0"/>
              </a:spcBef>
              <a:spcAft>
                <a:spcPts val="0"/>
              </a:spcAft>
              <a:buClr>
                <a:srgbClr val="1C1C1C"/>
              </a:buClr>
              <a:buSzPts val="1400"/>
              <a:buFont typeface="Times New Roman"/>
              <a:buNone/>
              <a:defRPr sz="1400">
                <a:solidFill>
                  <a:srgbClr val="1C1C1C"/>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1150938" y="617538"/>
            <a:ext cx="7791600" cy="11415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62" name="Google Shape;62;p14"/>
          <p:cNvSpPr txBox="1">
            <a:spLocks noGrp="1"/>
          </p:cNvSpPr>
          <p:nvPr>
            <p:ph type="body" idx="1"/>
          </p:nvPr>
        </p:nvSpPr>
        <p:spPr>
          <a:xfrm>
            <a:off x="1182688" y="2017713"/>
            <a:ext cx="7770900" cy="4113300"/>
          </a:xfrm>
          <a:prstGeom prst="rect">
            <a:avLst/>
          </a:prstGeom>
          <a:noFill/>
          <a:ln>
            <a:noFill/>
          </a:ln>
        </p:spPr>
        <p:txBody>
          <a:bodyPr spcFirstLastPara="1" wrap="square" lIns="90000" tIns="46800" rIns="90000" bIns="46800" anchor="t" anchorCtr="0">
            <a:noAutofit/>
          </a:bodyPr>
          <a:lstStyle>
            <a:lvl1pPr marL="457200" lvl="0" indent="-228600" algn="l" rtl="0">
              <a:spcBef>
                <a:spcPts val="800"/>
              </a:spcBef>
              <a:spcAft>
                <a:spcPts val="0"/>
              </a:spcAft>
              <a:buSzPts val="1800"/>
              <a:buNone/>
              <a:defRPr/>
            </a:lvl1pPr>
            <a:lvl2pPr marL="914400" lvl="1" indent="-228600" algn="l" rtl="0">
              <a:spcBef>
                <a:spcPts val="700"/>
              </a:spcBef>
              <a:spcAft>
                <a:spcPts val="0"/>
              </a:spcAft>
              <a:buSzPts val="1400"/>
              <a:buNone/>
              <a:defRPr/>
            </a:lvl2pPr>
            <a:lvl3pPr marL="1371600" lvl="2" indent="-228600" algn="l" rtl="0">
              <a:spcBef>
                <a:spcPts val="600"/>
              </a:spcBef>
              <a:spcAft>
                <a:spcPts val="0"/>
              </a:spcAft>
              <a:buSzPts val="1400"/>
              <a:buNone/>
              <a:defRPr/>
            </a:lvl3pPr>
            <a:lvl4pPr marL="1828800" lvl="3" indent="-228600" algn="l" rtl="0">
              <a:spcBef>
                <a:spcPts val="500"/>
              </a:spcBef>
              <a:spcAft>
                <a:spcPts val="0"/>
              </a:spcAft>
              <a:buSzPts val="1400"/>
              <a:buNone/>
              <a:defRPr/>
            </a:lvl4pPr>
            <a:lvl5pPr marL="2286000" lvl="4" indent="-228600" algn="l" rtl="0">
              <a:spcBef>
                <a:spcPts val="500"/>
              </a:spcBef>
              <a:spcAft>
                <a:spcPts val="0"/>
              </a:spcAft>
              <a:buSzPts val="1400"/>
              <a:buNone/>
              <a:defRPr/>
            </a:lvl5pPr>
            <a:lvl6pPr marL="2743200" lvl="5" indent="-228600" algn="l" rtl="0">
              <a:spcBef>
                <a:spcPts val="500"/>
              </a:spcBef>
              <a:spcAft>
                <a:spcPts val="0"/>
              </a:spcAft>
              <a:buSzPts val="1400"/>
              <a:buNone/>
              <a:defRPr/>
            </a:lvl6pPr>
            <a:lvl7pPr marL="3200400" lvl="6" indent="-228600" algn="l" rtl="0">
              <a:spcBef>
                <a:spcPts val="500"/>
              </a:spcBef>
              <a:spcAft>
                <a:spcPts val="0"/>
              </a:spcAft>
              <a:buSzPts val="1400"/>
              <a:buNone/>
              <a:defRPr/>
            </a:lvl7pPr>
            <a:lvl8pPr marL="3657600" lvl="7" indent="-228600" algn="l" rtl="0">
              <a:spcBef>
                <a:spcPts val="500"/>
              </a:spcBef>
              <a:spcAft>
                <a:spcPts val="0"/>
              </a:spcAft>
              <a:buSzPts val="1400"/>
              <a:buNone/>
              <a:defRPr/>
            </a:lvl8pPr>
            <a:lvl9pPr marL="4114800" lvl="8" indent="-228600" algn="l" rtl="0">
              <a:spcBef>
                <a:spcPts val="500"/>
              </a:spcBef>
              <a:spcAft>
                <a:spcPts val="0"/>
              </a:spcAft>
              <a:buSzPts val="1400"/>
              <a:buNone/>
              <a:defRPr/>
            </a:lvl9pPr>
          </a:lstStyle>
          <a:p>
            <a:endParaRPr/>
          </a:p>
        </p:txBody>
      </p:sp>
      <p:sp>
        <p:nvSpPr>
          <p:cNvPr id="63" name="Google Shape;63;p14"/>
          <p:cNvSpPr txBox="1">
            <a:spLocks noGrp="1"/>
          </p:cNvSpPr>
          <p:nvPr>
            <p:ph type="dt" idx="10"/>
          </p:nvPr>
        </p:nvSpPr>
        <p:spPr>
          <a:xfrm>
            <a:off x="914400" y="6324600"/>
            <a:ext cx="1903500" cy="4557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2400"/>
              <a:buChar char="●"/>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p14"/>
          <p:cNvSpPr txBox="1">
            <a:spLocks noGrp="1"/>
          </p:cNvSpPr>
          <p:nvPr>
            <p:ph type="ftr" idx="11"/>
          </p:nvPr>
        </p:nvSpPr>
        <p:spPr>
          <a:xfrm>
            <a:off x="3352800" y="6324600"/>
            <a:ext cx="2894100" cy="455700"/>
          </a:xfrm>
          <a:prstGeom prst="rect">
            <a:avLst/>
          </a:prstGeom>
          <a:noFill/>
          <a:ln>
            <a:noFill/>
          </a:ln>
        </p:spPr>
        <p:txBody>
          <a:bodyPr spcFirstLastPara="1" wrap="square" lIns="90000" tIns="46800" rIns="90000" bIns="46800" anchor="b" anchorCtr="0">
            <a:noAutofit/>
          </a:bodyPr>
          <a:lstStyle>
            <a:lvl1pPr lvl="0" algn="l" rtl="0">
              <a:spcBef>
                <a:spcPts val="0"/>
              </a:spcBef>
              <a:spcAft>
                <a:spcPts val="0"/>
              </a:spcAft>
              <a:buSzPts val="2400"/>
              <a:buChar char="●"/>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14"/>
          <p:cNvSpPr txBox="1">
            <a:spLocks noGrp="1"/>
          </p:cNvSpPr>
          <p:nvPr>
            <p:ph type="sldNum" idx="12"/>
          </p:nvPr>
        </p:nvSpPr>
        <p:spPr>
          <a:xfrm>
            <a:off x="6781800" y="6324600"/>
            <a:ext cx="1903500" cy="455700"/>
          </a:xfrm>
          <a:prstGeom prst="rect">
            <a:avLst/>
          </a:prstGeom>
          <a:noFill/>
          <a:ln>
            <a:noFill/>
          </a:ln>
        </p:spPr>
        <p:txBody>
          <a:bodyPr spcFirstLastPara="1" wrap="square" lIns="90000" tIns="46800" rIns="90000" bIns="46800" anchor="b" anchorCtr="0">
            <a:noAutofit/>
          </a:bodyPr>
          <a:lstStyle>
            <a:lvl1pPr marL="0" marR="0" lvl="0"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1pPr>
            <a:lvl2pPr marL="0" marR="0" lvl="1"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2pPr>
            <a:lvl3pPr marL="0" marR="0" lvl="2"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3pPr>
            <a:lvl4pPr marL="0" marR="0" lvl="3"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4pPr>
            <a:lvl5pPr marL="0" marR="0" lvl="4"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5pPr>
            <a:lvl6pPr marL="0" marR="0" lvl="5"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6pPr>
            <a:lvl7pPr marL="0" marR="0" lvl="6"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7pPr>
            <a:lvl8pPr marL="0" marR="0" lvl="7"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8pPr>
            <a:lvl9pPr marL="0" marR="0" lvl="8" indent="0" algn="l" rtl="0">
              <a:spcBef>
                <a:spcPts val="0"/>
              </a:spcBef>
              <a:spcAft>
                <a:spcPts val="0"/>
              </a:spcAft>
              <a:buClr>
                <a:srgbClr val="000000"/>
              </a:buClr>
              <a:buSzPts val="2400"/>
              <a:buFont typeface="Times New Roman"/>
              <a:buNone/>
              <a:defRPr sz="2400">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990600" y="1828800"/>
            <a:ext cx="7772400"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4400"/>
              <a:buFont typeface="Tahoma"/>
              <a:buNone/>
            </a:pPr>
            <a:r>
              <a:rPr lang="en-US" sz="4000"/>
              <a:t>Cellular Communication</a:t>
            </a:r>
            <a:endParaRPr sz="4000"/>
          </a:p>
        </p:txBody>
      </p:sp>
      <p:sp>
        <p:nvSpPr>
          <p:cNvPr id="71" name="Google Shape;71;p15"/>
          <p:cNvSpPr/>
          <p:nvPr/>
        </p:nvSpPr>
        <p:spPr>
          <a:xfrm>
            <a:off x="2819400" y="3886200"/>
            <a:ext cx="3505200" cy="9144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
        <p:cNvGrpSpPr/>
        <p:nvPr/>
      </p:nvGrpSpPr>
      <p:grpSpPr>
        <a:xfrm>
          <a:off x="0" y="0"/>
          <a:ext cx="0" cy="0"/>
          <a:chOff x="0" y="0"/>
          <a:chExt cx="0" cy="0"/>
        </a:xfrm>
      </p:grpSpPr>
      <p:sp>
        <p:nvSpPr>
          <p:cNvPr id="76" name="Google Shape;76;p16"/>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Evolution to cellular networks – </a:t>
            </a:r>
            <a:r>
              <a:rPr lang="en-US" sz="2400"/>
              <a:t>communication anytime, anywhere</a:t>
            </a:r>
            <a:endParaRPr/>
          </a:p>
        </p:txBody>
      </p:sp>
      <p:sp>
        <p:nvSpPr>
          <p:cNvPr id="77" name="Google Shape;77;p16"/>
          <p:cNvSpPr txBox="1">
            <a:spLocks noGrp="1"/>
          </p:cNvSpPr>
          <p:nvPr>
            <p:ph type="body" idx="1"/>
          </p:nvPr>
        </p:nvSpPr>
        <p:spPr>
          <a:xfrm>
            <a:off x="990600" y="1676400"/>
            <a:ext cx="81534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080"/>
              <a:buFont typeface="Noto Sans Symbols"/>
              <a:buChar char="■"/>
            </a:pPr>
            <a:r>
              <a:rPr lang="en-US" sz="1800" dirty="0"/>
              <a:t>radio communication was invented by Nikola Tesla and </a:t>
            </a:r>
            <a:r>
              <a:rPr lang="en-US" sz="1800" dirty="0" err="1"/>
              <a:t>Guglielmo</a:t>
            </a:r>
            <a:r>
              <a:rPr lang="en-US" sz="1800" dirty="0"/>
              <a:t> Marconi: in 1893, Nikola Tesla made the first public demonstration of wireless (radio) telegraphy; </a:t>
            </a:r>
            <a:r>
              <a:rPr lang="en-US" sz="1800" dirty="0" err="1"/>
              <a:t>Guglielmo</a:t>
            </a:r>
            <a:r>
              <a:rPr lang="en-US" sz="1800" dirty="0"/>
              <a:t> Marconi conducted long </a:t>
            </a:r>
            <a:r>
              <a:rPr lang="en-US" sz="1800" dirty="0" err="1"/>
              <a:t>ditance</a:t>
            </a:r>
            <a:r>
              <a:rPr lang="en-US" sz="1800" dirty="0"/>
              <a:t> (over see) telegraphy 1897</a:t>
            </a:r>
            <a:endParaRPr dirty="0"/>
          </a:p>
          <a:p>
            <a:pPr marL="341313" lvl="0" indent="-341313" algn="l" rtl="0">
              <a:spcBef>
                <a:spcPts val="450"/>
              </a:spcBef>
              <a:spcAft>
                <a:spcPts val="0"/>
              </a:spcAft>
              <a:buClr>
                <a:srgbClr val="3333CC"/>
              </a:buClr>
              <a:buSzPts val="1080"/>
              <a:buFont typeface="Noto Sans Symbols"/>
              <a:buChar char="■"/>
            </a:pPr>
            <a:r>
              <a:rPr lang="en-US" sz="1800" dirty="0"/>
              <a:t>in 1940 the first walkie-talkie was used by the US military</a:t>
            </a:r>
            <a:endParaRPr dirty="0"/>
          </a:p>
          <a:p>
            <a:pPr marL="341313" lvl="0" indent="-341313" algn="l" rtl="0">
              <a:spcBef>
                <a:spcPts val="450"/>
              </a:spcBef>
              <a:spcAft>
                <a:spcPts val="0"/>
              </a:spcAft>
              <a:buClr>
                <a:srgbClr val="3333CC"/>
              </a:buClr>
              <a:buSzPts val="1080"/>
              <a:buFont typeface="Noto Sans Symbols"/>
              <a:buChar char="■"/>
            </a:pPr>
            <a:r>
              <a:rPr lang="en-US" sz="1800" dirty="0"/>
              <a:t>in 1947, John Bardeen and Walter Brattain from AT&amp;T’s Bell Labs invented the </a:t>
            </a:r>
            <a:r>
              <a:rPr lang="en-US" sz="1800" u="sng" dirty="0"/>
              <a:t>transistor</a:t>
            </a:r>
            <a:r>
              <a:rPr lang="en-US" sz="1800" dirty="0"/>
              <a:t> (semiconductor device used to amplify and switch electronic signals)</a:t>
            </a:r>
            <a:endParaRPr dirty="0"/>
          </a:p>
          <a:p>
            <a:pPr marL="341313" lvl="0" indent="-341313" algn="l" rtl="0">
              <a:spcBef>
                <a:spcPts val="450"/>
              </a:spcBef>
              <a:spcAft>
                <a:spcPts val="0"/>
              </a:spcAft>
              <a:buClr>
                <a:srgbClr val="3333CC"/>
              </a:buClr>
              <a:buSzPts val="1080"/>
              <a:buFont typeface="Noto Sans Symbols"/>
              <a:buChar char="■"/>
            </a:pPr>
            <a:r>
              <a:rPr lang="en-US" sz="1800" dirty="0"/>
              <a:t>AT&amp;T introduced commercial radio comm.: car phone – two way radio link to the local phone network</a:t>
            </a:r>
            <a:endParaRPr dirty="0"/>
          </a:p>
          <a:p>
            <a:pPr marL="341313" lvl="0" indent="-341313" algn="l" rtl="0">
              <a:spcBef>
                <a:spcPts val="450"/>
              </a:spcBef>
              <a:spcAft>
                <a:spcPts val="0"/>
              </a:spcAft>
              <a:buClr>
                <a:srgbClr val="3333CC"/>
              </a:buClr>
              <a:buSzPts val="1080"/>
              <a:buFont typeface="Noto Sans Symbols"/>
              <a:buChar char="■"/>
            </a:pPr>
            <a:r>
              <a:rPr lang="en-US" sz="1800" dirty="0"/>
              <a:t>in 1979 the first commercial cellular phone service was launched by the Nordic Mobile Telephone (in Finland, Sweden, Norway, Denmark).</a:t>
            </a:r>
            <a:endParaRPr dirty="0"/>
          </a:p>
          <a:p>
            <a:pPr marL="341313" lvl="0" indent="-341313" algn="l" rtl="0">
              <a:spcBef>
                <a:spcPts val="450"/>
              </a:spcBef>
              <a:spcAft>
                <a:spcPts val="0"/>
              </a:spcAft>
              <a:buClr>
                <a:srgbClr val="3333CC"/>
              </a:buClr>
              <a:buSzPts val="1080"/>
              <a:buFont typeface="Noto Sans Symbols"/>
              <a:buNone/>
            </a:pPr>
            <a:endParaRPr sz="1800" dirty="0"/>
          </a:p>
          <a:p>
            <a:pPr marL="341313" lvl="0" indent="-341313" algn="l" rtl="0">
              <a:spcBef>
                <a:spcPts val="450"/>
              </a:spcBef>
              <a:spcAft>
                <a:spcPts val="0"/>
              </a:spcAft>
              <a:buClr>
                <a:srgbClr val="3333CC"/>
              </a:buClr>
              <a:buSzPts val="1080"/>
              <a:buFont typeface="Noto Sans Symbols"/>
              <a:buNone/>
            </a:pPr>
            <a:endParaRPr sz="1800" dirty="0"/>
          </a:p>
        </p:txBody>
      </p:sp>
      <p:pic>
        <p:nvPicPr>
          <p:cNvPr id="78" name="Google Shape;78;p16"/>
          <p:cNvPicPr preferRelativeResize="0"/>
          <p:nvPr/>
        </p:nvPicPr>
        <p:blipFill rotWithShape="1">
          <a:blip r:embed="rId3">
            <a:alphaModFix/>
          </a:blip>
          <a:srcRect/>
          <a:stretch/>
        </p:blipFill>
        <p:spPr>
          <a:xfrm>
            <a:off x="2041743" y="5711868"/>
            <a:ext cx="5361139" cy="1183709"/>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
        <p:cNvGrpSpPr/>
        <p:nvPr/>
      </p:nvGrpSpPr>
      <p:grpSpPr>
        <a:xfrm>
          <a:off x="0" y="0"/>
          <a:ext cx="0" cy="0"/>
          <a:chOff x="0" y="0"/>
          <a:chExt cx="0" cy="0"/>
        </a:xfrm>
      </p:grpSpPr>
      <p:sp>
        <p:nvSpPr>
          <p:cNvPr id="83" name="Google Shape;83;p17"/>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Cellular systems generations</a:t>
            </a:r>
            <a:endParaRPr/>
          </a:p>
        </p:txBody>
      </p:sp>
      <p:sp>
        <p:nvSpPr>
          <p:cNvPr id="84" name="Google Shape;84;p17"/>
          <p:cNvSpPr txBox="1">
            <a:spLocks noGrp="1"/>
          </p:cNvSpPr>
          <p:nvPr>
            <p:ph type="body" idx="1"/>
          </p:nvPr>
        </p:nvSpPr>
        <p:spPr>
          <a:xfrm>
            <a:off x="838200" y="1828800"/>
            <a:ext cx="8305800" cy="5029200"/>
          </a:xfrm>
          <a:prstGeom prst="rect">
            <a:avLst/>
          </a:prstGeom>
          <a:noFill/>
          <a:ln>
            <a:noFill/>
          </a:ln>
        </p:spPr>
        <p:txBody>
          <a:bodyPr spcFirstLastPara="1" wrap="square" lIns="90000" tIns="46800" rIns="90000" bIns="46800" anchor="t" anchorCtr="0">
            <a:noAutofit/>
          </a:bodyPr>
          <a:lstStyle/>
          <a:p>
            <a:pPr marL="341313" lvl="0" indent="-341313" algn="l" rtl="0">
              <a:lnSpc>
                <a:spcPct val="90000"/>
              </a:lnSpc>
              <a:spcBef>
                <a:spcPts val="0"/>
              </a:spcBef>
              <a:spcAft>
                <a:spcPts val="0"/>
              </a:spcAft>
              <a:buClr>
                <a:srgbClr val="3333CC"/>
              </a:buClr>
              <a:buSzPts val="1440"/>
              <a:buFont typeface="Noto Sans Symbols"/>
              <a:buChar char="■"/>
            </a:pPr>
            <a:r>
              <a:rPr lang="en-US" sz="2400"/>
              <a:t>1G (first generation) – voice-oriented systems based on analog technology; ex.: Advanced Mobile Phone Systems (AMPS) and cordless systems </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2G (second generation) - voice-oriented systems based on digital technology; more efficient and used less spectrum than 1G; ex.: Global System for Mobile (GSM) and US Time  Division Multiple Access (US-TDMA)</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3G (third generation) – high-speed voice-oriented systems integrated with data services; ex.: General Packet Radio Service (GPRS), Code Division Multiple Access (CDMA)</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4G (fourth generation) – based only on Internet protocol networks, provides voice, data and multimedia service to subscribers (1Gbps for low mobility and 100 Mbps for high mobility)</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
        <p:cNvGrpSpPr/>
        <p:nvPr/>
      </p:nvGrpSpPr>
      <p:grpSpPr>
        <a:xfrm>
          <a:off x="0" y="0"/>
          <a:ext cx="0" cy="0"/>
          <a:chOff x="0" y="0"/>
          <a:chExt cx="0" cy="0"/>
        </a:xfrm>
      </p:grpSpPr>
      <p:sp>
        <p:nvSpPr>
          <p:cNvPr id="89" name="Google Shape;89;p18"/>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Frequency reuse</a:t>
            </a:r>
            <a:endParaRPr/>
          </a:p>
        </p:txBody>
      </p:sp>
      <p:sp>
        <p:nvSpPr>
          <p:cNvPr id="90" name="Google Shape;90;p18"/>
          <p:cNvSpPr txBox="1">
            <a:spLocks noGrp="1"/>
          </p:cNvSpPr>
          <p:nvPr>
            <p:ph type="body" idx="1"/>
          </p:nvPr>
        </p:nvSpPr>
        <p:spPr>
          <a:xfrm>
            <a:off x="1182688" y="2017713"/>
            <a:ext cx="7961312" cy="48402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is a method used by service providers to improve the efficiency of a cellular network and to serve millions of subscribers using a limited radio spectrum</a:t>
            </a:r>
            <a:endParaRPr/>
          </a:p>
          <a:p>
            <a:pPr marL="341313" lvl="0" indent="-341313" algn="l" rtl="0">
              <a:spcBef>
                <a:spcPts val="600"/>
              </a:spcBef>
              <a:spcAft>
                <a:spcPts val="0"/>
              </a:spcAft>
              <a:buClr>
                <a:srgbClr val="3333CC"/>
              </a:buClr>
              <a:buSzPts val="1440"/>
              <a:buFont typeface="Noto Sans Symbols"/>
              <a:buChar char="■"/>
            </a:pPr>
            <a:r>
              <a:rPr lang="en-US" sz="2400"/>
              <a:t>is based on the fact that after a distance a radio wave gets attenuated and the signal falls bellow a point where it can no longer be used or cause any interference</a:t>
            </a:r>
            <a:endParaRPr/>
          </a:p>
          <a:p>
            <a:pPr marL="341313" lvl="0" indent="-341313" algn="l" rtl="0">
              <a:spcBef>
                <a:spcPts val="600"/>
              </a:spcBef>
              <a:spcAft>
                <a:spcPts val="0"/>
              </a:spcAft>
              <a:buClr>
                <a:srgbClr val="3333CC"/>
              </a:buClr>
              <a:buSzPts val="1440"/>
              <a:buFont typeface="Noto Sans Symbols"/>
              <a:buChar char="■"/>
            </a:pPr>
            <a:r>
              <a:rPr lang="en-US" sz="2400"/>
              <a:t>a transmitter transmitting in a specific frequency range will have only a limited coverage area</a:t>
            </a:r>
            <a:endParaRPr/>
          </a:p>
          <a:p>
            <a:pPr marL="341313" lvl="0" indent="-341313" algn="l" rtl="0">
              <a:spcBef>
                <a:spcPts val="600"/>
              </a:spcBef>
              <a:spcAft>
                <a:spcPts val="0"/>
              </a:spcAft>
              <a:buClr>
                <a:srgbClr val="3333CC"/>
              </a:buClr>
              <a:buSzPts val="1440"/>
              <a:buFont typeface="Noto Sans Symbols"/>
              <a:buChar char="■"/>
            </a:pPr>
            <a:r>
              <a:rPr lang="en-US" sz="2400"/>
              <a:t>beyond this coverage area, that frequency can be reused by another transmitter</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95" name="Google Shape;95;p19"/>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Network Cells</a:t>
            </a:r>
            <a:endParaRPr/>
          </a:p>
        </p:txBody>
      </p:sp>
      <p:sp>
        <p:nvSpPr>
          <p:cNvPr id="96" name="Google Shape;96;p19"/>
          <p:cNvSpPr txBox="1">
            <a:spLocks noGrp="1"/>
          </p:cNvSpPr>
          <p:nvPr>
            <p:ph type="body" idx="1"/>
          </p:nvPr>
        </p:nvSpPr>
        <p:spPr>
          <a:xfrm>
            <a:off x="990600" y="1752600"/>
            <a:ext cx="8153400" cy="5105400"/>
          </a:xfrm>
          <a:prstGeom prst="rect">
            <a:avLst/>
          </a:prstGeom>
          <a:noFill/>
          <a:ln>
            <a:noFill/>
          </a:ln>
        </p:spPr>
        <p:txBody>
          <a:bodyPr spcFirstLastPara="1" wrap="square" lIns="90000" tIns="46800" rIns="90000" bIns="46800" anchor="t" anchorCtr="0">
            <a:noAutofit/>
          </a:bodyPr>
          <a:lstStyle/>
          <a:p>
            <a:pPr marL="341313" lvl="0" indent="-341313" algn="l" rtl="0">
              <a:lnSpc>
                <a:spcPct val="90000"/>
              </a:lnSpc>
              <a:spcBef>
                <a:spcPts val="0"/>
              </a:spcBef>
              <a:spcAft>
                <a:spcPts val="0"/>
              </a:spcAft>
              <a:buClr>
                <a:srgbClr val="3333CC"/>
              </a:buClr>
              <a:buSzPts val="1440"/>
              <a:buFont typeface="Noto Sans Symbols"/>
              <a:buChar char="■"/>
            </a:pPr>
            <a:r>
              <a:rPr lang="en-US" sz="2400"/>
              <a:t>the entire network coverage area is divided into cells based on the principle of frequency reuse</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a </a:t>
            </a:r>
            <a:r>
              <a:rPr lang="en-US" sz="2400" u="sng"/>
              <a:t>cell</a:t>
            </a:r>
            <a:r>
              <a:rPr lang="en-US" sz="2400"/>
              <a:t> = basic geographical unit of a cellular network; is the area around an antenna where a specific frequency range is used; is represented graphically as a hexagonal shape, but in reality it is irregular in shape</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when a subscriber moves to another cell, the antenna of the new cell takes over the signal transmission</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a </a:t>
            </a:r>
            <a:r>
              <a:rPr lang="en-US" sz="2400" u="sng"/>
              <a:t>cluster</a:t>
            </a:r>
            <a:r>
              <a:rPr lang="en-US" sz="2400"/>
              <a:t> is a group of adiacent cells, usually 7 cells; no frequency reuse is done within a cluster</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the frequency spectrum is divided into subbands and each subband is used within one cell of the cluster</a:t>
            </a:r>
            <a:endParaRPr/>
          </a:p>
          <a:p>
            <a:pPr marL="341313" lvl="0" indent="-341313" algn="l" rtl="0">
              <a:lnSpc>
                <a:spcPct val="90000"/>
              </a:lnSpc>
              <a:spcBef>
                <a:spcPts val="600"/>
              </a:spcBef>
              <a:spcAft>
                <a:spcPts val="0"/>
              </a:spcAft>
              <a:buClr>
                <a:srgbClr val="3333CC"/>
              </a:buClr>
              <a:buSzPts val="1440"/>
              <a:buFont typeface="Noto Sans Symbols"/>
              <a:buChar char="■"/>
            </a:pPr>
            <a:r>
              <a:rPr lang="en-US" sz="2400"/>
              <a:t>in heavy traffic zones cells are smaller, while in isolated zones cells are larger</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0"/>
        <p:cNvGrpSpPr/>
        <p:nvPr/>
      </p:nvGrpSpPr>
      <p:grpSpPr>
        <a:xfrm>
          <a:off x="0" y="0"/>
          <a:ext cx="0" cy="0"/>
          <a:chOff x="0" y="0"/>
          <a:chExt cx="0" cy="0"/>
        </a:xfrm>
      </p:grpSpPr>
      <p:sp>
        <p:nvSpPr>
          <p:cNvPr id="101" name="Google Shape;101;p20"/>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Network cells (2)</a:t>
            </a:r>
            <a:endParaRPr/>
          </a:p>
        </p:txBody>
      </p:sp>
      <p:pic>
        <p:nvPicPr>
          <p:cNvPr id="102" name="Google Shape;102;p20"/>
          <p:cNvPicPr preferRelativeResize="0"/>
          <p:nvPr/>
        </p:nvPicPr>
        <p:blipFill rotWithShape="1">
          <a:blip r:embed="rId3">
            <a:alphaModFix/>
          </a:blip>
          <a:srcRect/>
          <a:stretch/>
        </p:blipFill>
        <p:spPr>
          <a:xfrm>
            <a:off x="1295400" y="2209800"/>
            <a:ext cx="6524625" cy="28860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7" name="Google Shape;107;p21"/>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Types of cells	</a:t>
            </a:r>
            <a:endParaRPr/>
          </a:p>
        </p:txBody>
      </p:sp>
      <p:sp>
        <p:nvSpPr>
          <p:cNvPr id="108" name="Google Shape;108;p21"/>
          <p:cNvSpPr txBox="1">
            <a:spLocks noGrp="1"/>
          </p:cNvSpPr>
          <p:nvPr>
            <p:ph type="body" idx="1"/>
          </p:nvPr>
        </p:nvSpPr>
        <p:spPr>
          <a:xfrm>
            <a:off x="1182688" y="2017713"/>
            <a:ext cx="7961312" cy="472129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err="1"/>
              <a:t>macrocell</a:t>
            </a:r>
            <a:r>
              <a:rPr lang="en-US" sz="2400" dirty="0"/>
              <a:t> – their coverage is large (</a:t>
            </a:r>
            <a:r>
              <a:rPr lang="en-US" sz="2400" dirty="0" err="1"/>
              <a:t>aprox</a:t>
            </a:r>
            <a:r>
              <a:rPr lang="en-US" sz="2400" dirty="0"/>
              <a:t>. 6 miles in diameter); used in remote areas, high-power transmitters and receivers are used</a:t>
            </a:r>
            <a:endParaRPr dirty="0"/>
          </a:p>
          <a:p>
            <a:pPr marL="341313" lvl="0" indent="-341313" algn="l" rtl="0">
              <a:spcBef>
                <a:spcPts val="600"/>
              </a:spcBef>
              <a:spcAft>
                <a:spcPts val="0"/>
              </a:spcAft>
              <a:buClr>
                <a:srgbClr val="3333CC"/>
              </a:buClr>
              <a:buSzPts val="1440"/>
              <a:buFont typeface="Noto Sans Symbols"/>
              <a:buChar char="■"/>
            </a:pPr>
            <a:r>
              <a:rPr lang="en-US" sz="2400" dirty="0"/>
              <a:t>microcell – their coverage is small (half a mile in diameter) and are used in urban zones; low-powered transmitters and receivers are used to avoid interference with cells in another </a:t>
            </a:r>
            <a:r>
              <a:rPr lang="en-US" sz="2400" dirty="0" smtClean="0"/>
              <a:t>clusters; especially useful for high frequencies (the antenna size is inversely proportional with the frequency it generates)  </a:t>
            </a:r>
            <a:endParaRPr dirty="0"/>
          </a:p>
          <a:p>
            <a:pPr marL="341313" lvl="0" indent="-341313" algn="l" rtl="0">
              <a:spcBef>
                <a:spcPts val="600"/>
              </a:spcBef>
              <a:spcAft>
                <a:spcPts val="0"/>
              </a:spcAft>
              <a:buClr>
                <a:srgbClr val="3333CC"/>
              </a:buClr>
              <a:buSzPts val="1440"/>
              <a:buFont typeface="Noto Sans Symbols"/>
              <a:buChar char="■"/>
            </a:pPr>
            <a:r>
              <a:rPr lang="en-US" sz="2400" dirty="0" err="1"/>
              <a:t>picocell</a:t>
            </a:r>
            <a:r>
              <a:rPr lang="en-US" sz="2400" dirty="0"/>
              <a:t> – covers areas such as building or a tunnel</a:t>
            </a: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
        <p:cNvGrpSpPr/>
        <p:nvPr/>
      </p:nvGrpSpPr>
      <p:grpSpPr>
        <a:xfrm>
          <a:off x="0" y="0"/>
          <a:ext cx="0" cy="0"/>
          <a:chOff x="0" y="0"/>
          <a:chExt cx="0" cy="0"/>
        </a:xfrm>
      </p:grpSpPr>
      <p:sp>
        <p:nvSpPr>
          <p:cNvPr id="113" name="Google Shape;113;p22"/>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Other cellular concepts</a:t>
            </a:r>
            <a:endParaRPr/>
          </a:p>
        </p:txBody>
      </p:sp>
      <p:sp>
        <p:nvSpPr>
          <p:cNvPr id="114" name="Google Shape;114;p22"/>
          <p:cNvSpPr txBox="1">
            <a:spLocks noGrp="1"/>
          </p:cNvSpPr>
          <p:nvPr>
            <p:ph type="body" idx="1"/>
          </p:nvPr>
        </p:nvSpPr>
        <p:spPr>
          <a:xfrm>
            <a:off x="1182688" y="2017713"/>
            <a:ext cx="7772400" cy="41148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handover = moving a call from one zone (from the transmitter-receiver from one zone) to another zone due to subscriber’s mobility</a:t>
            </a:r>
            <a:endParaRPr/>
          </a:p>
          <a:p>
            <a:pPr marL="341313" lvl="0" indent="-341313" algn="l" rtl="0">
              <a:spcBef>
                <a:spcPts val="600"/>
              </a:spcBef>
              <a:spcAft>
                <a:spcPts val="0"/>
              </a:spcAft>
              <a:buClr>
                <a:srgbClr val="3333CC"/>
              </a:buClr>
              <a:buSzPts val="1440"/>
              <a:buFont typeface="Noto Sans Symbols"/>
              <a:buChar char="■"/>
            </a:pPr>
            <a:r>
              <a:rPr lang="en-US" sz="2400"/>
              <a:t>roaming = allowing the subscriber to send/receive calls outside the service provider’s coverage area</a:t>
            </a: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sp>
        <p:nvSpPr>
          <p:cNvPr id="119" name="Google Shape;119;p23"/>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Multiple access schemes</a:t>
            </a:r>
            <a:endParaRPr/>
          </a:p>
        </p:txBody>
      </p:sp>
      <p:pic>
        <p:nvPicPr>
          <p:cNvPr id="120" name="Google Shape;120;p23"/>
          <p:cNvPicPr preferRelativeResize="0"/>
          <p:nvPr/>
        </p:nvPicPr>
        <p:blipFill rotWithShape="1">
          <a:blip r:embed="rId3">
            <a:alphaModFix/>
          </a:blip>
          <a:srcRect/>
          <a:stretch/>
        </p:blipFill>
        <p:spPr>
          <a:xfrm>
            <a:off x="533400" y="1905000"/>
            <a:ext cx="7924800" cy="2362200"/>
          </a:xfrm>
          <a:prstGeom prst="rect">
            <a:avLst/>
          </a:prstGeom>
          <a:noFill/>
          <a:ln>
            <a:noFill/>
          </a:ln>
        </p:spPr>
      </p:pic>
      <p:sp>
        <p:nvSpPr>
          <p:cNvPr id="121" name="Google Shape;121;p23"/>
          <p:cNvSpPr txBox="1"/>
          <p:nvPr/>
        </p:nvSpPr>
        <p:spPr>
          <a:xfrm>
            <a:off x="0" y="4495800"/>
            <a:ext cx="3048000" cy="1484313"/>
          </a:xfrm>
          <a:prstGeom prst="rect">
            <a:avLst/>
          </a:prstGeom>
          <a:noFill/>
          <a:ln>
            <a:noFill/>
          </a:ln>
        </p:spPr>
        <p:txBody>
          <a:bodyPr spcFirstLastPara="1" wrap="square" lIns="90000" tIns="46800" rIns="90000" bIns="46800" anchor="t" anchorCtr="0">
            <a:noAutofit/>
          </a:bodyPr>
          <a:lstStyle/>
          <a:p>
            <a:pPr marL="0" marR="0" lvl="0" indent="0" algn="l" rtl="0">
              <a:spcBef>
                <a:spcPts val="0"/>
              </a:spcBef>
              <a:spcAft>
                <a:spcPts val="0"/>
              </a:spcAft>
              <a:buClr>
                <a:srgbClr val="000000"/>
              </a:buClr>
              <a:buSzPts val="1400"/>
              <a:buFont typeface="Times New Roman"/>
              <a:buNone/>
            </a:pPr>
            <a:r>
              <a:rPr lang="en-US" sz="1400" b="1">
                <a:solidFill>
                  <a:srgbClr val="000000"/>
                </a:solidFill>
                <a:latin typeface="Tahoma"/>
                <a:ea typeface="Tahoma"/>
                <a:cs typeface="Tahoma"/>
                <a:sym typeface="Tahoma"/>
              </a:rPr>
              <a:t>Frequency Division Multiple Access</a:t>
            </a:r>
            <a:endParaRPr/>
          </a:p>
          <a:p>
            <a:pPr marL="0" marR="0" lvl="0" indent="0" algn="l" rtl="0">
              <a:spcBef>
                <a:spcPts val="875"/>
              </a:spcBef>
              <a:spcAft>
                <a:spcPts val="0"/>
              </a:spcAft>
              <a:buClr>
                <a:srgbClr val="000000"/>
              </a:buClr>
              <a:buSzPts val="1400"/>
              <a:buFont typeface="Times New Roman"/>
              <a:buNone/>
            </a:pPr>
            <a:r>
              <a:rPr lang="en-US" sz="1400">
                <a:solidFill>
                  <a:srgbClr val="000000"/>
                </a:solidFill>
                <a:latin typeface="Tahoma"/>
                <a:ea typeface="Tahoma"/>
                <a:cs typeface="Tahoma"/>
                <a:sym typeface="Tahoma"/>
              </a:rPr>
              <a:t>- when the subscriber enters another cell a unique frequency is assigned to him; used in analog systems</a:t>
            </a:r>
            <a:endParaRPr/>
          </a:p>
        </p:txBody>
      </p:sp>
      <p:sp>
        <p:nvSpPr>
          <p:cNvPr id="122" name="Google Shape;122;p23"/>
          <p:cNvSpPr txBox="1"/>
          <p:nvPr/>
        </p:nvSpPr>
        <p:spPr>
          <a:xfrm>
            <a:off x="3124200" y="4495800"/>
            <a:ext cx="3048000" cy="1270000"/>
          </a:xfrm>
          <a:prstGeom prst="rect">
            <a:avLst/>
          </a:prstGeom>
          <a:noFill/>
          <a:ln>
            <a:noFill/>
          </a:ln>
        </p:spPr>
        <p:txBody>
          <a:bodyPr spcFirstLastPara="1" wrap="square" lIns="90000" tIns="46800" rIns="90000" bIns="46800" anchor="t" anchorCtr="0">
            <a:noAutofit/>
          </a:bodyPr>
          <a:lstStyle/>
          <a:p>
            <a:pPr marL="0" marR="0" lvl="0" indent="0" algn="l" rtl="0">
              <a:spcBef>
                <a:spcPts val="0"/>
              </a:spcBef>
              <a:spcAft>
                <a:spcPts val="0"/>
              </a:spcAft>
              <a:buClr>
                <a:srgbClr val="000000"/>
              </a:buClr>
              <a:buSzPts val="1400"/>
              <a:buFont typeface="Times New Roman"/>
              <a:buNone/>
            </a:pPr>
            <a:r>
              <a:rPr lang="en-US" sz="1400" b="1">
                <a:solidFill>
                  <a:srgbClr val="000000"/>
                </a:solidFill>
                <a:latin typeface="Tahoma"/>
                <a:ea typeface="Tahoma"/>
                <a:cs typeface="Tahoma"/>
                <a:sym typeface="Tahoma"/>
              </a:rPr>
              <a:t>Time Division Multiple Access</a:t>
            </a:r>
            <a:endParaRPr/>
          </a:p>
          <a:p>
            <a:pPr marL="0" marR="0" lvl="0" indent="0" algn="l" rtl="0">
              <a:spcBef>
                <a:spcPts val="875"/>
              </a:spcBef>
              <a:spcAft>
                <a:spcPts val="0"/>
              </a:spcAft>
              <a:buClr>
                <a:srgbClr val="000000"/>
              </a:buClr>
              <a:buSzPts val="1400"/>
              <a:buFont typeface="Times New Roman"/>
              <a:buNone/>
            </a:pPr>
            <a:r>
              <a:rPr lang="en-US" sz="1400">
                <a:solidFill>
                  <a:srgbClr val="000000"/>
                </a:solidFill>
                <a:latin typeface="Tahoma"/>
                <a:ea typeface="Tahoma"/>
                <a:cs typeface="Tahoma"/>
                <a:sym typeface="Tahoma"/>
              </a:rPr>
              <a:t>- each subscriber is assigned a time slot to send/receive a data burst; is used in digital systems</a:t>
            </a:r>
            <a:endParaRPr/>
          </a:p>
        </p:txBody>
      </p:sp>
      <p:sp>
        <p:nvSpPr>
          <p:cNvPr id="123" name="Google Shape;123;p23"/>
          <p:cNvSpPr txBox="1"/>
          <p:nvPr/>
        </p:nvSpPr>
        <p:spPr>
          <a:xfrm>
            <a:off x="6172200" y="4495800"/>
            <a:ext cx="3048000" cy="1484313"/>
          </a:xfrm>
          <a:prstGeom prst="rect">
            <a:avLst/>
          </a:prstGeom>
          <a:noFill/>
          <a:ln>
            <a:noFill/>
          </a:ln>
        </p:spPr>
        <p:txBody>
          <a:bodyPr spcFirstLastPara="1" wrap="square" lIns="90000" tIns="46800" rIns="90000" bIns="46800" anchor="t" anchorCtr="0">
            <a:noAutofit/>
          </a:bodyPr>
          <a:lstStyle/>
          <a:p>
            <a:pPr marL="0" marR="0" lvl="0" indent="0" algn="l" rtl="0">
              <a:spcBef>
                <a:spcPts val="0"/>
              </a:spcBef>
              <a:spcAft>
                <a:spcPts val="0"/>
              </a:spcAft>
              <a:buClr>
                <a:srgbClr val="000000"/>
              </a:buClr>
              <a:buSzPts val="1400"/>
              <a:buFont typeface="Times New Roman"/>
              <a:buNone/>
            </a:pPr>
            <a:r>
              <a:rPr lang="en-US" sz="1400" b="1">
                <a:solidFill>
                  <a:srgbClr val="000000"/>
                </a:solidFill>
                <a:latin typeface="Tahoma"/>
                <a:ea typeface="Tahoma"/>
                <a:cs typeface="Tahoma"/>
                <a:sym typeface="Tahoma"/>
              </a:rPr>
              <a:t>Code Division Multiple Access</a:t>
            </a:r>
            <a:endParaRPr/>
          </a:p>
          <a:p>
            <a:pPr marL="0" marR="0" lvl="0" indent="0" algn="l" rtl="0">
              <a:spcBef>
                <a:spcPts val="875"/>
              </a:spcBef>
              <a:spcAft>
                <a:spcPts val="0"/>
              </a:spcAft>
              <a:buClr>
                <a:srgbClr val="000000"/>
              </a:buClr>
              <a:buSzPts val="1400"/>
              <a:buFont typeface="Times New Roman"/>
              <a:buNone/>
            </a:pPr>
            <a:r>
              <a:rPr lang="en-US" sz="1400">
                <a:solidFill>
                  <a:srgbClr val="000000"/>
                </a:solidFill>
                <a:latin typeface="Tahoma"/>
                <a:ea typeface="Tahoma"/>
                <a:cs typeface="Tahoma"/>
                <a:sym typeface="Tahoma"/>
              </a:rPr>
              <a:t>- each subscriber is assigned a code which is used to multiply the signal sent or received by the subscriber</a:t>
            </a: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sp>
        <p:nvSpPr>
          <p:cNvPr id="128" name="Google Shape;128;p24"/>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The control channel</a:t>
            </a:r>
            <a:endParaRPr/>
          </a:p>
        </p:txBody>
      </p:sp>
      <p:sp>
        <p:nvSpPr>
          <p:cNvPr id="129" name="Google Shape;129;p24"/>
          <p:cNvSpPr txBox="1">
            <a:spLocks noGrp="1"/>
          </p:cNvSpPr>
          <p:nvPr>
            <p:ph type="body" idx="1"/>
          </p:nvPr>
        </p:nvSpPr>
        <p:spPr>
          <a:xfrm>
            <a:off x="1182688" y="2017713"/>
            <a:ext cx="7772400" cy="41148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this channel is used by a cellular phone to indicate its presence before a frequency/time slot/code is allocated to him</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p25"/>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Cellular services</a:t>
            </a:r>
            <a:endParaRPr/>
          </a:p>
        </p:txBody>
      </p:sp>
      <p:sp>
        <p:nvSpPr>
          <p:cNvPr id="135" name="Google Shape;135;p25"/>
          <p:cNvSpPr txBox="1">
            <a:spLocks noGrp="1"/>
          </p:cNvSpPr>
          <p:nvPr>
            <p:ph type="body" idx="1"/>
          </p:nvPr>
        </p:nvSpPr>
        <p:spPr>
          <a:xfrm>
            <a:off x="1182688" y="2017713"/>
            <a:ext cx="7772400" cy="41148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voice communication</a:t>
            </a:r>
            <a:endParaRPr/>
          </a:p>
          <a:p>
            <a:pPr marL="341313" lvl="0" indent="-341313" algn="l" rtl="0">
              <a:spcBef>
                <a:spcPts val="600"/>
              </a:spcBef>
              <a:spcAft>
                <a:spcPts val="0"/>
              </a:spcAft>
              <a:buClr>
                <a:srgbClr val="3333CC"/>
              </a:buClr>
              <a:buSzPts val="1440"/>
              <a:buFont typeface="Noto Sans Symbols"/>
              <a:buChar char="■"/>
            </a:pPr>
            <a:r>
              <a:rPr lang="en-US" sz="2400"/>
              <a:t>Short Messaging Service (SMS)</a:t>
            </a:r>
            <a:endParaRPr/>
          </a:p>
          <a:p>
            <a:pPr marL="341313" lvl="0" indent="-341313" algn="l" rtl="0">
              <a:spcBef>
                <a:spcPts val="600"/>
              </a:spcBef>
              <a:spcAft>
                <a:spcPts val="0"/>
              </a:spcAft>
              <a:buClr>
                <a:srgbClr val="3333CC"/>
              </a:buClr>
              <a:buSzPts val="1440"/>
              <a:buFont typeface="Noto Sans Symbols"/>
              <a:buChar char="■"/>
            </a:pPr>
            <a:r>
              <a:rPr lang="en-US" sz="2400"/>
              <a:t>Multimedia Messaging Service (MMS)</a:t>
            </a:r>
            <a:endParaRPr/>
          </a:p>
          <a:p>
            <a:pPr marL="341313" lvl="0" indent="-341313" algn="l" rtl="0">
              <a:spcBef>
                <a:spcPts val="600"/>
              </a:spcBef>
              <a:spcAft>
                <a:spcPts val="0"/>
              </a:spcAft>
              <a:buClr>
                <a:srgbClr val="3333CC"/>
              </a:buClr>
              <a:buSzPts val="1440"/>
              <a:buFont typeface="Noto Sans Symbols"/>
              <a:buChar char="■"/>
            </a:pPr>
            <a:r>
              <a:rPr lang="en-US" sz="2400"/>
              <a:t>Global Positioning System (GPS)</a:t>
            </a:r>
            <a:endParaRPr/>
          </a:p>
          <a:p>
            <a:pPr marL="341313" lvl="0" indent="-341313" algn="l" rtl="0">
              <a:spcBef>
                <a:spcPts val="600"/>
              </a:spcBef>
              <a:spcAft>
                <a:spcPts val="0"/>
              </a:spcAft>
              <a:buClr>
                <a:srgbClr val="3333CC"/>
              </a:buClr>
              <a:buSzPts val="1440"/>
              <a:buFont typeface="Noto Sans Symbols"/>
              <a:buChar char="■"/>
            </a:pPr>
            <a:r>
              <a:rPr lang="en-US" sz="2400"/>
              <a:t>Wireless Application Protocol (WAP) – to access the Internet</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2"/>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Global System for Mobile Communication (GSM)</a:t>
            </a:r>
            <a:endParaRPr/>
          </a:p>
        </p:txBody>
      </p:sp>
    </p:spTree>
    <p:extLst>
      <p:ext uri="{BB962C8B-B14F-4D97-AF65-F5344CB8AC3E}">
        <p14:creationId xmlns:p14="http://schemas.microsoft.com/office/powerpoint/2010/main" val="22922584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characteristics</a:t>
            </a:r>
            <a:endParaRPr/>
          </a:p>
        </p:txBody>
      </p:sp>
      <p:sp>
        <p:nvSpPr>
          <p:cNvPr id="188" name="Google Shape;188;p33"/>
          <p:cNvSpPr txBox="1">
            <a:spLocks noGrp="1"/>
          </p:cNvSpPr>
          <p:nvPr>
            <p:ph type="body" idx="1"/>
          </p:nvPr>
        </p:nvSpPr>
        <p:spPr>
          <a:xfrm>
            <a:off x="1182688" y="2017713"/>
            <a:ext cx="7961312" cy="48402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a:t>previous standard in cellular communication were restrictive</a:t>
            </a:r>
            <a:endParaRPr dirty="0"/>
          </a:p>
          <a:p>
            <a:pPr marL="341313" lvl="0" indent="-341313" algn="l" rtl="0">
              <a:spcBef>
                <a:spcPts val="600"/>
              </a:spcBef>
              <a:spcAft>
                <a:spcPts val="0"/>
              </a:spcAft>
              <a:buClr>
                <a:srgbClr val="3333CC"/>
              </a:buClr>
              <a:buSzPts val="1440"/>
              <a:buFont typeface="Noto Sans Symbols"/>
              <a:buChar char="■"/>
            </a:pPr>
            <a:r>
              <a:rPr lang="en-US" sz="2400" dirty="0"/>
              <a:t>GSM – global digital standard for cellular phones that offered roaming facility</a:t>
            </a:r>
            <a:endParaRPr dirty="0"/>
          </a:p>
          <a:p>
            <a:pPr marL="341313" lvl="0" indent="-341313" algn="l" rtl="0">
              <a:spcBef>
                <a:spcPts val="600"/>
              </a:spcBef>
              <a:spcAft>
                <a:spcPts val="0"/>
              </a:spcAft>
              <a:buClr>
                <a:srgbClr val="3333CC"/>
              </a:buClr>
              <a:buSzPts val="1440"/>
              <a:buFont typeface="Noto Sans Symbols"/>
              <a:buChar char="■"/>
            </a:pPr>
            <a:r>
              <a:rPr lang="en-US" sz="2400" dirty="0"/>
              <a:t>first named </a:t>
            </a:r>
            <a:r>
              <a:rPr lang="en-US" sz="2400" dirty="0" err="1"/>
              <a:t>Groupe</a:t>
            </a:r>
            <a:r>
              <a:rPr lang="en-US" sz="2400" dirty="0"/>
              <a:t> Special Mobile and used in Europe; then usage extended to other continents</a:t>
            </a:r>
            <a:endParaRPr dirty="0"/>
          </a:p>
          <a:p>
            <a:pPr marL="341313" lvl="0" indent="-341313" algn="l" rtl="0">
              <a:spcBef>
                <a:spcPts val="600"/>
              </a:spcBef>
              <a:spcAft>
                <a:spcPts val="0"/>
              </a:spcAft>
              <a:buClr>
                <a:srgbClr val="3333CC"/>
              </a:buClr>
              <a:buSzPts val="1440"/>
              <a:buFont typeface="Noto Sans Symbols"/>
              <a:buChar char="■"/>
            </a:pPr>
            <a:r>
              <a:rPr lang="en-US" sz="2400" dirty="0"/>
              <a:t>GSM operate in frequency bands: 900MHz, 1800 MHz, 1900 MHz</a:t>
            </a:r>
            <a:endParaRPr dirty="0"/>
          </a:p>
          <a:p>
            <a:pPr marL="341313" lvl="0" indent="-341313" algn="l" rtl="0">
              <a:spcBef>
                <a:spcPts val="600"/>
              </a:spcBef>
              <a:spcAft>
                <a:spcPts val="0"/>
              </a:spcAft>
              <a:buClr>
                <a:srgbClr val="3333CC"/>
              </a:buClr>
              <a:buSzPts val="1440"/>
              <a:buFont typeface="Noto Sans Symbols"/>
              <a:buChar char="■"/>
            </a:pPr>
            <a:r>
              <a:rPr lang="en-US" sz="2400" dirty="0"/>
              <a:t>GSM provides voice and data services</a:t>
            </a:r>
            <a:endParaRPr dirty="0"/>
          </a:p>
        </p:txBody>
      </p:sp>
    </p:spTree>
    <p:extLst>
      <p:ext uri="{BB962C8B-B14F-4D97-AF65-F5344CB8AC3E}">
        <p14:creationId xmlns:p14="http://schemas.microsoft.com/office/powerpoint/2010/main" val="23823087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26"/>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Cellular network components</a:t>
            </a:r>
            <a:endParaRPr/>
          </a:p>
        </p:txBody>
      </p:sp>
      <p:pic>
        <p:nvPicPr>
          <p:cNvPr id="141" name="Google Shape;141;p26"/>
          <p:cNvPicPr preferRelativeResize="0"/>
          <p:nvPr/>
        </p:nvPicPr>
        <p:blipFill rotWithShape="1">
          <a:blip r:embed="rId3">
            <a:alphaModFix/>
          </a:blip>
          <a:srcRect/>
          <a:stretch/>
        </p:blipFill>
        <p:spPr>
          <a:xfrm>
            <a:off x="1752600" y="2286000"/>
            <a:ext cx="5257800" cy="3352800"/>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p:cNvGrpSpPr/>
        <p:nvPr/>
      </p:nvGrpSpPr>
      <p:grpSpPr>
        <a:xfrm>
          <a:off x="0" y="0"/>
          <a:ext cx="0" cy="0"/>
          <a:chOff x="0" y="0"/>
          <a:chExt cx="0" cy="0"/>
        </a:xfrm>
      </p:grpSpPr>
      <p:sp>
        <p:nvSpPr>
          <p:cNvPr id="146" name="Google Shape;146;p27"/>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a:t>Cellular network components (2)</a:t>
            </a:r>
            <a:endParaRPr dirty="0"/>
          </a:p>
        </p:txBody>
      </p:sp>
      <p:sp>
        <p:nvSpPr>
          <p:cNvPr id="147" name="Google Shape;147;p27"/>
          <p:cNvSpPr txBox="1">
            <a:spLocks noGrp="1"/>
          </p:cNvSpPr>
          <p:nvPr>
            <p:ph type="body" idx="1"/>
          </p:nvPr>
        </p:nvSpPr>
        <p:spPr>
          <a:xfrm>
            <a:off x="914400" y="1828800"/>
            <a:ext cx="82296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000" dirty="0"/>
              <a:t>BTS (Base Transceiver Station) – main component of a cell and it connects the subscribers to the cellular network; for transmission/reception of information it uses several antennas spread across the cell</a:t>
            </a:r>
            <a:endParaRPr sz="2000" dirty="0"/>
          </a:p>
          <a:p>
            <a:pPr marL="341313" lvl="0" indent="-341313" algn="l" rtl="0">
              <a:spcBef>
                <a:spcPts val="600"/>
              </a:spcBef>
              <a:spcAft>
                <a:spcPts val="0"/>
              </a:spcAft>
              <a:buClr>
                <a:srgbClr val="3333CC"/>
              </a:buClr>
              <a:buSzPts val="1440"/>
              <a:buFont typeface="Noto Sans Symbols"/>
              <a:buChar char="■"/>
            </a:pPr>
            <a:r>
              <a:rPr lang="en-US" sz="2000" dirty="0"/>
              <a:t>BSC (Basic Station Controller) – it is an interface between BTSs and it is linked to BTSs by cable or microwave links; it routes calls between BTSs; it is also connected to the MSC</a:t>
            </a:r>
            <a:endParaRPr sz="2000" dirty="0"/>
          </a:p>
          <a:p>
            <a:pPr marL="341313" lvl="0" indent="-341313" algn="l" rtl="0">
              <a:spcBef>
                <a:spcPts val="600"/>
              </a:spcBef>
              <a:spcAft>
                <a:spcPts val="0"/>
              </a:spcAft>
              <a:buClr>
                <a:srgbClr val="3333CC"/>
              </a:buClr>
              <a:buSzPts val="1440"/>
              <a:buFont typeface="Noto Sans Symbols"/>
              <a:buChar char="■"/>
            </a:pPr>
            <a:r>
              <a:rPr lang="en-US" sz="2000" dirty="0"/>
              <a:t>MSC (Mobile Switching Center) – the coordinator of a cellular network, it is connected to several BSCs, it routes calls between BSCs; links the cellular network with other networks like PSTN through fiber optics, microwave or copper cable</a:t>
            </a:r>
            <a:endParaRPr sz="2000" dirty="0"/>
          </a:p>
          <a:p>
            <a:pPr marL="341313" lvl="0" indent="-341313" algn="l" rtl="0">
              <a:spcBef>
                <a:spcPts val="600"/>
              </a:spcBef>
              <a:spcAft>
                <a:spcPts val="0"/>
              </a:spcAft>
              <a:buClr>
                <a:srgbClr val="3333CC"/>
              </a:buClr>
              <a:buSzPts val="1440"/>
              <a:buFont typeface="Noto Sans Symbols"/>
              <a:buNone/>
            </a:pPr>
            <a:endParaRPr sz="2400" dirty="0"/>
          </a:p>
          <a:p>
            <a:pPr marL="341313" lvl="0" indent="-341313" algn="l" rtl="0">
              <a:spcBef>
                <a:spcPts val="600"/>
              </a:spcBef>
              <a:spcAft>
                <a:spcPts val="0"/>
              </a:spcAft>
              <a:buClr>
                <a:srgbClr val="3333CC"/>
              </a:buClr>
              <a:buSzPts val="1440"/>
              <a:buFont typeface="Noto Sans Symbols"/>
              <a:buNone/>
            </a:pPr>
            <a:endParaRPr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28"/>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Components of a cellular phone (MSU – Mobile Subscriber Unit)</a:t>
            </a:r>
            <a:endParaRPr/>
          </a:p>
        </p:txBody>
      </p:sp>
      <p:sp>
        <p:nvSpPr>
          <p:cNvPr id="153" name="Google Shape;153;p28"/>
          <p:cNvSpPr txBox="1"/>
          <p:nvPr/>
        </p:nvSpPr>
        <p:spPr>
          <a:xfrm>
            <a:off x="1182688" y="1828800"/>
            <a:ext cx="7961312" cy="4979988"/>
          </a:xfrm>
          <a:prstGeom prst="rect">
            <a:avLst/>
          </a:prstGeom>
          <a:noFill/>
          <a:ln>
            <a:noFill/>
          </a:ln>
        </p:spPr>
        <p:txBody>
          <a:bodyPr spcFirstLastPara="1" wrap="square" lIns="90000" tIns="46800" rIns="90000" bIns="46800" anchor="t" anchorCtr="0">
            <a:noAutofit/>
          </a:bodyPr>
          <a:lstStyle/>
          <a:p>
            <a:pPr marL="341313" marR="0" lvl="0" indent="-341313" algn="l" rtl="0">
              <a:spcBef>
                <a:spcPts val="0"/>
              </a:spcBef>
              <a:spcAft>
                <a:spcPts val="0"/>
              </a:spcAft>
              <a:buClr>
                <a:srgbClr val="3333CC"/>
              </a:buClr>
              <a:buSzPts val="1440"/>
              <a:buFont typeface="Noto Sans Symbols"/>
              <a:buChar char="■"/>
            </a:pPr>
            <a:r>
              <a:rPr lang="en-US" sz="2400" dirty="0">
                <a:solidFill>
                  <a:srgbClr val="000000"/>
                </a:solidFill>
                <a:latin typeface="Proxima Nova" panose="020B0604020202020204" charset="0"/>
                <a:ea typeface="Tahoma"/>
                <a:cs typeface="Tahoma"/>
                <a:sym typeface="Tahoma"/>
              </a:rPr>
              <a:t>radio transceiver – low power radio transmitter and receiver</a:t>
            </a:r>
            <a:endParaRPr sz="2400" dirty="0">
              <a:latin typeface="Proxima Nova" panose="020B0604020202020204" charset="0"/>
            </a:endParaRPr>
          </a:p>
          <a:p>
            <a:pPr marL="341313" marR="0" lvl="0" indent="-341313" algn="l" rtl="0">
              <a:spcBef>
                <a:spcPts val="600"/>
              </a:spcBef>
              <a:spcAft>
                <a:spcPts val="0"/>
              </a:spcAft>
              <a:buClr>
                <a:srgbClr val="3333CC"/>
              </a:buClr>
              <a:buSzPts val="1440"/>
              <a:buFont typeface="Noto Sans Symbols"/>
              <a:buChar char="■"/>
            </a:pPr>
            <a:r>
              <a:rPr lang="en-US" sz="2400" dirty="0">
                <a:solidFill>
                  <a:srgbClr val="000000"/>
                </a:solidFill>
                <a:latin typeface="Proxima Nova" panose="020B0604020202020204" charset="0"/>
                <a:ea typeface="Tahoma"/>
                <a:cs typeface="Tahoma"/>
                <a:sym typeface="Tahoma"/>
              </a:rPr>
              <a:t>antenna, usually located inside the phone</a:t>
            </a:r>
            <a:endParaRPr sz="2400" dirty="0">
              <a:latin typeface="Proxima Nova" panose="020B0604020202020204" charset="0"/>
            </a:endParaRPr>
          </a:p>
          <a:p>
            <a:pPr marL="341313" marR="0" lvl="0" indent="-341313" algn="l" rtl="0">
              <a:spcBef>
                <a:spcPts val="600"/>
              </a:spcBef>
              <a:spcAft>
                <a:spcPts val="0"/>
              </a:spcAft>
              <a:buClr>
                <a:srgbClr val="3333CC"/>
              </a:buClr>
              <a:buSzPts val="1440"/>
              <a:buFont typeface="Noto Sans Symbols"/>
              <a:buNone/>
            </a:pPr>
            <a:endParaRPr sz="2400" dirty="0">
              <a:solidFill>
                <a:srgbClr val="000000"/>
              </a:solidFill>
              <a:latin typeface="Proxima Nova" panose="020B0604020202020204" charset="0"/>
              <a:ea typeface="Tahoma"/>
              <a:cs typeface="Tahoma"/>
              <a:sym typeface="Tahoma"/>
            </a:endParaRPr>
          </a:p>
          <a:p>
            <a:pPr marL="341313" marR="0" lvl="0" indent="-341313" algn="l" rtl="0">
              <a:spcBef>
                <a:spcPts val="600"/>
              </a:spcBef>
              <a:spcAft>
                <a:spcPts val="0"/>
              </a:spcAft>
              <a:buClr>
                <a:srgbClr val="3333CC"/>
              </a:buClr>
              <a:buSzPts val="1440"/>
              <a:buFont typeface="Noto Sans Symbols"/>
              <a:buChar char="■"/>
            </a:pPr>
            <a:r>
              <a:rPr lang="en-US" sz="2400" dirty="0">
                <a:solidFill>
                  <a:srgbClr val="000000"/>
                </a:solidFill>
                <a:latin typeface="Proxima Nova" panose="020B0604020202020204" charset="0"/>
                <a:ea typeface="Tahoma"/>
                <a:cs typeface="Tahoma"/>
                <a:sym typeface="Tahoma"/>
              </a:rPr>
              <a:t>control circuitry – formats the data sent to and from the BTS; controls signal transmission and reception</a:t>
            </a:r>
            <a:endParaRPr sz="2400" dirty="0">
              <a:latin typeface="Proxima Nova" panose="020B0604020202020204" charset="0"/>
            </a:endParaRPr>
          </a:p>
          <a:p>
            <a:pPr marL="341313" marR="0" lvl="0" indent="-341313" algn="l" rtl="0">
              <a:spcBef>
                <a:spcPts val="600"/>
              </a:spcBef>
              <a:spcAft>
                <a:spcPts val="0"/>
              </a:spcAft>
              <a:buClr>
                <a:srgbClr val="3333CC"/>
              </a:buClr>
              <a:buSzPts val="1440"/>
              <a:buFont typeface="Noto Sans Symbols"/>
              <a:buChar char="■"/>
            </a:pPr>
            <a:r>
              <a:rPr lang="en-US" sz="2400" dirty="0">
                <a:solidFill>
                  <a:srgbClr val="000000"/>
                </a:solidFill>
                <a:latin typeface="Proxima Nova" panose="020B0604020202020204" charset="0"/>
                <a:ea typeface="Tahoma"/>
                <a:cs typeface="Tahoma"/>
                <a:sym typeface="Tahoma"/>
              </a:rPr>
              <a:t>man-machine interface – consists from a keypad and a display; is managed by the control circuitry</a:t>
            </a:r>
            <a:endParaRPr sz="2400" dirty="0">
              <a:latin typeface="Proxima Nova" panose="020B0604020202020204" charset="0"/>
            </a:endParaRPr>
          </a:p>
          <a:p>
            <a:pPr marL="341313" marR="0" lvl="0" indent="-341313" algn="l" rtl="0">
              <a:spcBef>
                <a:spcPts val="600"/>
              </a:spcBef>
              <a:spcAft>
                <a:spcPts val="0"/>
              </a:spcAft>
              <a:buClr>
                <a:srgbClr val="3333CC"/>
              </a:buClr>
              <a:buSzPts val="1440"/>
              <a:buFont typeface="Noto Sans Symbols"/>
              <a:buChar char="■"/>
            </a:pPr>
            <a:r>
              <a:rPr lang="en-US" sz="2400" dirty="0">
                <a:solidFill>
                  <a:srgbClr val="000000"/>
                </a:solidFill>
                <a:latin typeface="Proxima Nova" panose="020B0604020202020204" charset="0"/>
                <a:ea typeface="Tahoma"/>
                <a:cs typeface="Tahoma"/>
                <a:sym typeface="Tahoma"/>
              </a:rPr>
              <a:t>Subscriber Identity Module (SIM) – integrated circuit card that stores the identity information of subscriber</a:t>
            </a:r>
            <a:endParaRPr sz="2400" dirty="0">
              <a:latin typeface="Proxima Nova" panose="020B0604020202020204" charset="0"/>
            </a:endParaRPr>
          </a:p>
          <a:p>
            <a:pPr marL="341313" marR="0" lvl="0" indent="-341313" algn="l" rtl="0">
              <a:spcBef>
                <a:spcPts val="600"/>
              </a:spcBef>
              <a:spcAft>
                <a:spcPts val="0"/>
              </a:spcAft>
              <a:buClr>
                <a:srgbClr val="3333CC"/>
              </a:buClr>
              <a:buSzPts val="1440"/>
              <a:buFont typeface="Noto Sans Symbols"/>
              <a:buChar char="■"/>
            </a:pPr>
            <a:r>
              <a:rPr lang="en-US" sz="2400" dirty="0">
                <a:solidFill>
                  <a:srgbClr val="000000"/>
                </a:solidFill>
                <a:latin typeface="Proxima Nova" panose="020B0604020202020204" charset="0"/>
                <a:ea typeface="Tahoma"/>
                <a:cs typeface="Tahoma"/>
                <a:sym typeface="Tahoma"/>
              </a:rPr>
              <a:t>battery, usually Li-ion, the power unit of the phone</a:t>
            </a:r>
            <a:endParaRPr sz="2400" dirty="0">
              <a:latin typeface="Proxima Nova" panose="020B0604020202020204" charset="0"/>
            </a:endParaRPr>
          </a:p>
        </p:txBody>
      </p:sp>
      <p:pic>
        <p:nvPicPr>
          <p:cNvPr id="154" name="Google Shape;154;p28"/>
          <p:cNvPicPr preferRelativeResize="0"/>
          <p:nvPr/>
        </p:nvPicPr>
        <p:blipFill rotWithShape="1">
          <a:blip r:embed="rId3">
            <a:alphaModFix/>
          </a:blip>
          <a:srcRect/>
          <a:stretch/>
        </p:blipFill>
        <p:spPr>
          <a:xfrm>
            <a:off x="152400" y="1828800"/>
            <a:ext cx="838200" cy="838200"/>
          </a:xfrm>
          <a:prstGeom prst="rect">
            <a:avLst/>
          </a:prstGeom>
          <a:noFill/>
          <a:ln>
            <a:noFill/>
          </a:ln>
        </p:spPr>
      </p:pic>
      <p:pic>
        <p:nvPicPr>
          <p:cNvPr id="155" name="Google Shape;155;p28"/>
          <p:cNvPicPr preferRelativeResize="0"/>
          <p:nvPr/>
        </p:nvPicPr>
        <p:blipFill rotWithShape="1">
          <a:blip r:embed="rId4">
            <a:alphaModFix/>
          </a:blip>
          <a:srcRect/>
          <a:stretch/>
        </p:blipFill>
        <p:spPr>
          <a:xfrm>
            <a:off x="228600" y="2590800"/>
            <a:ext cx="762000" cy="731838"/>
          </a:xfrm>
          <a:prstGeom prst="rect">
            <a:avLst/>
          </a:prstGeom>
          <a:noFill/>
          <a:ln>
            <a:noFill/>
          </a:ln>
        </p:spPr>
      </p:pic>
      <p:pic>
        <p:nvPicPr>
          <p:cNvPr id="156" name="Google Shape;156;p28"/>
          <p:cNvPicPr preferRelativeResize="0"/>
          <p:nvPr/>
        </p:nvPicPr>
        <p:blipFill rotWithShape="1">
          <a:blip r:embed="rId5">
            <a:alphaModFix/>
          </a:blip>
          <a:srcRect/>
          <a:stretch/>
        </p:blipFill>
        <p:spPr>
          <a:xfrm>
            <a:off x="304800" y="3300413"/>
            <a:ext cx="762000" cy="738187"/>
          </a:xfrm>
          <a:prstGeom prst="rect">
            <a:avLst/>
          </a:prstGeom>
          <a:noFill/>
          <a:ln>
            <a:noFill/>
          </a:ln>
        </p:spPr>
      </p:pic>
      <p:pic>
        <p:nvPicPr>
          <p:cNvPr id="157" name="Google Shape;157;p28"/>
          <p:cNvPicPr preferRelativeResize="0"/>
          <p:nvPr/>
        </p:nvPicPr>
        <p:blipFill rotWithShape="1">
          <a:blip r:embed="rId6">
            <a:alphaModFix/>
          </a:blip>
          <a:srcRect/>
          <a:stretch/>
        </p:blipFill>
        <p:spPr>
          <a:xfrm>
            <a:off x="271463" y="4191000"/>
            <a:ext cx="795337" cy="838200"/>
          </a:xfrm>
          <a:prstGeom prst="rect">
            <a:avLst/>
          </a:prstGeom>
          <a:noFill/>
          <a:ln>
            <a:noFill/>
          </a:ln>
        </p:spPr>
      </p:pic>
      <p:pic>
        <p:nvPicPr>
          <p:cNvPr id="158" name="Google Shape;158;p28"/>
          <p:cNvPicPr preferRelativeResize="0"/>
          <p:nvPr/>
        </p:nvPicPr>
        <p:blipFill rotWithShape="1">
          <a:blip r:embed="rId7">
            <a:alphaModFix/>
          </a:blip>
          <a:srcRect/>
          <a:stretch/>
        </p:blipFill>
        <p:spPr>
          <a:xfrm>
            <a:off x="228600" y="5105400"/>
            <a:ext cx="838200" cy="812800"/>
          </a:xfrm>
          <a:prstGeom prst="rect">
            <a:avLst/>
          </a:prstGeom>
          <a:noFill/>
          <a:ln>
            <a:noFill/>
          </a:ln>
        </p:spPr>
      </p:pic>
      <p:pic>
        <p:nvPicPr>
          <p:cNvPr id="159" name="Google Shape;159;p28"/>
          <p:cNvPicPr preferRelativeResize="0"/>
          <p:nvPr/>
        </p:nvPicPr>
        <p:blipFill rotWithShape="1">
          <a:blip r:embed="rId8">
            <a:alphaModFix/>
          </a:blip>
          <a:srcRect/>
          <a:stretch/>
        </p:blipFill>
        <p:spPr>
          <a:xfrm>
            <a:off x="152400" y="5962650"/>
            <a:ext cx="971550" cy="89535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sp>
        <p:nvSpPr>
          <p:cNvPr id="164" name="Google Shape;164;p29"/>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Setting up a call process</a:t>
            </a:r>
            <a:endParaRPr/>
          </a:p>
        </p:txBody>
      </p:sp>
      <p:sp>
        <p:nvSpPr>
          <p:cNvPr id="165" name="Google Shape;165;p29"/>
          <p:cNvSpPr txBox="1">
            <a:spLocks noGrp="1"/>
          </p:cNvSpPr>
          <p:nvPr>
            <p:ph type="body" idx="1"/>
          </p:nvPr>
        </p:nvSpPr>
        <p:spPr>
          <a:xfrm>
            <a:off x="762000" y="1752600"/>
            <a:ext cx="84582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000" dirty="0"/>
              <a:t>when powered on, the phone does not have a frequency/ time </a:t>
            </a:r>
            <a:r>
              <a:rPr lang="en-US" sz="2000" dirty="0" smtClean="0"/>
              <a:t>slot/code </a:t>
            </a:r>
            <a:r>
              <a:rPr lang="en-US" sz="2000" dirty="0"/>
              <a:t>assigned to it yet; so it scans for the control channel of the BTS and picks the strongest signal</a:t>
            </a:r>
            <a:endParaRPr sz="2000" dirty="0"/>
          </a:p>
          <a:p>
            <a:pPr marL="341313" lvl="0" indent="-341313" algn="l" rtl="0">
              <a:spcBef>
                <a:spcPts val="600"/>
              </a:spcBef>
              <a:spcAft>
                <a:spcPts val="0"/>
              </a:spcAft>
              <a:buClr>
                <a:srgbClr val="3333CC"/>
              </a:buClr>
              <a:buSzPts val="1440"/>
              <a:buFont typeface="Noto Sans Symbols"/>
              <a:buChar char="■"/>
            </a:pPr>
            <a:r>
              <a:rPr lang="en-US" sz="2000" dirty="0"/>
              <a:t>then it sends a message (including its identification number) to the BTS to indicate its presence</a:t>
            </a:r>
            <a:endParaRPr sz="2000" dirty="0"/>
          </a:p>
          <a:p>
            <a:pPr marL="341313" lvl="0" indent="-341313" algn="l" rtl="0">
              <a:spcBef>
                <a:spcPts val="600"/>
              </a:spcBef>
              <a:spcAft>
                <a:spcPts val="0"/>
              </a:spcAft>
              <a:buClr>
                <a:srgbClr val="3333CC"/>
              </a:buClr>
              <a:buSzPts val="1440"/>
              <a:buFont typeface="Noto Sans Symbols"/>
              <a:buChar char="■"/>
            </a:pPr>
            <a:r>
              <a:rPr lang="en-US" sz="2000" dirty="0"/>
              <a:t>the BTS sends an acknowledgement message back to the cell phone</a:t>
            </a:r>
            <a:endParaRPr sz="2000" dirty="0"/>
          </a:p>
          <a:p>
            <a:pPr marL="341313" lvl="0" indent="-341313" algn="l" rtl="0">
              <a:spcBef>
                <a:spcPts val="600"/>
              </a:spcBef>
              <a:spcAft>
                <a:spcPts val="0"/>
              </a:spcAft>
              <a:buClr>
                <a:srgbClr val="3333CC"/>
              </a:buClr>
              <a:buSzPts val="1440"/>
              <a:buFont typeface="Noto Sans Symbols"/>
              <a:buChar char="■"/>
            </a:pPr>
            <a:r>
              <a:rPr lang="en-US" sz="2000" dirty="0"/>
              <a:t>the phone then registers with the BTS and informs the BTS of its exact location</a:t>
            </a:r>
            <a:endParaRPr sz="2000" dirty="0"/>
          </a:p>
          <a:p>
            <a:pPr marL="341313" lvl="0" indent="-341313" algn="l" rtl="0">
              <a:spcBef>
                <a:spcPts val="600"/>
              </a:spcBef>
              <a:spcAft>
                <a:spcPts val="0"/>
              </a:spcAft>
              <a:buClr>
                <a:srgbClr val="3333CC"/>
              </a:buClr>
              <a:buSzPts val="1440"/>
              <a:buFont typeface="Noto Sans Symbols"/>
              <a:buChar char="■"/>
            </a:pPr>
            <a:r>
              <a:rPr lang="en-US" sz="2000" dirty="0"/>
              <a:t>after the phone is registered to the BTS, the BTS assigns a channel to the phone and the phone is ready to receive or make calls</a:t>
            </a:r>
            <a:endParaRPr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9"/>
        <p:cNvGrpSpPr/>
        <p:nvPr/>
      </p:nvGrpSpPr>
      <p:grpSpPr>
        <a:xfrm>
          <a:off x="0" y="0"/>
          <a:ext cx="0" cy="0"/>
          <a:chOff x="0" y="0"/>
          <a:chExt cx="0" cy="0"/>
        </a:xfrm>
      </p:grpSpPr>
      <p:sp>
        <p:nvSpPr>
          <p:cNvPr id="170" name="Google Shape;170;p30"/>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Making a call process</a:t>
            </a:r>
            <a:endParaRPr/>
          </a:p>
        </p:txBody>
      </p:sp>
      <p:sp>
        <p:nvSpPr>
          <p:cNvPr id="171" name="Google Shape;171;p30"/>
          <p:cNvSpPr txBox="1">
            <a:spLocks noGrp="1"/>
          </p:cNvSpPr>
          <p:nvPr>
            <p:ph type="body" idx="1"/>
          </p:nvPr>
        </p:nvSpPr>
        <p:spPr>
          <a:xfrm>
            <a:off x="838200" y="1828800"/>
            <a:ext cx="83058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a:t>the subscriber dials the receiver’s number and sends it to the BTS</a:t>
            </a:r>
            <a:endParaRPr dirty="0"/>
          </a:p>
          <a:p>
            <a:pPr marL="341313" lvl="0" indent="-341313" algn="l" rtl="0">
              <a:spcBef>
                <a:spcPts val="600"/>
              </a:spcBef>
              <a:spcAft>
                <a:spcPts val="0"/>
              </a:spcAft>
              <a:buClr>
                <a:srgbClr val="3333CC"/>
              </a:buClr>
              <a:buSzPts val="1440"/>
              <a:buFont typeface="Noto Sans Symbols"/>
              <a:buChar char="■"/>
            </a:pPr>
            <a:r>
              <a:rPr lang="en-US" sz="2400" dirty="0"/>
              <a:t>the BTS sends to its BSC the ID, location and number of the caller and also the number of the receiver</a:t>
            </a:r>
            <a:endParaRPr dirty="0"/>
          </a:p>
          <a:p>
            <a:pPr marL="341313" lvl="0" indent="-341313" algn="l" rtl="0">
              <a:spcBef>
                <a:spcPts val="600"/>
              </a:spcBef>
              <a:spcAft>
                <a:spcPts val="0"/>
              </a:spcAft>
              <a:buClr>
                <a:srgbClr val="3333CC"/>
              </a:buClr>
              <a:buSzPts val="1440"/>
              <a:buFont typeface="Noto Sans Symbols"/>
              <a:buChar char="■"/>
            </a:pPr>
            <a:r>
              <a:rPr lang="en-US" sz="2400" dirty="0"/>
              <a:t>the BSC forwards this information to its MSC</a:t>
            </a:r>
            <a:endParaRPr dirty="0"/>
          </a:p>
          <a:p>
            <a:pPr marL="341313" lvl="0" indent="-341313" algn="l" rtl="0">
              <a:spcBef>
                <a:spcPts val="600"/>
              </a:spcBef>
              <a:spcAft>
                <a:spcPts val="0"/>
              </a:spcAft>
              <a:buClr>
                <a:srgbClr val="3333CC"/>
              </a:buClr>
              <a:buSzPts val="1440"/>
              <a:buFont typeface="Noto Sans Symbols"/>
              <a:buChar char="■"/>
            </a:pPr>
            <a:r>
              <a:rPr lang="en-US" sz="2400" dirty="0"/>
              <a:t>the MSC routes the call to the receiver’s MSC which is then sent to the receiver’s BSC and then to its BTS</a:t>
            </a:r>
            <a:endParaRPr dirty="0"/>
          </a:p>
          <a:p>
            <a:pPr marL="341313" lvl="0" indent="-341313" algn="l" rtl="0">
              <a:spcBef>
                <a:spcPts val="600"/>
              </a:spcBef>
              <a:spcAft>
                <a:spcPts val="0"/>
              </a:spcAft>
              <a:buClr>
                <a:srgbClr val="3333CC"/>
              </a:buClr>
              <a:buSzPts val="1440"/>
              <a:buFont typeface="Noto Sans Symbols"/>
              <a:buChar char="■"/>
            </a:pPr>
            <a:r>
              <a:rPr lang="en-US" sz="2400" dirty="0"/>
              <a:t>the communication with the receiver’s cell phone is established</a:t>
            </a:r>
            <a:endParaRP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sp>
        <p:nvSpPr>
          <p:cNvPr id="176" name="Google Shape;176;p31"/>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Receiving a call process</a:t>
            </a:r>
            <a:endParaRPr/>
          </a:p>
        </p:txBody>
      </p:sp>
      <p:sp>
        <p:nvSpPr>
          <p:cNvPr id="177" name="Google Shape;177;p31"/>
          <p:cNvSpPr txBox="1">
            <a:spLocks noGrp="1"/>
          </p:cNvSpPr>
          <p:nvPr>
            <p:ph type="body" idx="1"/>
          </p:nvPr>
        </p:nvSpPr>
        <p:spPr>
          <a:xfrm>
            <a:off x="914400" y="1828800"/>
            <a:ext cx="82296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when the receiver’ phone is in an idle state it listens for the control channel of its BTS</a:t>
            </a:r>
            <a:endParaRPr/>
          </a:p>
          <a:p>
            <a:pPr marL="341313" lvl="0" indent="-341313" algn="l" rtl="0">
              <a:spcBef>
                <a:spcPts val="600"/>
              </a:spcBef>
              <a:spcAft>
                <a:spcPts val="0"/>
              </a:spcAft>
              <a:buClr>
                <a:srgbClr val="3333CC"/>
              </a:buClr>
              <a:buSzPts val="1440"/>
              <a:buFont typeface="Noto Sans Symbols"/>
              <a:buChar char="■"/>
            </a:pPr>
            <a:r>
              <a:rPr lang="en-US" sz="2400"/>
              <a:t>if there is an incoming call the BSC and BTS sends a message to the cells in the area where the receiver’s phone is located</a:t>
            </a:r>
            <a:endParaRPr/>
          </a:p>
          <a:p>
            <a:pPr marL="341313" lvl="0" indent="-341313" algn="l" rtl="0">
              <a:spcBef>
                <a:spcPts val="600"/>
              </a:spcBef>
              <a:spcAft>
                <a:spcPts val="0"/>
              </a:spcAft>
              <a:buClr>
                <a:srgbClr val="3333CC"/>
              </a:buClr>
              <a:buSzPts val="1440"/>
              <a:buFont typeface="Noto Sans Symbols"/>
              <a:buChar char="■"/>
            </a:pPr>
            <a:r>
              <a:rPr lang="en-US" sz="2400"/>
              <a:t>the phone monitors its message and compares the number from the message with its own</a:t>
            </a:r>
            <a:endParaRPr/>
          </a:p>
          <a:p>
            <a:pPr marL="341313" lvl="0" indent="-341313" algn="l" rtl="0">
              <a:spcBef>
                <a:spcPts val="600"/>
              </a:spcBef>
              <a:spcAft>
                <a:spcPts val="0"/>
              </a:spcAft>
              <a:buClr>
                <a:srgbClr val="3333CC"/>
              </a:buClr>
              <a:buSzPts val="1440"/>
              <a:buFont typeface="Noto Sans Symbols"/>
              <a:buChar char="■"/>
            </a:pPr>
            <a:r>
              <a:rPr lang="en-US" sz="2400"/>
              <a:t>if the numbers matches the cell phone sends an acknowledgement to the BTS</a:t>
            </a:r>
            <a:endParaRPr/>
          </a:p>
          <a:p>
            <a:pPr marL="341313" lvl="0" indent="-341313" algn="l" rtl="0">
              <a:spcBef>
                <a:spcPts val="600"/>
              </a:spcBef>
              <a:spcAft>
                <a:spcPts val="0"/>
              </a:spcAft>
              <a:buClr>
                <a:srgbClr val="3333CC"/>
              </a:buClr>
              <a:buSzPts val="1440"/>
              <a:buFont typeface="Noto Sans Symbols"/>
              <a:buChar char="■"/>
            </a:pPr>
            <a:r>
              <a:rPr lang="en-US" sz="2400"/>
              <a:t>after authentication, the communication is established between the caller and the receiver</a:t>
            </a: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sp>
        <p:nvSpPr>
          <p:cNvPr id="193" name="Google Shape;193;p34"/>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Subscriber Identity Module (SIM) card</a:t>
            </a:r>
            <a:endParaRPr/>
          </a:p>
        </p:txBody>
      </p:sp>
      <p:sp>
        <p:nvSpPr>
          <p:cNvPr id="194" name="Google Shape;194;p34"/>
          <p:cNvSpPr txBox="1">
            <a:spLocks noGrp="1"/>
          </p:cNvSpPr>
          <p:nvPr>
            <p:ph type="body" idx="1"/>
          </p:nvPr>
        </p:nvSpPr>
        <p:spPr>
          <a:xfrm>
            <a:off x="990600" y="1828800"/>
            <a:ext cx="81534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SIM – a memory card (integrated circuit) holding identity information, phone book etc.</a:t>
            </a:r>
            <a:endParaRPr/>
          </a:p>
          <a:p>
            <a:pPr marL="341313" lvl="0" indent="-341313" algn="l" rtl="0">
              <a:spcBef>
                <a:spcPts val="600"/>
              </a:spcBef>
              <a:spcAft>
                <a:spcPts val="0"/>
              </a:spcAft>
              <a:buClr>
                <a:srgbClr val="3333CC"/>
              </a:buClr>
              <a:buSzPts val="1440"/>
              <a:buFont typeface="Noto Sans Symbols"/>
              <a:buChar char="■"/>
            </a:pPr>
            <a:r>
              <a:rPr lang="en-US" sz="2400"/>
              <a:t>GSM system support SIM cards</a:t>
            </a:r>
            <a:endParaRPr/>
          </a:p>
          <a:p>
            <a:pPr marL="341313" lvl="0" indent="-341313" algn="l" rtl="0">
              <a:spcBef>
                <a:spcPts val="600"/>
              </a:spcBef>
              <a:spcAft>
                <a:spcPts val="0"/>
              </a:spcAft>
              <a:buClr>
                <a:srgbClr val="3333CC"/>
              </a:buClr>
              <a:buSzPts val="1440"/>
              <a:buFont typeface="Noto Sans Symbols"/>
              <a:buChar char="■"/>
            </a:pPr>
            <a:r>
              <a:rPr lang="en-US" sz="2400"/>
              <a:t>other systems, like CDMA do not support SIM cards, but have something similar called Re-Usable Identification Module (RUIM)</a:t>
            </a: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sp>
        <p:nvSpPr>
          <p:cNvPr id="199" name="Google Shape;199;p35"/>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International Mobile Equipment Identity (IMEI) key</a:t>
            </a:r>
            <a:endParaRPr/>
          </a:p>
        </p:txBody>
      </p:sp>
      <p:sp>
        <p:nvSpPr>
          <p:cNvPr id="200" name="Google Shape;200;p35"/>
          <p:cNvSpPr txBox="1">
            <a:spLocks noGrp="1"/>
          </p:cNvSpPr>
          <p:nvPr>
            <p:ph type="body" idx="1"/>
          </p:nvPr>
        </p:nvSpPr>
        <p:spPr>
          <a:xfrm>
            <a:off x="990600" y="1828800"/>
            <a:ext cx="81534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IMEI – a unique 15 digit number identifying each phone, is incorporated in the cellular phone by the manufacturer</a:t>
            </a:r>
            <a:endParaRPr/>
          </a:p>
          <a:p>
            <a:pPr marL="341313" lvl="0" indent="-341313" algn="l" rtl="0">
              <a:spcBef>
                <a:spcPts val="600"/>
              </a:spcBef>
              <a:spcAft>
                <a:spcPts val="0"/>
              </a:spcAft>
              <a:buClr>
                <a:srgbClr val="3333CC"/>
              </a:buClr>
              <a:buSzPts val="1440"/>
              <a:buFont typeface="Noto Sans Symbols"/>
              <a:buChar char="■"/>
            </a:pPr>
            <a:r>
              <a:rPr lang="en-US" sz="2400"/>
              <a:t>IMEI ex.: 994456245689001</a:t>
            </a:r>
            <a:endParaRPr/>
          </a:p>
          <a:p>
            <a:pPr marL="341313" lvl="0" indent="-341313" algn="l" rtl="0">
              <a:spcBef>
                <a:spcPts val="600"/>
              </a:spcBef>
              <a:spcAft>
                <a:spcPts val="0"/>
              </a:spcAft>
              <a:buClr>
                <a:srgbClr val="3333CC"/>
              </a:buClr>
              <a:buSzPts val="1440"/>
              <a:buFont typeface="Noto Sans Symbols"/>
              <a:buChar char="■"/>
            </a:pPr>
            <a:r>
              <a:rPr lang="en-US" sz="2400"/>
              <a:t>when a phone tries to access a network, the service provider verifies its IMEI with a database of stolen phone numbers; if it is found in the database, the service provider denies the connection</a:t>
            </a:r>
            <a:endParaRPr/>
          </a:p>
          <a:p>
            <a:pPr marL="341313" lvl="0" indent="-341313" algn="l" rtl="0">
              <a:spcBef>
                <a:spcPts val="600"/>
              </a:spcBef>
              <a:spcAft>
                <a:spcPts val="0"/>
              </a:spcAft>
              <a:buClr>
                <a:srgbClr val="3333CC"/>
              </a:buClr>
              <a:buSzPts val="1440"/>
              <a:buFont typeface="Noto Sans Symbols"/>
              <a:buChar char="■"/>
            </a:pPr>
            <a:r>
              <a:rPr lang="en-US" sz="2400"/>
              <a:t>the IMEI is located on a white sticker/label under the battery, but it can also be displayed by typing *#06# on the phone</a:t>
            </a:r>
            <a:endParaRPr/>
          </a:p>
          <a:p>
            <a:pPr marL="341313" lvl="0" indent="-341313" algn="l" rtl="0">
              <a:spcBef>
                <a:spcPts val="600"/>
              </a:spcBef>
              <a:spcAft>
                <a:spcPts val="0"/>
              </a:spcAft>
              <a:buClr>
                <a:srgbClr val="3333CC"/>
              </a:buClr>
              <a:buSzPts val="1440"/>
              <a:buFont typeface="Noto Sans Symbols"/>
              <a:buNone/>
            </a:pPr>
            <a:endParaRPr sz="240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36"/>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International Mobile Subscriber Identity (IMSI) key</a:t>
            </a:r>
            <a:endParaRPr/>
          </a:p>
        </p:txBody>
      </p:sp>
      <p:sp>
        <p:nvSpPr>
          <p:cNvPr id="206" name="Google Shape;206;p36"/>
          <p:cNvSpPr txBox="1">
            <a:spLocks noGrp="1"/>
          </p:cNvSpPr>
          <p:nvPr>
            <p:ph type="body" idx="1"/>
          </p:nvPr>
        </p:nvSpPr>
        <p:spPr>
          <a:xfrm>
            <a:off x="1182688" y="2017713"/>
            <a:ext cx="7961312" cy="46878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IMSI – a 15-digit unique number provided by the service provider and incorporated in the SIM card which identifies the subscriber</a:t>
            </a:r>
            <a:endParaRPr/>
          </a:p>
          <a:p>
            <a:pPr marL="341313" lvl="0" indent="-341313" algn="l" rtl="0">
              <a:spcBef>
                <a:spcPts val="600"/>
              </a:spcBef>
              <a:spcAft>
                <a:spcPts val="0"/>
              </a:spcAft>
              <a:buClr>
                <a:srgbClr val="3333CC"/>
              </a:buClr>
              <a:buSzPts val="1440"/>
              <a:buFont typeface="Noto Sans Symbols"/>
              <a:buChar char="■"/>
            </a:pPr>
            <a:r>
              <a:rPr lang="en-US" sz="2400"/>
              <a:t>IMSI enables a service provider to link a phone number with a subscriber</a:t>
            </a:r>
            <a:endParaRPr/>
          </a:p>
          <a:p>
            <a:pPr marL="341313" lvl="0" indent="-341313" algn="l" rtl="0">
              <a:spcBef>
                <a:spcPts val="600"/>
              </a:spcBef>
              <a:spcAft>
                <a:spcPts val="0"/>
              </a:spcAft>
              <a:buClr>
                <a:srgbClr val="3333CC"/>
              </a:buClr>
              <a:buSzPts val="1440"/>
              <a:buFont typeface="Noto Sans Symbols"/>
              <a:buChar char="■"/>
            </a:pPr>
            <a:r>
              <a:rPr lang="en-US" sz="2400"/>
              <a:t>first 3 digits of the IMSI are the country code</a:t>
            </a:r>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sp>
        <p:nvSpPr>
          <p:cNvPr id="211" name="Google Shape;211;p37"/>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Temporary Mobile Subscriber Identity (TMSI) key</a:t>
            </a:r>
            <a:endParaRPr/>
          </a:p>
        </p:txBody>
      </p:sp>
      <p:sp>
        <p:nvSpPr>
          <p:cNvPr id="212" name="Google Shape;212;p37"/>
          <p:cNvSpPr txBox="1">
            <a:spLocks noGrp="1"/>
          </p:cNvSpPr>
          <p:nvPr>
            <p:ph type="body" idx="1"/>
          </p:nvPr>
        </p:nvSpPr>
        <p:spPr>
          <a:xfrm>
            <a:off x="1182688" y="2017713"/>
            <a:ext cx="7961312" cy="48402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TMSI – is a temporary number, shorter than the IMSI, assigned by the service provider to the phone on a temporary basis</a:t>
            </a:r>
            <a:endParaRPr/>
          </a:p>
          <a:p>
            <a:pPr marL="341313" lvl="0" indent="-341313" algn="l" rtl="0">
              <a:spcBef>
                <a:spcPts val="600"/>
              </a:spcBef>
              <a:spcAft>
                <a:spcPts val="0"/>
              </a:spcAft>
              <a:buClr>
                <a:srgbClr val="3333CC"/>
              </a:buClr>
              <a:buSzPts val="1440"/>
              <a:buFont typeface="Noto Sans Symbols"/>
              <a:buChar char="■"/>
            </a:pPr>
            <a:r>
              <a:rPr lang="en-US" sz="2400"/>
              <a:t>TMSI key identifies the phone and its owner in the cell it is located; when the phone moves to a different cell it gets a new TMSI key</a:t>
            </a:r>
            <a:endParaRPr/>
          </a:p>
          <a:p>
            <a:pPr marL="341313" lvl="0" indent="-341313" algn="l" rtl="0">
              <a:spcBef>
                <a:spcPts val="600"/>
              </a:spcBef>
              <a:spcAft>
                <a:spcPts val="0"/>
              </a:spcAft>
              <a:buClr>
                <a:srgbClr val="3333CC"/>
              </a:buClr>
              <a:buSzPts val="1440"/>
              <a:buFont typeface="Noto Sans Symbols"/>
              <a:buChar char="■"/>
            </a:pPr>
            <a:r>
              <a:rPr lang="en-US" sz="2400"/>
              <a:t>as TMSI keys are shorter than IMSI keys they are more efficient to send</a:t>
            </a:r>
            <a:endParaRPr/>
          </a:p>
          <a:p>
            <a:pPr marL="341313" lvl="0" indent="-341313" algn="l" rtl="0">
              <a:spcBef>
                <a:spcPts val="600"/>
              </a:spcBef>
              <a:spcAft>
                <a:spcPts val="0"/>
              </a:spcAft>
              <a:buClr>
                <a:srgbClr val="3333CC"/>
              </a:buClr>
              <a:buSzPts val="1440"/>
              <a:buFont typeface="Noto Sans Symbols"/>
              <a:buChar char="■"/>
            </a:pPr>
            <a:r>
              <a:rPr lang="en-US" sz="2400"/>
              <a:t>TMSI key are used for securing GSM networks</a:t>
            </a: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
        <p:cNvGrpSpPr/>
        <p:nvPr/>
      </p:nvGrpSpPr>
      <p:grpSpPr>
        <a:xfrm>
          <a:off x="0" y="0"/>
          <a:ext cx="0" cy="0"/>
          <a:chOff x="0" y="0"/>
          <a:chExt cx="0" cy="0"/>
        </a:xfrm>
      </p:grpSpPr>
      <p:sp>
        <p:nvSpPr>
          <p:cNvPr id="217" name="Google Shape;217;p38"/>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4400"/>
              <a:buFont typeface="Tahoma"/>
              <a:buNone/>
            </a:pPr>
            <a:r>
              <a:rPr lang="en-US" sz="4000" b="1" dirty="0"/>
              <a:t>GSM architecture</a:t>
            </a:r>
            <a:endParaRPr sz="4000" b="1"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1"/>
        <p:cNvGrpSpPr/>
        <p:nvPr/>
      </p:nvGrpSpPr>
      <p:grpSpPr>
        <a:xfrm>
          <a:off x="0" y="0"/>
          <a:ext cx="0" cy="0"/>
          <a:chOff x="0" y="0"/>
          <a:chExt cx="0" cy="0"/>
        </a:xfrm>
      </p:grpSpPr>
      <p:sp>
        <p:nvSpPr>
          <p:cNvPr id="222" name="Google Shape;222;p39"/>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Base Station Subsystem (BSS)</a:t>
            </a:r>
            <a:endParaRPr/>
          </a:p>
        </p:txBody>
      </p:sp>
      <p:pic>
        <p:nvPicPr>
          <p:cNvPr id="223" name="Google Shape;223;p39"/>
          <p:cNvPicPr preferRelativeResize="0"/>
          <p:nvPr/>
        </p:nvPicPr>
        <p:blipFill rotWithShape="1">
          <a:blip r:embed="rId3">
            <a:alphaModFix/>
          </a:blip>
          <a:srcRect/>
          <a:stretch/>
        </p:blipFill>
        <p:spPr>
          <a:xfrm>
            <a:off x="685800" y="2438400"/>
            <a:ext cx="7696200" cy="3295650"/>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7"/>
        <p:cNvGrpSpPr/>
        <p:nvPr/>
      </p:nvGrpSpPr>
      <p:grpSpPr>
        <a:xfrm>
          <a:off x="0" y="0"/>
          <a:ext cx="0" cy="0"/>
          <a:chOff x="0" y="0"/>
          <a:chExt cx="0" cy="0"/>
        </a:xfrm>
      </p:grpSpPr>
      <p:sp>
        <p:nvSpPr>
          <p:cNvPr id="228" name="Google Shape;228;p40"/>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HLR, VLR and EIR registers</a:t>
            </a:r>
            <a:endParaRPr/>
          </a:p>
        </p:txBody>
      </p:sp>
      <p:sp>
        <p:nvSpPr>
          <p:cNvPr id="229" name="Google Shape;229;p40"/>
          <p:cNvSpPr txBox="1">
            <a:spLocks noGrp="1"/>
          </p:cNvSpPr>
          <p:nvPr>
            <p:ph type="body" idx="1"/>
          </p:nvPr>
        </p:nvSpPr>
        <p:spPr>
          <a:xfrm>
            <a:off x="990600" y="1828800"/>
            <a:ext cx="81534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000" u="sng" dirty="0"/>
              <a:t>Home Location Register</a:t>
            </a:r>
            <a:r>
              <a:rPr lang="en-US" sz="2000" dirty="0"/>
              <a:t> (HLR) - is a database maintained by the service provider containing permanent data about each subscriber (i.e. location, activity status, account status, call forwarding preference, caller identification preference)</a:t>
            </a:r>
            <a:endParaRPr sz="2000" dirty="0"/>
          </a:p>
          <a:p>
            <a:pPr marL="341313" lvl="0" indent="-341313" algn="l" rtl="0">
              <a:spcBef>
                <a:spcPts val="600"/>
              </a:spcBef>
              <a:spcAft>
                <a:spcPts val="0"/>
              </a:spcAft>
              <a:buClr>
                <a:srgbClr val="3333CC"/>
              </a:buClr>
              <a:buSzPts val="1440"/>
              <a:buFont typeface="Noto Sans Symbols"/>
              <a:buChar char="■"/>
            </a:pPr>
            <a:r>
              <a:rPr lang="en-US" sz="2000" u="sng" dirty="0"/>
              <a:t>Visitor Location Register</a:t>
            </a:r>
            <a:r>
              <a:rPr lang="en-US" sz="2000" dirty="0"/>
              <a:t> (VLR) – database that stores temporary data about a subscriber; it is kept in the MSC of the of the area the subscriber is located in; when the subscriber moves to a new area the new MSC requests this VLR from the HLR of the old MSC  </a:t>
            </a:r>
            <a:endParaRPr sz="2000" dirty="0"/>
          </a:p>
          <a:p>
            <a:pPr marL="341313" lvl="0" indent="-341313" algn="l" rtl="0">
              <a:spcBef>
                <a:spcPts val="600"/>
              </a:spcBef>
              <a:spcAft>
                <a:spcPts val="0"/>
              </a:spcAft>
              <a:buClr>
                <a:srgbClr val="3333CC"/>
              </a:buClr>
              <a:buSzPts val="1440"/>
              <a:buFont typeface="Noto Sans Symbols"/>
              <a:buChar char="■"/>
            </a:pPr>
            <a:r>
              <a:rPr lang="en-US" sz="2000" u="sng" dirty="0"/>
              <a:t>Equipment Identity Register</a:t>
            </a:r>
            <a:r>
              <a:rPr lang="en-US" sz="2000" dirty="0"/>
              <a:t> (EIR) – database located near the MSC and containing information identifying cell phones</a:t>
            </a:r>
            <a:endParaRPr sz="20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p41"/>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Authentication Center (AuC)</a:t>
            </a:r>
            <a:endParaRPr/>
          </a:p>
        </p:txBody>
      </p:sp>
      <p:sp>
        <p:nvSpPr>
          <p:cNvPr id="235" name="Google Shape;235;p41"/>
          <p:cNvSpPr txBox="1">
            <a:spLocks noGrp="1"/>
          </p:cNvSpPr>
          <p:nvPr>
            <p:ph type="body" idx="1"/>
          </p:nvPr>
        </p:nvSpPr>
        <p:spPr>
          <a:xfrm>
            <a:off x="990600" y="1752600"/>
            <a:ext cx="81534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1</a:t>
            </a:r>
            <a:r>
              <a:rPr lang="en-US" sz="2400" baseline="30000"/>
              <a:t>st</a:t>
            </a:r>
            <a:r>
              <a:rPr lang="en-US" sz="2400"/>
              <a:t> level security mechanism for a GSM cellular network</a:t>
            </a:r>
            <a:endParaRPr/>
          </a:p>
          <a:p>
            <a:pPr marL="341313" lvl="0" indent="-341313" algn="l" rtl="0">
              <a:spcBef>
                <a:spcPts val="600"/>
              </a:spcBef>
              <a:spcAft>
                <a:spcPts val="0"/>
              </a:spcAft>
              <a:buClr>
                <a:srgbClr val="3333CC"/>
              </a:buClr>
              <a:buSzPts val="1440"/>
              <a:buFont typeface="Noto Sans Symbols"/>
              <a:buChar char="■"/>
            </a:pPr>
            <a:r>
              <a:rPr lang="en-US" sz="2400"/>
              <a:t>is a database that stores the list of authorized subscribers of a GSM network</a:t>
            </a:r>
            <a:endParaRPr/>
          </a:p>
          <a:p>
            <a:pPr marL="341313" lvl="0" indent="-341313" algn="l" rtl="0">
              <a:spcBef>
                <a:spcPts val="600"/>
              </a:spcBef>
              <a:spcAft>
                <a:spcPts val="0"/>
              </a:spcAft>
              <a:buClr>
                <a:srgbClr val="3333CC"/>
              </a:buClr>
              <a:buSzPts val="1440"/>
              <a:buFont typeface="Noto Sans Symbols"/>
              <a:buChar char="■"/>
            </a:pPr>
            <a:r>
              <a:rPr lang="en-US" sz="2400"/>
              <a:t>it is linked to the MSC and checks the identity of each user trying to connect</a:t>
            </a:r>
            <a:endParaRPr/>
          </a:p>
          <a:p>
            <a:pPr marL="341313" lvl="0" indent="-341313" algn="l" rtl="0">
              <a:spcBef>
                <a:spcPts val="600"/>
              </a:spcBef>
              <a:spcAft>
                <a:spcPts val="0"/>
              </a:spcAft>
              <a:buClr>
                <a:srgbClr val="3333CC"/>
              </a:buClr>
              <a:buSzPts val="1440"/>
              <a:buFont typeface="Noto Sans Symbols"/>
              <a:buChar char="■"/>
            </a:pPr>
            <a:r>
              <a:rPr lang="en-US" sz="2400"/>
              <a:t>also provides encryption parameters to secure a call made in the network</a:t>
            </a:r>
            <a:endParaRPr/>
          </a:p>
          <a:p>
            <a:pPr marL="341313" lvl="0" indent="-341313" algn="l" rtl="0">
              <a:spcBef>
                <a:spcPts val="600"/>
              </a:spcBef>
              <a:spcAft>
                <a:spcPts val="0"/>
              </a:spcAft>
              <a:buClr>
                <a:srgbClr val="3333CC"/>
              </a:buClr>
              <a:buSzPts val="1440"/>
              <a:buFont typeface="Noto Sans Symbols"/>
              <a:buNone/>
            </a:pPr>
            <a:endParaRPr sz="24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9"/>
        <p:cNvGrpSpPr/>
        <p:nvPr/>
      </p:nvGrpSpPr>
      <p:grpSpPr>
        <a:xfrm>
          <a:off x="0" y="0"/>
          <a:ext cx="0" cy="0"/>
          <a:chOff x="0" y="0"/>
          <a:chExt cx="0" cy="0"/>
        </a:xfrm>
      </p:grpSpPr>
      <p:sp>
        <p:nvSpPr>
          <p:cNvPr id="240" name="Google Shape;240;p42"/>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Mobile Switching Center (MSC)</a:t>
            </a:r>
            <a:endParaRPr/>
          </a:p>
        </p:txBody>
      </p:sp>
      <p:sp>
        <p:nvSpPr>
          <p:cNvPr id="241" name="Google Shape;241;p42"/>
          <p:cNvSpPr txBox="1">
            <a:spLocks noGrp="1"/>
          </p:cNvSpPr>
          <p:nvPr>
            <p:ph type="body" idx="1"/>
          </p:nvPr>
        </p:nvSpPr>
        <p:spPr>
          <a:xfrm>
            <a:off x="533400" y="1752600"/>
            <a:ext cx="8610600" cy="838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is a switching center of the GSM network; coordinates BSCs linked to it</a:t>
            </a:r>
            <a:endParaRPr/>
          </a:p>
        </p:txBody>
      </p:sp>
      <p:pic>
        <p:nvPicPr>
          <p:cNvPr id="242" name="Google Shape;242;p42"/>
          <p:cNvPicPr preferRelativeResize="0"/>
          <p:nvPr/>
        </p:nvPicPr>
        <p:blipFill rotWithShape="1">
          <a:blip r:embed="rId3">
            <a:alphaModFix/>
          </a:blip>
          <a:srcRect/>
          <a:stretch/>
        </p:blipFill>
        <p:spPr>
          <a:xfrm>
            <a:off x="1066800" y="2514600"/>
            <a:ext cx="7467600" cy="4192588"/>
          </a:xfrm>
          <a:prstGeom prst="rect">
            <a:avLst/>
          </a:prstGeom>
          <a:noFill/>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6"/>
        <p:cNvGrpSpPr/>
        <p:nvPr/>
      </p:nvGrpSpPr>
      <p:grpSpPr>
        <a:xfrm>
          <a:off x="0" y="0"/>
          <a:ext cx="0" cy="0"/>
          <a:chOff x="0" y="0"/>
          <a:chExt cx="0" cy="0"/>
        </a:xfrm>
      </p:grpSpPr>
      <p:sp>
        <p:nvSpPr>
          <p:cNvPr id="247" name="Google Shape;247;p43"/>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Channels</a:t>
            </a: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GSM channel divisions</a:t>
            </a:r>
            <a:endParaRPr lang="en-US" dirty="0"/>
          </a:p>
        </p:txBody>
      </p:sp>
      <p:sp>
        <p:nvSpPr>
          <p:cNvPr id="3" name="Text Placeholder 2"/>
          <p:cNvSpPr>
            <a:spLocks noGrp="1"/>
          </p:cNvSpPr>
          <p:nvPr>
            <p:ph type="body" idx="1"/>
          </p:nvPr>
        </p:nvSpPr>
        <p:spPr>
          <a:xfrm>
            <a:off x="1182688" y="2017713"/>
            <a:ext cx="7785948" cy="4746342"/>
          </a:xfrm>
        </p:spPr>
        <p:txBody>
          <a:bodyPr/>
          <a:lstStyle/>
          <a:p>
            <a:pPr marL="514350" indent="-285750">
              <a:buFont typeface="Arial" panose="020B0604020202020204" pitchFamily="34" charset="0"/>
              <a:buChar char="•"/>
            </a:pPr>
            <a:r>
              <a:rPr lang="en-US" sz="2400" dirty="0"/>
              <a:t>t</a:t>
            </a:r>
            <a:r>
              <a:rPr lang="en-US" sz="2400" dirty="0" smtClean="0"/>
              <a:t>he 900MHz frequency band is split into: the 890-915MHz band for the </a:t>
            </a:r>
            <a:r>
              <a:rPr lang="en-US" sz="2400" u="sng" dirty="0" smtClean="0"/>
              <a:t>uplink transmission </a:t>
            </a:r>
            <a:r>
              <a:rPr lang="en-US" sz="2400" dirty="0" smtClean="0"/>
              <a:t>(MS -&gt; BTS) and the 935-960MHz for the </a:t>
            </a:r>
            <a:r>
              <a:rPr lang="en-US" sz="2400" u="sng" dirty="0" smtClean="0"/>
              <a:t>downlink transmission </a:t>
            </a:r>
            <a:r>
              <a:rPr lang="en-US" sz="2400" dirty="0" smtClean="0"/>
              <a:t>(BTS -&gt; MS); 20MHz separation between uplink and downlink</a:t>
            </a:r>
          </a:p>
          <a:p>
            <a:pPr marL="514350" indent="-285750">
              <a:buFont typeface="Arial" panose="020B0604020202020204" pitchFamily="34" charset="0"/>
              <a:buChar char="•"/>
            </a:pPr>
            <a:r>
              <a:rPr lang="en-US" sz="2400" dirty="0"/>
              <a:t>t</a:t>
            </a:r>
            <a:r>
              <a:rPr lang="en-US" sz="2400" dirty="0" smtClean="0"/>
              <a:t>he uplink and downlink bands are further divided into 124 200-KHz </a:t>
            </a:r>
            <a:r>
              <a:rPr lang="en-US" sz="2400" dirty="0" err="1" smtClean="0"/>
              <a:t>subbands</a:t>
            </a:r>
            <a:r>
              <a:rPr lang="en-US" sz="2400" dirty="0" smtClean="0"/>
              <a:t> using FDMA</a:t>
            </a:r>
          </a:p>
          <a:p>
            <a:pPr marL="514350" indent="-285750">
              <a:buFont typeface="Arial" panose="020B0604020202020204" pitchFamily="34" charset="0"/>
              <a:buChar char="•"/>
            </a:pPr>
            <a:r>
              <a:rPr lang="en-US" sz="2400" dirty="0" smtClean="0"/>
              <a:t>each 200-KHz </a:t>
            </a:r>
            <a:r>
              <a:rPr lang="en-US" sz="2400" dirty="0" err="1" smtClean="0"/>
              <a:t>subband</a:t>
            </a:r>
            <a:r>
              <a:rPr lang="en-US" sz="2400" dirty="0" smtClean="0"/>
              <a:t> is divided into 8 time slots for 8 users using TDMA; each time slot takes </a:t>
            </a:r>
            <a:r>
              <a:rPr lang="en-US" sz="2400" dirty="0"/>
              <a:t>576.92 </a:t>
            </a:r>
            <a:r>
              <a:rPr lang="en-US" sz="2400" dirty="0" smtClean="0"/>
              <a:t>us; 8 consecutive time slots is called a </a:t>
            </a:r>
            <a:r>
              <a:rPr lang="en-US" sz="2400" u="sng" dirty="0" smtClean="0"/>
              <a:t>frame</a:t>
            </a:r>
            <a:r>
              <a:rPr lang="en-US" sz="2400" dirty="0" smtClean="0"/>
              <a:t> </a:t>
            </a:r>
          </a:p>
          <a:p>
            <a:pPr marL="5143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2869021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8"/>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a:t>GSM </a:t>
            </a:r>
            <a:r>
              <a:rPr lang="en-US" sz="3600" dirty="0" smtClean="0"/>
              <a:t>channel divisions (2)</a:t>
            </a:r>
            <a:endParaRPr dirty="0"/>
          </a:p>
        </p:txBody>
      </p:sp>
      <p:sp>
        <p:nvSpPr>
          <p:cNvPr id="277" name="Google Shape;277;p48"/>
          <p:cNvSpPr txBox="1">
            <a:spLocks noGrp="1"/>
          </p:cNvSpPr>
          <p:nvPr>
            <p:ph type="body" idx="1"/>
          </p:nvPr>
        </p:nvSpPr>
        <p:spPr>
          <a:xfrm>
            <a:off x="1182688" y="2017713"/>
            <a:ext cx="7961312" cy="48402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000" dirty="0"/>
              <a:t>uplink and downlink take place in different </a:t>
            </a:r>
            <a:r>
              <a:rPr lang="en-US" sz="2000" dirty="0" smtClean="0"/>
              <a:t>frequency bands and different time </a:t>
            </a:r>
            <a:r>
              <a:rPr lang="en-US" sz="2000" dirty="0"/>
              <a:t>slots </a:t>
            </a:r>
            <a:r>
              <a:rPr lang="en-US" sz="2000" dirty="0" smtClean="0"/>
              <a:t>within a frequency band using FDMA/TDMA</a:t>
            </a:r>
          </a:p>
          <a:p>
            <a:pPr marL="341313" lvl="0" indent="-341313" algn="l" rtl="0">
              <a:spcBef>
                <a:spcPts val="0"/>
              </a:spcBef>
              <a:spcAft>
                <a:spcPts val="0"/>
              </a:spcAft>
              <a:buClr>
                <a:srgbClr val="3333CC"/>
              </a:buClr>
              <a:buSzPts val="1440"/>
              <a:buFont typeface="Noto Sans Symbols"/>
              <a:buChar char="■"/>
            </a:pPr>
            <a:r>
              <a:rPr lang="en-US" sz="2000" dirty="0"/>
              <a:t>a</a:t>
            </a:r>
            <a:r>
              <a:rPr lang="en-US" sz="2000" dirty="0" smtClean="0"/>
              <a:t> </a:t>
            </a:r>
            <a:r>
              <a:rPr lang="en-US" sz="2000" u="sng" dirty="0" smtClean="0"/>
              <a:t>frame</a:t>
            </a:r>
            <a:r>
              <a:rPr lang="en-US" sz="2000" dirty="0" smtClean="0"/>
              <a:t> (8 time slots in a specific frequency </a:t>
            </a:r>
            <a:r>
              <a:rPr lang="en-US" sz="2000" dirty="0" err="1" smtClean="0"/>
              <a:t>subband</a:t>
            </a:r>
            <a:r>
              <a:rPr lang="en-US" sz="2000" dirty="0" smtClean="0"/>
              <a:t>) lasts 4.615ms. </a:t>
            </a:r>
          </a:p>
          <a:p>
            <a:pPr marL="341313" lvl="0" indent="-341313">
              <a:spcBef>
                <a:spcPts val="0"/>
              </a:spcBef>
              <a:buClr>
                <a:srgbClr val="3333CC"/>
              </a:buClr>
              <a:buSzPts val="1440"/>
              <a:buFont typeface="Noto Sans Symbols"/>
              <a:buChar char="■"/>
            </a:pPr>
            <a:r>
              <a:rPr lang="en-US" sz="2000" dirty="0"/>
              <a:t>a</a:t>
            </a:r>
            <a:r>
              <a:rPr lang="en-US" sz="2000" dirty="0" smtClean="0"/>
              <a:t> </a:t>
            </a:r>
            <a:r>
              <a:rPr lang="en-US" sz="2000" dirty="0"/>
              <a:t>specific time slot from a specific 200-KHz </a:t>
            </a:r>
            <a:r>
              <a:rPr lang="en-US" sz="2000" dirty="0" err="1"/>
              <a:t>subband</a:t>
            </a:r>
            <a:r>
              <a:rPr lang="en-US" sz="2000" dirty="0"/>
              <a:t> is called a </a:t>
            </a:r>
            <a:r>
              <a:rPr lang="en-US" sz="2000" u="sng" dirty="0"/>
              <a:t>physical </a:t>
            </a:r>
            <a:r>
              <a:rPr lang="en-US" sz="2000" u="sng" dirty="0" smtClean="0"/>
              <a:t>channel</a:t>
            </a:r>
          </a:p>
          <a:p>
            <a:pPr marL="341313" lvl="0" indent="-341313">
              <a:spcBef>
                <a:spcPts val="0"/>
              </a:spcBef>
              <a:buClr>
                <a:srgbClr val="3333CC"/>
              </a:buClr>
              <a:buSzPts val="1440"/>
              <a:buFont typeface="Noto Sans Symbols"/>
              <a:buChar char="■"/>
            </a:pPr>
            <a:r>
              <a:rPr lang="en-US" sz="2000" dirty="0" smtClean="0"/>
              <a:t>26 frames form a </a:t>
            </a:r>
            <a:r>
              <a:rPr lang="en-US" sz="2000" u="sng" dirty="0" err="1" smtClean="0"/>
              <a:t>multiframe</a:t>
            </a:r>
            <a:r>
              <a:rPr lang="en-US" sz="2000" dirty="0" smtClean="0"/>
              <a:t> which last 120 </a:t>
            </a:r>
            <a:r>
              <a:rPr lang="en-US" sz="2000" dirty="0" err="1" smtClean="0"/>
              <a:t>ms</a:t>
            </a:r>
            <a:endParaRPr lang="en-US" sz="2000" dirty="0"/>
          </a:p>
          <a:p>
            <a:pPr marL="341313" lvl="0" indent="-341313">
              <a:spcBef>
                <a:spcPts val="0"/>
              </a:spcBef>
              <a:buClr>
                <a:srgbClr val="3333CC"/>
              </a:buClr>
              <a:buSzPts val="1440"/>
              <a:buFont typeface="Noto Sans Symbols"/>
              <a:buChar char="■"/>
            </a:pPr>
            <a:r>
              <a:rPr lang="en-US" sz="2000" dirty="0" smtClean="0"/>
              <a:t>51 </a:t>
            </a:r>
            <a:r>
              <a:rPr lang="en-US" sz="2000" dirty="0" err="1" smtClean="0"/>
              <a:t>multiframes</a:t>
            </a:r>
            <a:r>
              <a:rPr lang="en-US" sz="2000" dirty="0" smtClean="0"/>
              <a:t> are called a </a:t>
            </a:r>
            <a:r>
              <a:rPr lang="en-US" sz="2000" u="sng" dirty="0" err="1" smtClean="0"/>
              <a:t>superframe</a:t>
            </a:r>
            <a:r>
              <a:rPr lang="en-US" sz="2000" dirty="0" smtClean="0"/>
              <a:t> which lasts 6.12 seconds</a:t>
            </a:r>
          </a:p>
          <a:p>
            <a:pPr marL="341313" lvl="0" indent="-341313">
              <a:spcBef>
                <a:spcPts val="0"/>
              </a:spcBef>
              <a:buClr>
                <a:srgbClr val="3333CC"/>
              </a:buClr>
              <a:buSzPts val="1440"/>
              <a:buFont typeface="Noto Sans Symbols"/>
              <a:buChar char="■"/>
            </a:pPr>
            <a:r>
              <a:rPr lang="en-US" sz="2000" dirty="0" smtClean="0"/>
              <a:t>2048 </a:t>
            </a:r>
            <a:r>
              <a:rPr lang="en-US" sz="2000" dirty="0" err="1" smtClean="0"/>
              <a:t>superframes</a:t>
            </a:r>
            <a:r>
              <a:rPr lang="en-US" sz="2000" dirty="0" smtClean="0"/>
              <a:t> for a </a:t>
            </a:r>
            <a:r>
              <a:rPr lang="en-US" sz="2000" u="sng" dirty="0" err="1" smtClean="0"/>
              <a:t>hyperframe</a:t>
            </a:r>
            <a:r>
              <a:rPr lang="en-US" sz="2000" dirty="0" smtClean="0"/>
              <a:t>; </a:t>
            </a:r>
            <a:r>
              <a:rPr lang="en-US" sz="2000" dirty="0" err="1" smtClean="0"/>
              <a:t>hyperframes</a:t>
            </a:r>
            <a:r>
              <a:rPr lang="en-US" sz="2000" dirty="0" smtClean="0"/>
              <a:t> last 3 hours and 28 minutes and are used for encryption (all payload from a </a:t>
            </a:r>
            <a:r>
              <a:rPr lang="en-US" sz="2000" dirty="0" err="1" smtClean="0"/>
              <a:t>hyperframe</a:t>
            </a:r>
            <a:r>
              <a:rPr lang="en-US" sz="2000" dirty="0" smtClean="0"/>
              <a:t> uses the same encryption parameters)</a:t>
            </a:r>
          </a:p>
          <a:p>
            <a:pPr marL="341313" lvl="0" indent="-341313">
              <a:spcBef>
                <a:spcPts val="0"/>
              </a:spcBef>
              <a:buClr>
                <a:srgbClr val="3333CC"/>
              </a:buClr>
              <a:buSzPts val="1440"/>
              <a:buFont typeface="Noto Sans Symbols"/>
              <a:buChar char="■"/>
            </a:pPr>
            <a:endParaRPr lang="en-US" sz="2400" u="sng" dirty="0" smtClean="0"/>
          </a:p>
        </p:txBody>
      </p:sp>
    </p:spTree>
    <p:extLst>
      <p:ext uri="{BB962C8B-B14F-4D97-AF65-F5344CB8AC3E}">
        <p14:creationId xmlns:p14="http://schemas.microsoft.com/office/powerpoint/2010/main" val="28746144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7"/>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uplink/downlink frequency bands used</a:t>
            </a:r>
            <a:endParaRPr/>
          </a:p>
        </p:txBody>
      </p:sp>
      <p:graphicFrame>
        <p:nvGraphicFramePr>
          <p:cNvPr id="271" name="Google Shape;271;p47"/>
          <p:cNvGraphicFramePr/>
          <p:nvPr>
            <p:extLst>
              <p:ext uri="{D42A27DB-BD31-4B8C-83A1-F6EECF244321}">
                <p14:modId xmlns:p14="http://schemas.microsoft.com/office/powerpoint/2010/main" val="2180277558"/>
              </p:ext>
            </p:extLst>
          </p:nvPr>
        </p:nvGraphicFramePr>
        <p:xfrm>
          <a:off x="533400" y="2514600"/>
          <a:ext cx="8339150" cy="2589225"/>
        </p:xfrm>
        <a:graphic>
          <a:graphicData uri="http://schemas.openxmlformats.org/drawingml/2006/table">
            <a:tbl>
              <a:tblPr>
                <a:noFill/>
                <a:tableStyleId>{F592EF4B-0547-44F9-8598-2D7FB016A1D7}</a:tableStyleId>
              </a:tblPr>
              <a:tblGrid>
                <a:gridCol w="2293950"/>
                <a:gridCol w="2844800"/>
                <a:gridCol w="3200400"/>
              </a:tblGrid>
              <a:tr h="1008075">
                <a:tc>
                  <a:txBody>
                    <a:bodyPr/>
                    <a:lstStyle/>
                    <a:p>
                      <a:pPr marL="0" marR="0" lvl="0" indent="0" algn="l" rtl="0">
                        <a:lnSpc>
                          <a:spcPct val="98000"/>
                        </a:lnSpc>
                        <a:spcBef>
                          <a:spcPts val="0"/>
                        </a:spcBef>
                        <a:spcAft>
                          <a:spcPts val="0"/>
                        </a:spcAft>
                        <a:buClr>
                          <a:srgbClr val="000000"/>
                        </a:buClr>
                        <a:buSzPts val="1200"/>
                        <a:buFont typeface="Tahoma"/>
                        <a:buNone/>
                      </a:pPr>
                      <a:r>
                        <a:rPr lang="en-US" sz="2000" b="1" i="0" u="none" strike="noStrike" cap="none" dirty="0">
                          <a:solidFill>
                            <a:srgbClr val="000000"/>
                          </a:solidFill>
                          <a:latin typeface="Tahoma"/>
                          <a:ea typeface="Tahoma"/>
                          <a:cs typeface="Tahoma"/>
                          <a:sym typeface="Tahoma"/>
                        </a:rPr>
                        <a:t>GSM Frequency band</a:t>
                      </a:r>
                      <a:endParaRPr dirty="0"/>
                    </a:p>
                  </a:txBody>
                  <a:tcPr marL="90000" marR="90000" marT="51875" marB="46800">
                    <a:lnL w="1367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36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1" i="0" u="none" strike="noStrike" cap="none" dirty="0">
                          <a:solidFill>
                            <a:srgbClr val="000000"/>
                          </a:solidFill>
                          <a:latin typeface="Tahoma"/>
                          <a:ea typeface="Tahoma"/>
                          <a:cs typeface="Tahoma"/>
                          <a:sym typeface="Tahoma"/>
                        </a:rPr>
                        <a:t>Uplink/BTS </a:t>
                      </a:r>
                      <a:r>
                        <a:rPr lang="en-US" sz="2000" b="1" i="0" u="none" strike="noStrike" cap="none" dirty="0" smtClean="0">
                          <a:solidFill>
                            <a:srgbClr val="000000"/>
                          </a:solidFill>
                          <a:latin typeface="Tahoma"/>
                          <a:ea typeface="Tahoma"/>
                          <a:cs typeface="Tahoma"/>
                          <a:sym typeface="Tahoma"/>
                        </a:rPr>
                        <a:t>Receive</a:t>
                      </a:r>
                      <a:endParaRPr dirty="0"/>
                    </a:p>
                  </a:txBody>
                  <a:tcPr marL="90000" marR="90000" marT="51875" marB="468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36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1" i="0" u="none" strike="noStrike" cap="none" dirty="0">
                          <a:solidFill>
                            <a:srgbClr val="000000"/>
                          </a:solidFill>
                          <a:latin typeface="Tahoma"/>
                          <a:ea typeface="Tahoma"/>
                          <a:cs typeface="Tahoma"/>
                          <a:sym typeface="Tahoma"/>
                        </a:rPr>
                        <a:t>Downlink/BTS </a:t>
                      </a:r>
                      <a:r>
                        <a:rPr lang="en-US" sz="2000" b="1" i="0" u="none" strike="noStrike" cap="none" dirty="0" smtClean="0">
                          <a:solidFill>
                            <a:srgbClr val="000000"/>
                          </a:solidFill>
                          <a:latin typeface="Tahoma"/>
                          <a:ea typeface="Tahoma"/>
                          <a:cs typeface="Tahoma"/>
                          <a:sym typeface="Tahoma"/>
                        </a:rPr>
                        <a:t>Transmit</a:t>
                      </a:r>
                      <a:endParaRPr dirty="0"/>
                    </a:p>
                  </a:txBody>
                  <a:tcPr marL="90000" marR="90000" marT="51875" marB="46800">
                    <a:lnL w="9525" cap="flat" cmpd="sng">
                      <a:solidFill>
                        <a:srgbClr val="000000"/>
                      </a:solidFill>
                      <a:prstDash val="solid"/>
                      <a:round/>
                      <a:headEnd type="none" w="sm" len="sm"/>
                      <a:tailEnd type="none" w="sm" len="sm"/>
                    </a:lnL>
                    <a:lnR w="13675" cap="flat" cmpd="sng">
                      <a:solidFill>
                        <a:srgbClr val="000000"/>
                      </a:solidFill>
                      <a:prstDash val="solid"/>
                      <a:round/>
                      <a:headEnd type="none" w="sm" len="sm"/>
                      <a:tailEnd type="none" w="sm" len="sm"/>
                    </a:lnR>
                    <a:lnT w="136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27050">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900 MHz</a:t>
                      </a:r>
                      <a:endParaRPr/>
                    </a:p>
                  </a:txBody>
                  <a:tcPr marL="90000" marR="90000" marT="51875" marB="46800">
                    <a:lnL w="1367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935-960 MHz</a:t>
                      </a:r>
                      <a:endParaRPr/>
                    </a:p>
                  </a:txBody>
                  <a:tcPr marL="90000" marR="90000" marT="51875" marB="468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890-915 MHz</a:t>
                      </a:r>
                      <a:endParaRPr/>
                    </a:p>
                  </a:txBody>
                  <a:tcPr marL="90000" marR="90000" marT="51875" marB="46800">
                    <a:lnL w="9525" cap="flat" cmpd="sng">
                      <a:solidFill>
                        <a:srgbClr val="000000"/>
                      </a:solidFill>
                      <a:prstDash val="solid"/>
                      <a:round/>
                      <a:headEnd type="none" w="sm" len="sm"/>
                      <a:tailEnd type="none" w="sm" len="sm"/>
                    </a:lnL>
                    <a:lnR w="1367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27050">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1800 MHz</a:t>
                      </a:r>
                      <a:endParaRPr/>
                    </a:p>
                  </a:txBody>
                  <a:tcPr marL="90000" marR="90000" marT="51875" marB="46800">
                    <a:lnL w="1367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1805-1880 MHz</a:t>
                      </a:r>
                      <a:endParaRPr/>
                    </a:p>
                  </a:txBody>
                  <a:tcPr marL="90000" marR="90000" marT="51875" marB="468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1710-1785 MHz</a:t>
                      </a:r>
                      <a:endParaRPr/>
                    </a:p>
                  </a:txBody>
                  <a:tcPr marL="90000" marR="90000" marT="51875" marB="46800">
                    <a:lnL w="9525" cap="flat" cmpd="sng">
                      <a:solidFill>
                        <a:srgbClr val="000000"/>
                      </a:solidFill>
                      <a:prstDash val="solid"/>
                      <a:round/>
                      <a:headEnd type="none" w="sm" len="sm"/>
                      <a:tailEnd type="none" w="sm" len="sm"/>
                    </a:lnL>
                    <a:lnR w="1367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27050">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1900 MHz</a:t>
                      </a:r>
                      <a:endParaRPr/>
                    </a:p>
                  </a:txBody>
                  <a:tcPr marL="90000" marR="90000" marT="51875" marB="46800">
                    <a:lnL w="1367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367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1930-1990 MHz</a:t>
                      </a:r>
                      <a:endParaRPr/>
                    </a:p>
                  </a:txBody>
                  <a:tcPr marL="90000" marR="90000" marT="51875" marB="468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3675" cap="flat" cmpd="sng">
                      <a:solidFill>
                        <a:srgbClr val="000000"/>
                      </a:solidFill>
                      <a:prstDash val="solid"/>
                      <a:round/>
                      <a:headEnd type="none" w="sm" len="sm"/>
                      <a:tailEnd type="none" w="sm" len="sm"/>
                    </a:lnB>
                  </a:tcPr>
                </a:tc>
                <a:tc>
                  <a:txBody>
                    <a:bodyPr/>
                    <a:lstStyle/>
                    <a:p>
                      <a:pPr marL="0" marR="0" lvl="0" indent="0" algn="l" rtl="0">
                        <a:lnSpc>
                          <a:spcPct val="98000"/>
                        </a:lnSpc>
                        <a:spcBef>
                          <a:spcPts val="0"/>
                        </a:spcBef>
                        <a:spcAft>
                          <a:spcPts val="0"/>
                        </a:spcAft>
                        <a:buClr>
                          <a:srgbClr val="000000"/>
                        </a:buClr>
                        <a:buSzPts val="1200"/>
                        <a:buFont typeface="Tahoma"/>
                        <a:buNone/>
                      </a:pPr>
                      <a:r>
                        <a:rPr lang="en-US" sz="2000" b="0" i="0" u="none" strike="noStrike" cap="none">
                          <a:solidFill>
                            <a:srgbClr val="000000"/>
                          </a:solidFill>
                          <a:latin typeface="Tahoma"/>
                          <a:ea typeface="Tahoma"/>
                          <a:cs typeface="Tahoma"/>
                          <a:sym typeface="Tahoma"/>
                        </a:rPr>
                        <a:t>1850-1910 MHz</a:t>
                      </a:r>
                      <a:endParaRPr/>
                    </a:p>
                  </a:txBody>
                  <a:tcPr marL="90000" marR="90000" marT="51875" marB="46800">
                    <a:lnL w="9525" cap="flat" cmpd="sng">
                      <a:solidFill>
                        <a:srgbClr val="000000"/>
                      </a:solidFill>
                      <a:prstDash val="solid"/>
                      <a:round/>
                      <a:headEnd type="none" w="sm" len="sm"/>
                      <a:tailEnd type="none" w="sm" len="sm"/>
                    </a:lnL>
                    <a:lnR w="1367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3675" cap="flat" cmpd="sng">
                      <a:solidFill>
                        <a:srgbClr val="000000"/>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20894502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1"/>
        <p:cNvGrpSpPr/>
        <p:nvPr/>
      </p:nvGrpSpPr>
      <p:grpSpPr>
        <a:xfrm>
          <a:off x="0" y="0"/>
          <a:ext cx="0" cy="0"/>
          <a:chOff x="0" y="0"/>
          <a:chExt cx="0" cy="0"/>
        </a:xfrm>
      </p:grpSpPr>
      <p:sp>
        <p:nvSpPr>
          <p:cNvPr id="252" name="Google Shape;252;p44"/>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Access Scheme and Channel Structure</a:t>
            </a:r>
            <a:endParaRPr/>
          </a:p>
        </p:txBody>
      </p:sp>
      <p:sp>
        <p:nvSpPr>
          <p:cNvPr id="253" name="Google Shape;253;p44"/>
          <p:cNvSpPr txBox="1">
            <a:spLocks noGrp="1"/>
          </p:cNvSpPr>
          <p:nvPr>
            <p:ph type="body" idx="1"/>
          </p:nvPr>
        </p:nvSpPr>
        <p:spPr>
          <a:xfrm>
            <a:off x="990600" y="2017713"/>
            <a:ext cx="8153400" cy="48402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a:t>GSM uses  FDMA and TDMA to transmit voice and data</a:t>
            </a:r>
            <a:endParaRPr sz="2400" dirty="0"/>
          </a:p>
          <a:p>
            <a:pPr marL="341313" lvl="0" indent="-341313" algn="l" rtl="0">
              <a:spcBef>
                <a:spcPts val="600"/>
              </a:spcBef>
              <a:spcAft>
                <a:spcPts val="0"/>
              </a:spcAft>
              <a:buClr>
                <a:srgbClr val="3333CC"/>
              </a:buClr>
              <a:buSzPts val="1440"/>
              <a:buFont typeface="Noto Sans Symbols"/>
              <a:buChar char="■"/>
            </a:pPr>
            <a:r>
              <a:rPr lang="en-US" sz="2400" dirty="0"/>
              <a:t>the uplink channel between the cell phone and the BTS uses FDMA (</a:t>
            </a:r>
            <a:r>
              <a:rPr lang="en-US" sz="2400" dirty="0" smtClean="0"/>
              <a:t>a </a:t>
            </a:r>
            <a:r>
              <a:rPr lang="en-US" sz="2400" dirty="0"/>
              <a:t>specific frequency </a:t>
            </a:r>
            <a:r>
              <a:rPr lang="en-US" sz="2400" dirty="0" smtClean="0"/>
              <a:t>band) and TDMA</a:t>
            </a:r>
            <a:endParaRPr sz="2400" dirty="0"/>
          </a:p>
          <a:p>
            <a:pPr marL="341313" lvl="0" indent="-341313" algn="l" rtl="0">
              <a:spcBef>
                <a:spcPts val="600"/>
              </a:spcBef>
              <a:spcAft>
                <a:spcPts val="0"/>
              </a:spcAft>
              <a:buClr>
                <a:srgbClr val="3333CC"/>
              </a:buClr>
              <a:buSzPts val="1440"/>
              <a:buFont typeface="Noto Sans Symbols"/>
              <a:buChar char="■"/>
            </a:pPr>
            <a:r>
              <a:rPr lang="en-US" sz="2400" dirty="0"/>
              <a:t>the downlink channel between the BTS and the cell phone uses a different frequency band and the TDMA technique</a:t>
            </a:r>
            <a:endParaRPr sz="2400" dirty="0"/>
          </a:p>
          <a:p>
            <a:pPr marL="341313" lvl="0" indent="-341313" algn="l" rtl="0">
              <a:spcBef>
                <a:spcPts val="600"/>
              </a:spcBef>
              <a:spcAft>
                <a:spcPts val="0"/>
              </a:spcAft>
              <a:buClr>
                <a:srgbClr val="3333CC"/>
              </a:buClr>
              <a:buSzPts val="1440"/>
              <a:buFont typeface="Noto Sans Symbols"/>
              <a:buChar char="■"/>
            </a:pPr>
            <a:r>
              <a:rPr lang="en-US" sz="2400" dirty="0"/>
              <a:t>there is sufficient frequency separation between the uplink freq. band and the downlink freq. band to avoid </a:t>
            </a:r>
            <a:r>
              <a:rPr lang="en-US" sz="2400" dirty="0" smtClean="0"/>
              <a:t>interference</a:t>
            </a:r>
            <a:endParaRPr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5"/>
          <p:cNvSpPr txBox="1">
            <a:spLocks noGrp="1"/>
          </p:cNvSpPr>
          <p:nvPr>
            <p:ph type="title" idx="4294967295"/>
          </p:nvPr>
        </p:nvSpPr>
        <p:spPr>
          <a:xfrm>
            <a:off x="1150938" y="325438"/>
            <a:ext cx="7793037" cy="14351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dirty="0"/>
              <a:t>Physical vs. logical channels</a:t>
            </a:r>
            <a:endParaRPr dirty="0"/>
          </a:p>
        </p:txBody>
      </p:sp>
      <p:sp>
        <p:nvSpPr>
          <p:cNvPr id="259" name="Google Shape;259;p45"/>
          <p:cNvSpPr txBox="1">
            <a:spLocks noGrp="1"/>
          </p:cNvSpPr>
          <p:nvPr>
            <p:ph type="body" idx="1"/>
          </p:nvPr>
        </p:nvSpPr>
        <p:spPr>
          <a:xfrm>
            <a:off x="907114" y="1854875"/>
            <a:ext cx="8236885" cy="4840287"/>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u="sng" dirty="0"/>
              <a:t>physical channel</a:t>
            </a:r>
            <a:r>
              <a:rPr lang="en-US" sz="2400" dirty="0"/>
              <a:t> is </a:t>
            </a:r>
            <a:r>
              <a:rPr lang="en-US" sz="2400" dirty="0" smtClean="0"/>
              <a:t>defined as a </a:t>
            </a:r>
            <a:r>
              <a:rPr lang="en-US" sz="2400" dirty="0"/>
              <a:t>specific time </a:t>
            </a:r>
            <a:r>
              <a:rPr lang="en-US" sz="2400" dirty="0" smtClean="0"/>
              <a:t>slot in a specific frequency </a:t>
            </a:r>
            <a:r>
              <a:rPr lang="en-US" sz="2400" dirty="0" err="1" smtClean="0"/>
              <a:t>subband</a:t>
            </a:r>
            <a:r>
              <a:rPr lang="en-US" sz="2400" dirty="0" smtClean="0"/>
              <a:t> (FDMA/TDMA access scheme); a physical channel can belong to the downlink or the uplink</a:t>
            </a:r>
          </a:p>
          <a:p>
            <a:pPr marL="341313" lvl="0" indent="-341313" algn="l" rtl="0">
              <a:spcBef>
                <a:spcPts val="0"/>
              </a:spcBef>
              <a:spcAft>
                <a:spcPts val="0"/>
              </a:spcAft>
              <a:buClr>
                <a:srgbClr val="3333CC"/>
              </a:buClr>
              <a:buSzPts val="1440"/>
              <a:buFont typeface="Noto Sans Symbols"/>
              <a:buChar char="■"/>
            </a:pPr>
            <a:r>
              <a:rPr lang="en-US" sz="2400" dirty="0"/>
              <a:t>a</a:t>
            </a:r>
            <a:r>
              <a:rPr lang="en-US" sz="2400" dirty="0" smtClean="0"/>
              <a:t> logical channel will be mapped over a physical channel</a:t>
            </a:r>
            <a:endParaRPr dirty="0"/>
          </a:p>
          <a:p>
            <a:pPr marL="341313" lvl="0" indent="-341313" algn="l" rtl="0">
              <a:spcBef>
                <a:spcPts val="800"/>
              </a:spcBef>
              <a:spcAft>
                <a:spcPts val="0"/>
              </a:spcAft>
              <a:buClr>
                <a:srgbClr val="3333CC"/>
              </a:buClr>
              <a:buSzPts val="1440"/>
              <a:buFont typeface="Noto Sans Symbols"/>
              <a:buChar char="■"/>
            </a:pPr>
            <a:r>
              <a:rPr lang="en-US" sz="2400" dirty="0"/>
              <a:t>a</a:t>
            </a:r>
            <a:r>
              <a:rPr lang="en-US" sz="2400" dirty="0" smtClean="0"/>
              <a:t> </a:t>
            </a:r>
            <a:r>
              <a:rPr lang="en-US" sz="2400" u="sng" dirty="0" smtClean="0"/>
              <a:t>logical </a:t>
            </a:r>
            <a:r>
              <a:rPr lang="en-US" sz="2400" u="sng" dirty="0"/>
              <a:t>channel</a:t>
            </a:r>
            <a:r>
              <a:rPr lang="en-US" sz="2400" dirty="0"/>
              <a:t> </a:t>
            </a:r>
            <a:r>
              <a:rPr lang="en-US" sz="2400" dirty="0" smtClean="0"/>
              <a:t>define </a:t>
            </a:r>
            <a:r>
              <a:rPr lang="en-US" sz="2400" dirty="0"/>
              <a:t>the type of information transmitted (equivalent to a protocol or packet format in IP networks</a:t>
            </a:r>
            <a:r>
              <a:rPr lang="en-US" sz="2400" dirty="0" smtClean="0"/>
              <a:t>) over a physical channel</a:t>
            </a:r>
          </a:p>
          <a:p>
            <a:pPr marL="341313" lvl="0" indent="-341313">
              <a:buClr>
                <a:srgbClr val="3333CC"/>
              </a:buClr>
              <a:buSzPts val="1440"/>
              <a:buFont typeface="Noto Sans Symbols"/>
              <a:buChar char="■"/>
            </a:pPr>
            <a:r>
              <a:rPr lang="en-US" sz="2400" dirty="0" smtClean="0"/>
              <a:t>logical </a:t>
            </a:r>
            <a:r>
              <a:rPr lang="en-US" sz="2400" dirty="0"/>
              <a:t>channels are divided into: </a:t>
            </a:r>
            <a:r>
              <a:rPr lang="en-US" sz="2400" dirty="0" smtClean="0"/>
              <a:t>Control </a:t>
            </a:r>
            <a:r>
              <a:rPr lang="en-US" sz="2400" dirty="0"/>
              <a:t>Channels (used to set up and manage calls) and T</a:t>
            </a:r>
            <a:r>
              <a:rPr lang="en-US" sz="2400" dirty="0" smtClean="0"/>
              <a:t>raffic Channels </a:t>
            </a:r>
            <a:r>
              <a:rPr lang="en-US" sz="2400" dirty="0"/>
              <a:t>(used to carry </a:t>
            </a:r>
            <a:r>
              <a:rPr lang="en-US" sz="2400" dirty="0" smtClean="0"/>
              <a:t>voice or data)</a:t>
            </a:r>
            <a:endParaRPr sz="2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GSM. The structure of a frame and a time slot from a frame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739" y="1831737"/>
            <a:ext cx="5743575" cy="437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72137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6"/>
          <p:cNvSpPr txBox="1">
            <a:spLocks noGrp="1"/>
          </p:cNvSpPr>
          <p:nvPr>
            <p:ph type="title" idx="4294967295"/>
          </p:nvPr>
        </p:nvSpPr>
        <p:spPr>
          <a:xfrm>
            <a:off x="1150938" y="325438"/>
            <a:ext cx="7793037" cy="14351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dirty="0"/>
              <a:t>GSM </a:t>
            </a:r>
            <a:r>
              <a:rPr lang="en-US" dirty="0" err="1" smtClean="0"/>
              <a:t>multiframe</a:t>
            </a:r>
            <a:r>
              <a:rPr lang="en-US" dirty="0" smtClean="0"/>
              <a:t> structure</a:t>
            </a:r>
            <a:endParaRPr dirty="0"/>
          </a:p>
        </p:txBody>
      </p:sp>
      <p:pic>
        <p:nvPicPr>
          <p:cNvPr id="265" name="Google Shape;265;p46"/>
          <p:cNvPicPr preferRelativeResize="0"/>
          <p:nvPr/>
        </p:nvPicPr>
        <p:blipFill rotWithShape="1">
          <a:blip r:embed="rId3">
            <a:alphaModFix/>
          </a:blip>
          <a:srcRect/>
          <a:stretch/>
        </p:blipFill>
        <p:spPr>
          <a:xfrm>
            <a:off x="1009650" y="1863725"/>
            <a:ext cx="6580188" cy="5084763"/>
          </a:xfrm>
          <a:prstGeom prst="rect">
            <a:avLst/>
          </a:prstGeom>
          <a:noFill/>
          <a:ln>
            <a:noFill/>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GSM frames, </a:t>
            </a:r>
            <a:r>
              <a:rPr lang="en-US" dirty="0" err="1" smtClean="0"/>
              <a:t>multiframes</a:t>
            </a:r>
            <a:r>
              <a:rPr lang="en-US" dirty="0" smtClean="0"/>
              <a:t> and </a:t>
            </a:r>
            <a:r>
              <a:rPr lang="en-US" dirty="0" err="1" smtClean="0"/>
              <a:t>superframes</a:t>
            </a: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966912" y="2255519"/>
            <a:ext cx="4759565" cy="3857182"/>
          </a:xfrm>
          <a:prstGeom prst="rect">
            <a:avLst/>
          </a:prstGeom>
          <a:noFill/>
          <a:ln>
            <a:noFill/>
          </a:ln>
        </p:spPr>
      </p:pic>
    </p:spTree>
    <p:extLst>
      <p:ext uri="{BB962C8B-B14F-4D97-AF65-F5344CB8AC3E}">
        <p14:creationId xmlns:p14="http://schemas.microsoft.com/office/powerpoint/2010/main" val="34842169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1"/>
        <p:cNvGrpSpPr/>
        <p:nvPr/>
      </p:nvGrpSpPr>
      <p:grpSpPr>
        <a:xfrm>
          <a:off x="0" y="0"/>
          <a:ext cx="0" cy="0"/>
          <a:chOff x="0" y="0"/>
          <a:chExt cx="0" cy="0"/>
        </a:xfrm>
      </p:grpSpPr>
      <p:sp>
        <p:nvSpPr>
          <p:cNvPr id="282" name="Google Shape;282;p49"/>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a:t>GSM Control Channel</a:t>
            </a:r>
            <a:endParaRPr dirty="0"/>
          </a:p>
        </p:txBody>
      </p:sp>
      <p:sp>
        <p:nvSpPr>
          <p:cNvPr id="283" name="Google Shape;283;p49"/>
          <p:cNvSpPr txBox="1">
            <a:spLocks noGrp="1"/>
          </p:cNvSpPr>
          <p:nvPr>
            <p:ph type="body" idx="1"/>
          </p:nvPr>
        </p:nvSpPr>
        <p:spPr>
          <a:xfrm>
            <a:off x="1066800" y="1828800"/>
            <a:ext cx="8077200" cy="5029200"/>
          </a:xfrm>
          <a:prstGeom prst="rect">
            <a:avLst/>
          </a:prstGeom>
          <a:noFill/>
          <a:ln>
            <a:noFill/>
          </a:ln>
        </p:spPr>
        <p:txBody>
          <a:bodyPr spcFirstLastPara="1" wrap="square" lIns="90000" tIns="46800" rIns="90000" bIns="46800" anchor="t" anchorCtr="0">
            <a:noAutofit/>
          </a:bodyPr>
          <a:lstStyle/>
          <a:p>
            <a:pPr marL="341313" lvl="0" indent="-341313" algn="l" rtl="0">
              <a:lnSpc>
                <a:spcPct val="90000"/>
              </a:lnSpc>
              <a:spcBef>
                <a:spcPts val="0"/>
              </a:spcBef>
              <a:spcAft>
                <a:spcPts val="0"/>
              </a:spcAft>
              <a:buClr>
                <a:srgbClr val="3333CC"/>
              </a:buClr>
              <a:buSzPts val="1440"/>
              <a:buFont typeface="Noto Sans Symbols"/>
              <a:buChar char="■"/>
            </a:pPr>
            <a:r>
              <a:rPr lang="en-US" sz="2000" dirty="0"/>
              <a:t>is used to communicate management data (setting up calls, location) between BTS and the cell phone within a GSM cell</a:t>
            </a:r>
            <a:endParaRPr sz="2000" dirty="0"/>
          </a:p>
          <a:p>
            <a:pPr marL="341313" lvl="0" indent="-341313" algn="l" rtl="0">
              <a:lnSpc>
                <a:spcPct val="90000"/>
              </a:lnSpc>
              <a:spcBef>
                <a:spcPts val="600"/>
              </a:spcBef>
              <a:spcAft>
                <a:spcPts val="0"/>
              </a:spcAft>
              <a:buClr>
                <a:srgbClr val="3333CC"/>
              </a:buClr>
              <a:buSzPts val="1440"/>
              <a:buFont typeface="Noto Sans Symbols"/>
              <a:buChar char="■"/>
            </a:pPr>
            <a:r>
              <a:rPr lang="en-US" sz="2000" dirty="0"/>
              <a:t>only data is exchanged through the control channel (no voice)</a:t>
            </a:r>
            <a:endParaRPr sz="2000" dirty="0"/>
          </a:p>
          <a:p>
            <a:pPr marL="341313" lvl="0" indent="-341313" algn="l" rtl="0">
              <a:lnSpc>
                <a:spcPct val="90000"/>
              </a:lnSpc>
              <a:spcBef>
                <a:spcPts val="600"/>
              </a:spcBef>
              <a:spcAft>
                <a:spcPts val="0"/>
              </a:spcAft>
              <a:buClr>
                <a:srgbClr val="3333CC"/>
              </a:buClr>
              <a:buSzPts val="1440"/>
              <a:buFont typeface="Noto Sans Symbols"/>
              <a:buChar char="■"/>
            </a:pPr>
            <a:r>
              <a:rPr lang="en-US" sz="2000" u="sng" dirty="0"/>
              <a:t>a specific frequency from the frequency band allocated to a cell and a specific time slot </a:t>
            </a:r>
            <a:r>
              <a:rPr lang="en-US" sz="2000" u="sng" dirty="0" smtClean="0"/>
              <a:t>within this frequency band are </a:t>
            </a:r>
            <a:r>
              <a:rPr lang="en-US" sz="2000" u="sng" dirty="0"/>
              <a:t>allocated for the control channel</a:t>
            </a:r>
            <a:r>
              <a:rPr lang="en-US" sz="2000" dirty="0"/>
              <a:t> (beacon frequency); </a:t>
            </a:r>
            <a:r>
              <a:rPr lang="en-US" sz="2000" dirty="0" smtClean="0"/>
              <a:t>the control channels are </a:t>
            </a:r>
            <a:r>
              <a:rPr lang="en-US" sz="2000" b="1" dirty="0" smtClean="0"/>
              <a:t>logical channels</a:t>
            </a:r>
            <a:r>
              <a:rPr lang="en-US" sz="2000" dirty="0" smtClean="0"/>
              <a:t>, meaning it is only a message type in a time slot of a frame and this frame occupies a frequency band</a:t>
            </a:r>
          </a:p>
          <a:p>
            <a:pPr marL="341313" lvl="0" indent="-341313" algn="l" rtl="0">
              <a:lnSpc>
                <a:spcPct val="90000"/>
              </a:lnSpc>
              <a:spcBef>
                <a:spcPts val="600"/>
              </a:spcBef>
              <a:spcAft>
                <a:spcPts val="0"/>
              </a:spcAft>
              <a:buClr>
                <a:srgbClr val="3333CC"/>
              </a:buClr>
              <a:buSzPts val="1440"/>
              <a:buFont typeface="Noto Sans Symbols"/>
              <a:buChar char="■"/>
            </a:pPr>
            <a:r>
              <a:rPr lang="en-US" sz="2000" dirty="0" smtClean="0"/>
              <a:t>GSM </a:t>
            </a:r>
            <a:r>
              <a:rPr lang="en-US" sz="2000" dirty="0"/>
              <a:t>control channels can have the following types:</a:t>
            </a:r>
            <a:endParaRPr sz="2000" dirty="0"/>
          </a:p>
          <a:p>
            <a:pPr marL="741363" lvl="1" indent="-284163" algn="l" rtl="0">
              <a:lnSpc>
                <a:spcPct val="90000"/>
              </a:lnSpc>
              <a:spcBef>
                <a:spcPts val="500"/>
              </a:spcBef>
              <a:spcAft>
                <a:spcPts val="0"/>
              </a:spcAft>
              <a:buClr>
                <a:srgbClr val="FF0000"/>
              </a:buClr>
              <a:buSzPts val="1100"/>
              <a:buFont typeface="Noto Sans Symbols"/>
              <a:buChar char="■"/>
            </a:pPr>
            <a:r>
              <a:rPr lang="en-US" sz="2000" dirty="0"/>
              <a:t>broadcast </a:t>
            </a:r>
            <a:r>
              <a:rPr lang="en-US" sz="2000" dirty="0" smtClean="0"/>
              <a:t>control channel (BCCH)</a:t>
            </a:r>
            <a:endParaRPr dirty="0"/>
          </a:p>
          <a:p>
            <a:pPr marL="741363" lvl="1" indent="-284163" algn="l" rtl="0">
              <a:lnSpc>
                <a:spcPct val="90000"/>
              </a:lnSpc>
              <a:spcBef>
                <a:spcPts val="500"/>
              </a:spcBef>
              <a:spcAft>
                <a:spcPts val="0"/>
              </a:spcAft>
              <a:buClr>
                <a:srgbClr val="FF0000"/>
              </a:buClr>
              <a:buSzPts val="1100"/>
              <a:buFont typeface="Noto Sans Symbols"/>
              <a:buChar char="■"/>
            </a:pPr>
            <a:r>
              <a:rPr lang="en-US" sz="2000" dirty="0"/>
              <a:t>common control </a:t>
            </a:r>
            <a:r>
              <a:rPr lang="en-US" sz="2000" dirty="0" smtClean="0"/>
              <a:t>channel (CCCH)</a:t>
            </a:r>
            <a:endParaRPr dirty="0"/>
          </a:p>
          <a:p>
            <a:pPr marL="741363" lvl="1" indent="-284163" algn="l" rtl="0">
              <a:lnSpc>
                <a:spcPct val="90000"/>
              </a:lnSpc>
              <a:spcBef>
                <a:spcPts val="500"/>
              </a:spcBef>
              <a:spcAft>
                <a:spcPts val="0"/>
              </a:spcAft>
              <a:buClr>
                <a:srgbClr val="FF0000"/>
              </a:buClr>
              <a:buSzPts val="1100"/>
              <a:buFont typeface="Noto Sans Symbols"/>
              <a:buChar char="■"/>
            </a:pPr>
            <a:r>
              <a:rPr lang="en-US" sz="2000" dirty="0"/>
              <a:t>dedicated control </a:t>
            </a:r>
            <a:r>
              <a:rPr lang="en-US" sz="2000" dirty="0" smtClean="0"/>
              <a:t>channel (DCCH)</a:t>
            </a:r>
            <a:endParaRP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sp>
        <p:nvSpPr>
          <p:cNvPr id="288" name="Google Shape;288;p50"/>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a:t>Broadcast </a:t>
            </a:r>
            <a:r>
              <a:rPr lang="en-US" sz="3600" dirty="0" smtClean="0"/>
              <a:t>Control Channels</a:t>
            </a:r>
            <a:endParaRPr dirty="0"/>
          </a:p>
        </p:txBody>
      </p:sp>
      <p:sp>
        <p:nvSpPr>
          <p:cNvPr id="289" name="Google Shape;289;p50"/>
          <p:cNvSpPr txBox="1">
            <a:spLocks noGrp="1"/>
          </p:cNvSpPr>
          <p:nvPr>
            <p:ph type="body" idx="1"/>
          </p:nvPr>
        </p:nvSpPr>
        <p:spPr>
          <a:xfrm>
            <a:off x="838200" y="1752600"/>
            <a:ext cx="84582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a:t>type of control channel used for the initial synchronization between the cell phone and the </a:t>
            </a:r>
            <a:r>
              <a:rPr lang="en-US" sz="2400" dirty="0" smtClean="0"/>
              <a:t>BTS</a:t>
            </a:r>
          </a:p>
          <a:p>
            <a:pPr marL="341313" lvl="0" indent="-341313" algn="l" rtl="0">
              <a:spcBef>
                <a:spcPts val="0"/>
              </a:spcBef>
              <a:spcAft>
                <a:spcPts val="0"/>
              </a:spcAft>
              <a:buClr>
                <a:srgbClr val="3333CC"/>
              </a:buClr>
              <a:buSzPts val="1440"/>
              <a:buFont typeface="Noto Sans Symbols"/>
              <a:buChar char="■"/>
            </a:pPr>
            <a:r>
              <a:rPr lang="en-US" sz="2400" dirty="0" smtClean="0"/>
              <a:t>it is a downlink channel (BTS -&gt; mobile subscriber)</a:t>
            </a:r>
            <a:endParaRPr dirty="0"/>
          </a:p>
          <a:p>
            <a:pPr marL="341313" lvl="0" indent="-341313" algn="l" rtl="0">
              <a:spcBef>
                <a:spcPts val="600"/>
              </a:spcBef>
              <a:spcAft>
                <a:spcPts val="0"/>
              </a:spcAft>
              <a:buClr>
                <a:srgbClr val="3333CC"/>
              </a:buClr>
              <a:buSzPts val="1440"/>
              <a:buFont typeface="Noto Sans Symbols"/>
              <a:buChar char="■"/>
            </a:pPr>
            <a:r>
              <a:rPr lang="en-US" sz="2400" dirty="0"/>
              <a:t>is composed from:</a:t>
            </a:r>
            <a:endParaRPr dirty="0"/>
          </a:p>
          <a:p>
            <a:pPr marL="741363" lvl="1" indent="-284163" algn="l" rtl="0">
              <a:spcBef>
                <a:spcPts val="500"/>
              </a:spcBef>
              <a:spcAft>
                <a:spcPts val="0"/>
              </a:spcAft>
              <a:buClr>
                <a:srgbClr val="FF0000"/>
              </a:buClr>
              <a:buSzPts val="1100"/>
              <a:buFont typeface="Noto Sans Symbols"/>
              <a:buChar char="■"/>
            </a:pPr>
            <a:r>
              <a:rPr lang="en-US" sz="2000" u="sng" dirty="0"/>
              <a:t>Frequency Correction Channel (FCCH)</a:t>
            </a:r>
            <a:r>
              <a:rPr lang="en-US" sz="2000" dirty="0"/>
              <a:t> – is composed from a sequence of 148 zeros transmitted by the BTS</a:t>
            </a:r>
            <a:endParaRPr dirty="0"/>
          </a:p>
          <a:p>
            <a:pPr marL="741363" lvl="1" indent="-284163" algn="l" rtl="0">
              <a:spcBef>
                <a:spcPts val="500"/>
              </a:spcBef>
              <a:spcAft>
                <a:spcPts val="0"/>
              </a:spcAft>
              <a:buClr>
                <a:srgbClr val="FF0000"/>
              </a:buClr>
              <a:buSzPts val="1100"/>
              <a:buFont typeface="Noto Sans Symbols"/>
              <a:buChar char="■"/>
            </a:pPr>
            <a:r>
              <a:rPr lang="en-US" sz="2000" u="sng" dirty="0"/>
              <a:t>Synchronization Channel (SCH)</a:t>
            </a:r>
            <a:r>
              <a:rPr lang="en-US" sz="2000" dirty="0"/>
              <a:t> – follows the FCCH and contains BTS identification and location information</a:t>
            </a:r>
            <a:endParaRPr dirty="0"/>
          </a:p>
          <a:p>
            <a:pPr marL="741363" lvl="1" indent="-284163" algn="l" rtl="0">
              <a:spcBef>
                <a:spcPts val="500"/>
              </a:spcBef>
              <a:spcAft>
                <a:spcPts val="0"/>
              </a:spcAft>
              <a:buClr>
                <a:srgbClr val="FF0000"/>
              </a:buClr>
              <a:buSzPts val="1100"/>
              <a:buFont typeface="Noto Sans Symbols"/>
              <a:buChar char="■"/>
            </a:pPr>
            <a:r>
              <a:rPr lang="en-US" sz="2000" u="sng" dirty="0"/>
              <a:t>Broadcast Control Channel (BCCH)</a:t>
            </a:r>
            <a:r>
              <a:rPr lang="en-US" sz="2000" dirty="0"/>
              <a:t> – contains the frequency allocation information used by cell phones to adjust their frequency to that of the network; is continuously broadcasted by the BTS</a:t>
            </a:r>
            <a:endParaRPr dirty="0"/>
          </a:p>
          <a:p>
            <a:pPr marL="341313" lvl="0" indent="-341313" algn="l" rtl="0">
              <a:spcBef>
                <a:spcPts val="500"/>
              </a:spcBef>
              <a:spcAft>
                <a:spcPts val="0"/>
              </a:spcAft>
              <a:buClr>
                <a:srgbClr val="3333CC"/>
              </a:buClr>
              <a:buSzPts val="1200"/>
              <a:buFont typeface="Noto Sans Symbols"/>
              <a:buNone/>
            </a:pPr>
            <a:endParaRPr sz="20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3"/>
        <p:cNvGrpSpPr/>
        <p:nvPr/>
      </p:nvGrpSpPr>
      <p:grpSpPr>
        <a:xfrm>
          <a:off x="0" y="0"/>
          <a:ext cx="0" cy="0"/>
          <a:chOff x="0" y="0"/>
          <a:chExt cx="0" cy="0"/>
        </a:xfrm>
      </p:grpSpPr>
      <p:sp>
        <p:nvSpPr>
          <p:cNvPr id="294" name="Google Shape;294;p51"/>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Common Control Channels</a:t>
            </a:r>
            <a:endParaRPr/>
          </a:p>
        </p:txBody>
      </p:sp>
      <p:sp>
        <p:nvSpPr>
          <p:cNvPr id="295" name="Google Shape;295;p51"/>
          <p:cNvSpPr txBox="1">
            <a:spLocks noGrp="1"/>
          </p:cNvSpPr>
          <p:nvPr>
            <p:ph type="body" idx="1"/>
          </p:nvPr>
        </p:nvSpPr>
        <p:spPr>
          <a:xfrm>
            <a:off x="914400" y="1715022"/>
            <a:ext cx="82296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smtClean="0"/>
              <a:t>used </a:t>
            </a:r>
            <a:r>
              <a:rPr lang="en-US" sz="2400" dirty="0"/>
              <a:t>for call </a:t>
            </a:r>
            <a:r>
              <a:rPr lang="en-US" sz="2400" dirty="0" smtClean="0"/>
              <a:t>initiation and setting the MS-BTS connection</a:t>
            </a:r>
            <a:endParaRPr sz="2400" dirty="0"/>
          </a:p>
          <a:p>
            <a:pPr marL="341313" lvl="0" indent="-341313" algn="l" rtl="0">
              <a:spcBef>
                <a:spcPts val="600"/>
              </a:spcBef>
              <a:spcAft>
                <a:spcPts val="0"/>
              </a:spcAft>
              <a:buClr>
                <a:srgbClr val="3333CC"/>
              </a:buClr>
              <a:buSzPts val="1440"/>
              <a:buFont typeface="Noto Sans Symbols"/>
              <a:buChar char="■"/>
            </a:pPr>
            <a:r>
              <a:rPr lang="en-US" sz="2400" dirty="0"/>
              <a:t>is composed of:</a:t>
            </a:r>
            <a:endParaRPr sz="2400" dirty="0"/>
          </a:p>
          <a:p>
            <a:pPr marL="741363" lvl="1" indent="-284163" algn="l" rtl="0">
              <a:spcBef>
                <a:spcPts val="500"/>
              </a:spcBef>
              <a:spcAft>
                <a:spcPts val="0"/>
              </a:spcAft>
              <a:buClr>
                <a:srgbClr val="FF0000"/>
              </a:buClr>
              <a:buSzPts val="1100"/>
              <a:buFont typeface="Noto Sans Symbols"/>
              <a:buChar char="■"/>
            </a:pPr>
            <a:r>
              <a:rPr lang="en-US" sz="1800" u="sng" dirty="0" smtClean="0"/>
              <a:t>Paging Channel (PCH)</a:t>
            </a:r>
            <a:r>
              <a:rPr lang="en-US" sz="1800" dirty="0" smtClean="0"/>
              <a:t> – the BTS uses this channel to inform the cell phone about an incoming call; the cell phone periodically monitors this channel (downlink channel: BTS -&gt; mobile subscriber)</a:t>
            </a:r>
            <a:endParaRPr sz="1800" dirty="0" smtClean="0"/>
          </a:p>
          <a:p>
            <a:pPr marL="741363" lvl="1" indent="-284163">
              <a:spcBef>
                <a:spcPts val="500"/>
              </a:spcBef>
              <a:buClr>
                <a:srgbClr val="FF0000"/>
              </a:buClr>
              <a:buSzPts val="1100"/>
              <a:buFont typeface="Noto Sans Symbols"/>
              <a:buChar char="■"/>
            </a:pPr>
            <a:r>
              <a:rPr lang="en-US" sz="1800" u="sng" dirty="0" smtClean="0"/>
              <a:t>Random Access Channel (RACH)</a:t>
            </a:r>
            <a:r>
              <a:rPr lang="en-US" sz="1800" dirty="0" smtClean="0"/>
              <a:t> – is an uplink channel used by the cell phone to initiate a call; the cell phone uses this channel only when required; if 2 phones try to access the RACH at the same time, they cause interference and will wait a random time before they try again; once a cell phone correctly accesses the RACH, BTS send </a:t>
            </a:r>
            <a:r>
              <a:rPr lang="en-US" sz="1800" dirty="0"/>
              <a:t>an acknowledgement </a:t>
            </a:r>
            <a:r>
              <a:rPr lang="en-US" sz="1800" dirty="0" smtClean="0"/>
              <a:t>(uplink channel</a:t>
            </a:r>
            <a:r>
              <a:rPr lang="en-US" sz="1800" dirty="0"/>
              <a:t>: </a:t>
            </a:r>
            <a:r>
              <a:rPr lang="en-US" sz="1800" dirty="0" smtClean="0"/>
              <a:t>mobile subscriber -&gt; BTS)</a:t>
            </a:r>
            <a:endParaRPr sz="1800" dirty="0" smtClean="0"/>
          </a:p>
          <a:p>
            <a:pPr marL="741363" lvl="1" indent="-284163">
              <a:spcBef>
                <a:spcPts val="500"/>
              </a:spcBef>
              <a:buClr>
                <a:srgbClr val="FF0000"/>
              </a:buClr>
              <a:buSzPts val="1100"/>
              <a:buFont typeface="Noto Sans Symbols"/>
              <a:buChar char="■"/>
            </a:pPr>
            <a:r>
              <a:rPr lang="en-US" sz="1800" u="sng" dirty="0" smtClean="0"/>
              <a:t>Access Grant Channel (AGCH)</a:t>
            </a:r>
            <a:r>
              <a:rPr lang="en-US" sz="1800" dirty="0" smtClean="0"/>
              <a:t> – channel used to set up a call; once the cell phone has used PCH or RACH to receive or initiate a call, it uses AGCH to communicate to </a:t>
            </a:r>
            <a:r>
              <a:rPr lang="en-US" sz="1800" dirty="0"/>
              <a:t>the BTS (downlink channel: BTS -&gt; mobile subscriber)</a:t>
            </a:r>
            <a:endParaRPr sz="1800" dirty="0" smtClean="0"/>
          </a:p>
          <a:p>
            <a:pPr marL="341313" lvl="0" indent="-341313" algn="l" rtl="0">
              <a:spcBef>
                <a:spcPts val="500"/>
              </a:spcBef>
              <a:spcAft>
                <a:spcPts val="0"/>
              </a:spcAft>
              <a:buClr>
                <a:srgbClr val="3333CC"/>
              </a:buClr>
              <a:buSzPts val="1200"/>
              <a:buFont typeface="Noto Sans Symbols"/>
              <a:buNone/>
            </a:pPr>
            <a:endParaRPr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52"/>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a:t>Dedicated Control </a:t>
            </a:r>
            <a:r>
              <a:rPr lang="en-US" sz="3600" dirty="0" smtClean="0"/>
              <a:t>Channel</a:t>
            </a:r>
            <a:endParaRPr dirty="0"/>
          </a:p>
        </p:txBody>
      </p:sp>
      <p:sp>
        <p:nvSpPr>
          <p:cNvPr id="301" name="Google Shape;301;p52"/>
          <p:cNvSpPr txBox="1">
            <a:spLocks noGrp="1"/>
          </p:cNvSpPr>
          <p:nvPr>
            <p:ph type="body" idx="1"/>
          </p:nvPr>
        </p:nvSpPr>
        <p:spPr>
          <a:xfrm>
            <a:off x="914400" y="1752600"/>
            <a:ext cx="82296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dirty="0"/>
              <a:t>control channel </a:t>
            </a:r>
            <a:r>
              <a:rPr lang="en-US" dirty="0" smtClean="0"/>
              <a:t>used </a:t>
            </a:r>
            <a:r>
              <a:rPr lang="en-US" dirty="0"/>
              <a:t>to manage </a:t>
            </a:r>
            <a:r>
              <a:rPr lang="en-US" dirty="0" smtClean="0"/>
              <a:t>calls</a:t>
            </a:r>
          </a:p>
          <a:p>
            <a:pPr marL="341313" lvl="0" indent="-341313" algn="l" rtl="0">
              <a:spcBef>
                <a:spcPts val="0"/>
              </a:spcBef>
              <a:spcAft>
                <a:spcPts val="0"/>
              </a:spcAft>
              <a:buClr>
                <a:srgbClr val="3333CC"/>
              </a:buClr>
              <a:buSzPts val="1440"/>
              <a:buFont typeface="Noto Sans Symbols"/>
              <a:buChar char="■"/>
            </a:pPr>
            <a:r>
              <a:rPr lang="en-US" dirty="0" smtClean="0"/>
              <a:t>this is a bidirectional channel (these channels/messages can appear in the downlink transmission and also in the uplink transmission)</a:t>
            </a:r>
            <a:endParaRPr dirty="0"/>
          </a:p>
          <a:p>
            <a:pPr marL="341313" lvl="0" indent="-341313" algn="l" rtl="0">
              <a:spcBef>
                <a:spcPts val="600"/>
              </a:spcBef>
              <a:spcAft>
                <a:spcPts val="0"/>
              </a:spcAft>
              <a:buClr>
                <a:srgbClr val="3333CC"/>
              </a:buClr>
              <a:buSzPts val="1440"/>
              <a:buFont typeface="Noto Sans Symbols"/>
              <a:buChar char="■"/>
            </a:pPr>
            <a:r>
              <a:rPr lang="en-US" dirty="0"/>
              <a:t>is comprised from:</a:t>
            </a:r>
            <a:endParaRPr dirty="0"/>
          </a:p>
          <a:p>
            <a:pPr marL="741363" lvl="1" indent="-284163">
              <a:spcBef>
                <a:spcPts val="500"/>
              </a:spcBef>
              <a:buClr>
                <a:srgbClr val="FF0000"/>
              </a:buClr>
              <a:buSzPts val="1100"/>
              <a:buFont typeface="Noto Sans Symbols"/>
              <a:buChar char="■"/>
            </a:pPr>
            <a:r>
              <a:rPr lang="en-US" sz="1800" u="sng" dirty="0"/>
              <a:t>Standalone Dedicated Control Channel (SDCCH)</a:t>
            </a:r>
            <a:r>
              <a:rPr lang="en-US" sz="1800" dirty="0"/>
              <a:t> – used to further complete a connection; after the connection is established a traffic channel is assigned to the connection via a SDCCH message</a:t>
            </a:r>
            <a:endParaRPr sz="1800" dirty="0"/>
          </a:p>
          <a:p>
            <a:pPr marL="741363" lvl="1" indent="-284163">
              <a:spcBef>
                <a:spcPts val="500"/>
              </a:spcBef>
              <a:buClr>
                <a:srgbClr val="FF0000"/>
              </a:buClr>
              <a:buSzPts val="1100"/>
              <a:buFont typeface="Noto Sans Symbols"/>
              <a:buChar char="■"/>
            </a:pPr>
            <a:r>
              <a:rPr lang="en-US" sz="1800" u="sng" dirty="0"/>
              <a:t>Slow Associated Control Channel (SACCH)</a:t>
            </a:r>
            <a:r>
              <a:rPr lang="en-US" sz="1800" dirty="0"/>
              <a:t> – on the downlink BTS broadcasts messages of the beacon frequency of neighboring cells to the cell phones; on the uplink BTS receives acknowledgement </a:t>
            </a:r>
            <a:r>
              <a:rPr lang="en-US" sz="1800" dirty="0" smtClean="0"/>
              <a:t>messages, </a:t>
            </a:r>
            <a:r>
              <a:rPr lang="en-US" sz="1800" dirty="0"/>
              <a:t>strength and quality of the signal</a:t>
            </a:r>
            <a:r>
              <a:rPr lang="en-US" sz="1800" dirty="0" smtClean="0"/>
              <a:t> </a:t>
            </a:r>
            <a:r>
              <a:rPr lang="en-US" sz="1800" dirty="0"/>
              <a:t>from the cell phone</a:t>
            </a:r>
            <a:endParaRPr sz="1800" dirty="0"/>
          </a:p>
          <a:p>
            <a:pPr marL="741363" lvl="1" indent="-284163" algn="l" rtl="0">
              <a:spcBef>
                <a:spcPts val="500"/>
              </a:spcBef>
              <a:spcAft>
                <a:spcPts val="0"/>
              </a:spcAft>
              <a:buClr>
                <a:srgbClr val="FF0000"/>
              </a:buClr>
              <a:buSzPts val="1100"/>
              <a:buFont typeface="Noto Sans Symbols"/>
              <a:buChar char="■"/>
            </a:pPr>
            <a:r>
              <a:rPr lang="en-US" sz="1800" u="sng" dirty="0"/>
              <a:t>Fast Associated Control Channel (FACCH)</a:t>
            </a:r>
            <a:r>
              <a:rPr lang="en-US" sz="1800" dirty="0"/>
              <a:t> – used to transmit unscheduled urgent messages; FACCH is faster than SACCH as it can carry 50 messages per second, while </a:t>
            </a:r>
            <a:r>
              <a:rPr lang="en-US" sz="1800" dirty="0" smtClean="0"/>
              <a:t>SACCH carry </a:t>
            </a:r>
            <a:r>
              <a:rPr lang="en-US" sz="1800" dirty="0"/>
              <a:t>only 4.</a:t>
            </a:r>
            <a:endParaRPr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5"/>
        <p:cNvGrpSpPr/>
        <p:nvPr/>
      </p:nvGrpSpPr>
      <p:grpSpPr>
        <a:xfrm>
          <a:off x="0" y="0"/>
          <a:ext cx="0" cy="0"/>
          <a:chOff x="0" y="0"/>
          <a:chExt cx="0" cy="0"/>
        </a:xfrm>
      </p:grpSpPr>
      <p:sp>
        <p:nvSpPr>
          <p:cNvPr id="306" name="Google Shape;306;p53"/>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Traffic Channel</a:t>
            </a:r>
            <a:endParaRPr/>
          </a:p>
        </p:txBody>
      </p:sp>
      <p:sp>
        <p:nvSpPr>
          <p:cNvPr id="307" name="Google Shape;307;p53"/>
          <p:cNvSpPr txBox="1">
            <a:spLocks noGrp="1"/>
          </p:cNvSpPr>
          <p:nvPr>
            <p:ph type="body" idx="1"/>
          </p:nvPr>
        </p:nvSpPr>
        <p:spPr>
          <a:xfrm>
            <a:off x="914400" y="1828800"/>
            <a:ext cx="8229600" cy="50292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dirty="0"/>
              <a:t>is used to carry voice data</a:t>
            </a:r>
            <a:endParaRPr dirty="0"/>
          </a:p>
          <a:p>
            <a:pPr marL="341313" lvl="0" indent="-341313" algn="l" rtl="0">
              <a:spcBef>
                <a:spcPts val="600"/>
              </a:spcBef>
              <a:spcAft>
                <a:spcPts val="0"/>
              </a:spcAft>
              <a:buClr>
                <a:srgbClr val="3333CC"/>
              </a:buClr>
              <a:buSzPts val="1440"/>
              <a:buFont typeface="Noto Sans Symbols"/>
              <a:buChar char="■"/>
            </a:pPr>
            <a:r>
              <a:rPr lang="en-US" sz="2400" dirty="0"/>
              <a:t>based on the </a:t>
            </a:r>
            <a:r>
              <a:rPr lang="en-US" sz="2400" dirty="0" smtClean="0"/>
              <a:t>FDMA/TDMA </a:t>
            </a:r>
            <a:r>
              <a:rPr lang="en-US" sz="2400" dirty="0"/>
              <a:t>the traffic (voice channel) is divided in 8 different time slots numbered from 0 to 7</a:t>
            </a:r>
            <a:endParaRPr dirty="0"/>
          </a:p>
          <a:p>
            <a:pPr marL="341313" lvl="0" indent="-341313" algn="l" rtl="0">
              <a:spcBef>
                <a:spcPts val="600"/>
              </a:spcBef>
              <a:spcAft>
                <a:spcPts val="0"/>
              </a:spcAft>
              <a:buClr>
                <a:srgbClr val="3333CC"/>
              </a:buClr>
              <a:buSzPts val="1440"/>
              <a:buFont typeface="Noto Sans Symbols"/>
              <a:buChar char="■"/>
            </a:pPr>
            <a:r>
              <a:rPr lang="en-US" sz="2400" dirty="0"/>
              <a:t>the BTS sends signals to a particular cell phone in a specific time slot (from those 8 time slots) and the cell phone replies in a different time slot</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of logical channels over physical channels (downlink path)</a:t>
            </a:r>
            <a:endParaRPr lang="en-US" dirty="0"/>
          </a:p>
        </p:txBody>
      </p:sp>
      <p:sp>
        <p:nvSpPr>
          <p:cNvPr id="3" name="Text Placeholder 2"/>
          <p:cNvSpPr>
            <a:spLocks noGrp="1"/>
          </p:cNvSpPr>
          <p:nvPr>
            <p:ph type="body" idx="1"/>
          </p:nvPr>
        </p:nvSpPr>
        <p:spPr/>
        <p:txBody>
          <a:bodyPr/>
          <a:lstStyle/>
          <a:p>
            <a:pPr marL="514350" indent="-285750">
              <a:buFont typeface="Arial" panose="020B0604020202020204" pitchFamily="34" charset="0"/>
              <a:buChar char="•"/>
            </a:pPr>
            <a:r>
              <a:rPr lang="en-US" dirty="0"/>
              <a:t>a</a:t>
            </a:r>
            <a:r>
              <a:rPr lang="en-US" dirty="0" smtClean="0"/>
              <a:t>lmost </a:t>
            </a:r>
            <a:r>
              <a:rPr lang="en-US" dirty="0"/>
              <a:t>always non-traffic </a:t>
            </a:r>
            <a:r>
              <a:rPr lang="en-US" dirty="0" smtClean="0"/>
              <a:t>(i.e. control) channels </a:t>
            </a:r>
            <a:r>
              <a:rPr lang="en-US" dirty="0"/>
              <a:t>are mapped on time slot 0 of each frame. </a:t>
            </a:r>
            <a:endParaRPr lang="en-US" dirty="0" smtClean="0"/>
          </a:p>
          <a:p>
            <a:pPr marL="514350" indent="-285750">
              <a:buFont typeface="Arial" panose="020B0604020202020204" pitchFamily="34" charset="0"/>
              <a:buChar char="•"/>
            </a:pPr>
            <a:r>
              <a:rPr lang="en-US" dirty="0" smtClean="0"/>
              <a:t>most control channels are repeated in subsequent frames</a:t>
            </a:r>
          </a:p>
          <a:p>
            <a:pPr marL="514350" indent="-285750">
              <a:buFont typeface="Arial" panose="020B0604020202020204" pitchFamily="34" charset="0"/>
              <a:buChar char="•"/>
            </a:pPr>
            <a:r>
              <a:rPr lang="en-US" dirty="0" smtClean="0"/>
              <a:t>the interference for downlink logical channels </a:t>
            </a:r>
            <a:r>
              <a:rPr lang="en-US" dirty="0"/>
              <a:t>is minimal, but for logical channels that are sent on the uplink stream (MS to BTS), like the RACH (which is used when the mobile subscriber (MS) wants to setup a call) this probability is non </a:t>
            </a:r>
            <a:r>
              <a:rPr lang="en-US" dirty="0" smtClean="0"/>
              <a:t>negligible</a:t>
            </a:r>
          </a:p>
          <a:p>
            <a:pPr marL="514350" indent="-285750">
              <a:buFont typeface="Arial" panose="020B0604020202020204" pitchFamily="34" charset="0"/>
              <a:buChar char="•"/>
            </a:pPr>
            <a:r>
              <a:rPr lang="en-US" dirty="0" smtClean="0"/>
              <a:t>if </a:t>
            </a:r>
            <a:r>
              <a:rPr lang="en-US" dirty="0"/>
              <a:t>a collision happens (for example two MS want to setup a call at the same time), the mobile subscribers that caused the collision would sleep a random time before trying again.</a:t>
            </a:r>
          </a:p>
        </p:txBody>
      </p:sp>
    </p:spTree>
    <p:extLst>
      <p:ext uri="{BB962C8B-B14F-4D97-AF65-F5344CB8AC3E}">
        <p14:creationId xmlns:p14="http://schemas.microsoft.com/office/powerpoint/2010/main" val="10687146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of logical channels over physical channels (downlink path</a:t>
            </a:r>
            <a:r>
              <a:rPr lang="en-US" dirty="0" smtClean="0"/>
              <a:t>) - detail</a:t>
            </a:r>
            <a:endParaRPr lang="en-US" dirty="0"/>
          </a:p>
        </p:txBody>
      </p:sp>
      <p:grpSp>
        <p:nvGrpSpPr>
          <p:cNvPr id="5" name="Group 4"/>
          <p:cNvGrpSpPr/>
          <p:nvPr/>
        </p:nvGrpSpPr>
        <p:grpSpPr>
          <a:xfrm>
            <a:off x="1092309" y="2210517"/>
            <a:ext cx="7300129" cy="3037888"/>
            <a:chOff x="0" y="0"/>
            <a:chExt cx="6257925" cy="2562225"/>
          </a:xfrm>
        </p:grpSpPr>
        <p:sp>
          <p:nvSpPr>
            <p:cNvPr id="6" name="Text Box 1070"/>
            <p:cNvSpPr txBox="1"/>
            <p:nvPr/>
          </p:nvSpPr>
          <p:spPr>
            <a:xfrm>
              <a:off x="0" y="0"/>
              <a:ext cx="1276350" cy="2476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b="1">
                  <a:effectLst/>
                  <a:ea typeface="Calibri"/>
                  <a:cs typeface="Times New Roman"/>
                </a:rPr>
                <a:t>Physical channels:</a:t>
              </a:r>
              <a:endParaRPr lang="en-US" sz="1100">
                <a:effectLst/>
                <a:ea typeface="Calibri"/>
                <a:cs typeface="Times New Roman"/>
              </a:endParaRPr>
            </a:p>
          </p:txBody>
        </p:sp>
        <p:grpSp>
          <p:nvGrpSpPr>
            <p:cNvPr id="7" name="Group 6"/>
            <p:cNvGrpSpPr/>
            <p:nvPr/>
          </p:nvGrpSpPr>
          <p:grpSpPr>
            <a:xfrm>
              <a:off x="95250" y="257175"/>
              <a:ext cx="6162675" cy="2305050"/>
              <a:chOff x="0" y="0"/>
              <a:chExt cx="6162675" cy="2305050"/>
            </a:xfrm>
          </p:grpSpPr>
          <p:grpSp>
            <p:nvGrpSpPr>
              <p:cNvPr id="8" name="Group 7"/>
              <p:cNvGrpSpPr/>
              <p:nvPr/>
            </p:nvGrpSpPr>
            <p:grpSpPr>
              <a:xfrm>
                <a:off x="0" y="0"/>
                <a:ext cx="6162675" cy="485775"/>
                <a:chOff x="0" y="0"/>
                <a:chExt cx="6162675" cy="485775"/>
              </a:xfrm>
            </p:grpSpPr>
            <p:grpSp>
              <p:nvGrpSpPr>
                <p:cNvPr id="45" name="Group 44"/>
                <p:cNvGrpSpPr/>
                <p:nvPr/>
              </p:nvGrpSpPr>
              <p:grpSpPr>
                <a:xfrm>
                  <a:off x="0" y="0"/>
                  <a:ext cx="6162675" cy="485775"/>
                  <a:chOff x="0" y="0"/>
                  <a:chExt cx="6162675" cy="485775"/>
                </a:xfrm>
              </p:grpSpPr>
              <p:grpSp>
                <p:nvGrpSpPr>
                  <p:cNvPr id="47" name="Group 46"/>
                  <p:cNvGrpSpPr/>
                  <p:nvPr/>
                </p:nvGrpSpPr>
                <p:grpSpPr>
                  <a:xfrm>
                    <a:off x="0" y="0"/>
                    <a:ext cx="6162675" cy="485775"/>
                    <a:chOff x="0" y="0"/>
                    <a:chExt cx="6162675" cy="485775"/>
                  </a:xfrm>
                </p:grpSpPr>
                <p:grpSp>
                  <p:nvGrpSpPr>
                    <p:cNvPr id="49" name="Group 48"/>
                    <p:cNvGrpSpPr/>
                    <p:nvPr/>
                  </p:nvGrpSpPr>
                  <p:grpSpPr>
                    <a:xfrm>
                      <a:off x="0" y="47625"/>
                      <a:ext cx="6162675" cy="438150"/>
                      <a:chOff x="0" y="0"/>
                      <a:chExt cx="6162675" cy="438150"/>
                    </a:xfrm>
                  </p:grpSpPr>
                  <p:sp>
                    <p:nvSpPr>
                      <p:cNvPr id="51" name="Text Box 1076"/>
                      <p:cNvSpPr txBox="1"/>
                      <p:nvPr/>
                    </p:nvSpPr>
                    <p:spPr>
                      <a:xfrm>
                        <a:off x="5686425" y="200025"/>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0</a:t>
                        </a:r>
                      </a:p>
                    </p:txBody>
                  </p:sp>
                  <p:sp>
                    <p:nvSpPr>
                      <p:cNvPr id="52" name="Text Box 1077"/>
                      <p:cNvSpPr txBox="1"/>
                      <p:nvPr/>
                    </p:nvSpPr>
                    <p:spPr>
                      <a:xfrm>
                        <a:off x="5924550" y="200025"/>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1</a:t>
                        </a:r>
                      </a:p>
                    </p:txBody>
                  </p:sp>
                  <p:grpSp>
                    <p:nvGrpSpPr>
                      <p:cNvPr id="53" name="Group 52"/>
                      <p:cNvGrpSpPr/>
                      <p:nvPr/>
                    </p:nvGrpSpPr>
                    <p:grpSpPr>
                      <a:xfrm>
                        <a:off x="0" y="0"/>
                        <a:ext cx="5686425" cy="438150"/>
                        <a:chOff x="0" y="0"/>
                        <a:chExt cx="5686425" cy="438150"/>
                      </a:xfrm>
                    </p:grpSpPr>
                    <p:grpSp>
                      <p:nvGrpSpPr>
                        <p:cNvPr id="54" name="Group 53"/>
                        <p:cNvGrpSpPr/>
                        <p:nvPr/>
                      </p:nvGrpSpPr>
                      <p:grpSpPr>
                        <a:xfrm>
                          <a:off x="0" y="200025"/>
                          <a:ext cx="1895475" cy="238125"/>
                          <a:chOff x="0" y="0"/>
                          <a:chExt cx="1895475" cy="238125"/>
                        </a:xfrm>
                      </p:grpSpPr>
                      <p:sp>
                        <p:nvSpPr>
                          <p:cNvPr id="77" name="Text Box 1080"/>
                          <p:cNvSpPr txBox="1"/>
                          <p:nvPr/>
                        </p:nvSpPr>
                        <p:spPr>
                          <a:xfrm>
                            <a:off x="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0</a:t>
                            </a:r>
                          </a:p>
                        </p:txBody>
                      </p:sp>
                      <p:sp>
                        <p:nvSpPr>
                          <p:cNvPr id="78" name="Text Box 1081"/>
                          <p:cNvSpPr txBox="1"/>
                          <p:nvPr/>
                        </p:nvSpPr>
                        <p:spPr>
                          <a:xfrm>
                            <a:off x="2381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1</a:t>
                            </a:r>
                          </a:p>
                        </p:txBody>
                      </p:sp>
                      <p:sp>
                        <p:nvSpPr>
                          <p:cNvPr id="79" name="Text Box 1082"/>
                          <p:cNvSpPr txBox="1"/>
                          <p:nvPr/>
                        </p:nvSpPr>
                        <p:spPr>
                          <a:xfrm>
                            <a:off x="4762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2</a:t>
                            </a:r>
                          </a:p>
                        </p:txBody>
                      </p:sp>
                      <p:sp>
                        <p:nvSpPr>
                          <p:cNvPr id="80" name="Text Box 1083"/>
                          <p:cNvSpPr txBox="1"/>
                          <p:nvPr/>
                        </p:nvSpPr>
                        <p:spPr>
                          <a:xfrm>
                            <a:off x="71437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3</a:t>
                            </a:r>
                          </a:p>
                        </p:txBody>
                      </p:sp>
                      <p:sp>
                        <p:nvSpPr>
                          <p:cNvPr id="81" name="Text Box 1084"/>
                          <p:cNvSpPr txBox="1"/>
                          <p:nvPr/>
                        </p:nvSpPr>
                        <p:spPr>
                          <a:xfrm>
                            <a:off x="9525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4</a:t>
                            </a:r>
                          </a:p>
                        </p:txBody>
                      </p:sp>
                      <p:sp>
                        <p:nvSpPr>
                          <p:cNvPr id="82" name="Text Box 1085"/>
                          <p:cNvSpPr txBox="1"/>
                          <p:nvPr/>
                        </p:nvSpPr>
                        <p:spPr>
                          <a:xfrm>
                            <a:off x="11811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5</a:t>
                            </a:r>
                          </a:p>
                        </p:txBody>
                      </p:sp>
                      <p:sp>
                        <p:nvSpPr>
                          <p:cNvPr id="83" name="Text Box 1086"/>
                          <p:cNvSpPr txBox="1"/>
                          <p:nvPr/>
                        </p:nvSpPr>
                        <p:spPr>
                          <a:xfrm>
                            <a:off x="14192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6</a:t>
                            </a:r>
                          </a:p>
                        </p:txBody>
                      </p:sp>
                      <p:sp>
                        <p:nvSpPr>
                          <p:cNvPr id="84" name="Text Box 1087"/>
                          <p:cNvSpPr txBox="1"/>
                          <p:nvPr/>
                        </p:nvSpPr>
                        <p:spPr>
                          <a:xfrm>
                            <a:off x="16573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7</a:t>
                            </a:r>
                          </a:p>
                        </p:txBody>
                      </p:sp>
                    </p:grpSp>
                    <p:grpSp>
                      <p:nvGrpSpPr>
                        <p:cNvPr id="55" name="Group 54"/>
                        <p:cNvGrpSpPr/>
                        <p:nvPr/>
                      </p:nvGrpSpPr>
                      <p:grpSpPr>
                        <a:xfrm>
                          <a:off x="1895475" y="200025"/>
                          <a:ext cx="1895475" cy="238125"/>
                          <a:chOff x="0" y="0"/>
                          <a:chExt cx="1895475" cy="238125"/>
                        </a:xfrm>
                      </p:grpSpPr>
                      <p:sp>
                        <p:nvSpPr>
                          <p:cNvPr id="69" name="Text Box 1089"/>
                          <p:cNvSpPr txBox="1"/>
                          <p:nvPr/>
                        </p:nvSpPr>
                        <p:spPr>
                          <a:xfrm>
                            <a:off x="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0</a:t>
                            </a:r>
                          </a:p>
                        </p:txBody>
                      </p:sp>
                      <p:sp>
                        <p:nvSpPr>
                          <p:cNvPr id="70" name="Text Box 1090"/>
                          <p:cNvSpPr txBox="1"/>
                          <p:nvPr/>
                        </p:nvSpPr>
                        <p:spPr>
                          <a:xfrm>
                            <a:off x="2381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1</a:t>
                            </a:r>
                          </a:p>
                        </p:txBody>
                      </p:sp>
                      <p:sp>
                        <p:nvSpPr>
                          <p:cNvPr id="71" name="Text Box 1091"/>
                          <p:cNvSpPr txBox="1"/>
                          <p:nvPr/>
                        </p:nvSpPr>
                        <p:spPr>
                          <a:xfrm>
                            <a:off x="4762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2</a:t>
                            </a:r>
                          </a:p>
                        </p:txBody>
                      </p:sp>
                      <p:sp>
                        <p:nvSpPr>
                          <p:cNvPr id="72" name="Text Box 1092"/>
                          <p:cNvSpPr txBox="1"/>
                          <p:nvPr/>
                        </p:nvSpPr>
                        <p:spPr>
                          <a:xfrm>
                            <a:off x="71437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3</a:t>
                            </a:r>
                          </a:p>
                        </p:txBody>
                      </p:sp>
                      <p:sp>
                        <p:nvSpPr>
                          <p:cNvPr id="73" name="Text Box 1093"/>
                          <p:cNvSpPr txBox="1"/>
                          <p:nvPr/>
                        </p:nvSpPr>
                        <p:spPr>
                          <a:xfrm>
                            <a:off x="9525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4</a:t>
                            </a:r>
                          </a:p>
                        </p:txBody>
                      </p:sp>
                      <p:sp>
                        <p:nvSpPr>
                          <p:cNvPr id="74" name="Text Box 1094"/>
                          <p:cNvSpPr txBox="1"/>
                          <p:nvPr/>
                        </p:nvSpPr>
                        <p:spPr>
                          <a:xfrm>
                            <a:off x="11811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5</a:t>
                            </a:r>
                          </a:p>
                        </p:txBody>
                      </p:sp>
                      <p:sp>
                        <p:nvSpPr>
                          <p:cNvPr id="75" name="Text Box 1095"/>
                          <p:cNvSpPr txBox="1"/>
                          <p:nvPr/>
                        </p:nvSpPr>
                        <p:spPr>
                          <a:xfrm>
                            <a:off x="14192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6</a:t>
                            </a:r>
                          </a:p>
                        </p:txBody>
                      </p:sp>
                      <p:sp>
                        <p:nvSpPr>
                          <p:cNvPr id="76" name="Text Box 1096"/>
                          <p:cNvSpPr txBox="1"/>
                          <p:nvPr/>
                        </p:nvSpPr>
                        <p:spPr>
                          <a:xfrm>
                            <a:off x="16573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7</a:t>
                            </a:r>
                          </a:p>
                        </p:txBody>
                      </p:sp>
                    </p:grpSp>
                    <p:grpSp>
                      <p:nvGrpSpPr>
                        <p:cNvPr id="56" name="Group 55"/>
                        <p:cNvGrpSpPr/>
                        <p:nvPr/>
                      </p:nvGrpSpPr>
                      <p:grpSpPr>
                        <a:xfrm>
                          <a:off x="3790950" y="200025"/>
                          <a:ext cx="1895475" cy="238125"/>
                          <a:chOff x="0" y="0"/>
                          <a:chExt cx="1895475" cy="238125"/>
                        </a:xfrm>
                      </p:grpSpPr>
                      <p:sp>
                        <p:nvSpPr>
                          <p:cNvPr id="61" name="Text Box 1098"/>
                          <p:cNvSpPr txBox="1"/>
                          <p:nvPr/>
                        </p:nvSpPr>
                        <p:spPr>
                          <a:xfrm>
                            <a:off x="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0</a:t>
                            </a:r>
                          </a:p>
                        </p:txBody>
                      </p:sp>
                      <p:sp>
                        <p:nvSpPr>
                          <p:cNvPr id="62" name="Text Box 1099"/>
                          <p:cNvSpPr txBox="1"/>
                          <p:nvPr/>
                        </p:nvSpPr>
                        <p:spPr>
                          <a:xfrm>
                            <a:off x="2381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1</a:t>
                            </a:r>
                          </a:p>
                        </p:txBody>
                      </p:sp>
                      <p:sp>
                        <p:nvSpPr>
                          <p:cNvPr id="63" name="Text Box 1100"/>
                          <p:cNvSpPr txBox="1"/>
                          <p:nvPr/>
                        </p:nvSpPr>
                        <p:spPr>
                          <a:xfrm>
                            <a:off x="4762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2</a:t>
                            </a:r>
                          </a:p>
                        </p:txBody>
                      </p:sp>
                      <p:sp>
                        <p:nvSpPr>
                          <p:cNvPr id="64" name="Text Box 1101"/>
                          <p:cNvSpPr txBox="1"/>
                          <p:nvPr/>
                        </p:nvSpPr>
                        <p:spPr>
                          <a:xfrm>
                            <a:off x="71437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3</a:t>
                            </a:r>
                          </a:p>
                        </p:txBody>
                      </p:sp>
                      <p:sp>
                        <p:nvSpPr>
                          <p:cNvPr id="65" name="Text Box 1102"/>
                          <p:cNvSpPr txBox="1"/>
                          <p:nvPr/>
                        </p:nvSpPr>
                        <p:spPr>
                          <a:xfrm>
                            <a:off x="9525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4</a:t>
                            </a:r>
                          </a:p>
                        </p:txBody>
                      </p:sp>
                      <p:sp>
                        <p:nvSpPr>
                          <p:cNvPr id="66" name="Text Box 1103"/>
                          <p:cNvSpPr txBox="1"/>
                          <p:nvPr/>
                        </p:nvSpPr>
                        <p:spPr>
                          <a:xfrm>
                            <a:off x="11811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5</a:t>
                            </a:r>
                          </a:p>
                        </p:txBody>
                      </p:sp>
                      <p:sp>
                        <p:nvSpPr>
                          <p:cNvPr id="67" name="Text Box 1104"/>
                          <p:cNvSpPr txBox="1"/>
                          <p:nvPr/>
                        </p:nvSpPr>
                        <p:spPr>
                          <a:xfrm>
                            <a:off x="14192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6</a:t>
                            </a:r>
                          </a:p>
                        </p:txBody>
                      </p:sp>
                      <p:sp>
                        <p:nvSpPr>
                          <p:cNvPr id="68" name="Text Box 1105"/>
                          <p:cNvSpPr txBox="1"/>
                          <p:nvPr/>
                        </p:nvSpPr>
                        <p:spPr>
                          <a:xfrm>
                            <a:off x="16573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7</a:t>
                            </a:r>
                          </a:p>
                        </p:txBody>
                      </p:sp>
                    </p:grpSp>
                    <p:cxnSp>
                      <p:nvCxnSpPr>
                        <p:cNvPr id="57" name="Straight Connector 56"/>
                        <p:cNvCxnSpPr/>
                        <p:nvPr/>
                      </p:nvCxnSpPr>
                      <p:spPr>
                        <a:xfrm flipV="1">
                          <a:off x="0" y="0"/>
                          <a:ext cx="0" cy="200025"/>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V="1">
                          <a:off x="1895475" y="0"/>
                          <a:ext cx="0" cy="200025"/>
                        </a:xfrm>
                        <a:prstGeom prst="line">
                          <a:avLst/>
                        </a:prstGeom>
                      </p:spPr>
                      <p:style>
                        <a:lnRef idx="1">
                          <a:schemeClr val="dk1"/>
                        </a:lnRef>
                        <a:fillRef idx="0">
                          <a:schemeClr val="dk1"/>
                        </a:fillRef>
                        <a:effectRef idx="0">
                          <a:schemeClr val="dk1"/>
                        </a:effectRef>
                        <a:fontRef idx="minor">
                          <a:schemeClr val="tx1"/>
                        </a:fontRef>
                      </p:style>
                    </p:cxnSp>
                    <p:cxnSp>
                      <p:nvCxnSpPr>
                        <p:cNvPr id="59" name="Straight Connector 58"/>
                        <p:cNvCxnSpPr/>
                        <p:nvPr/>
                      </p:nvCxnSpPr>
                      <p:spPr>
                        <a:xfrm flipV="1">
                          <a:off x="3790950" y="0"/>
                          <a:ext cx="0" cy="200025"/>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p:cNvCxnSpPr/>
                        <p:nvPr/>
                      </p:nvCxnSpPr>
                      <p:spPr>
                        <a:xfrm flipV="1">
                          <a:off x="5686425" y="0"/>
                          <a:ext cx="0" cy="200025"/>
                        </a:xfrm>
                        <a:prstGeom prst="line">
                          <a:avLst/>
                        </a:prstGeom>
                      </p:spPr>
                      <p:style>
                        <a:lnRef idx="1">
                          <a:schemeClr val="dk1"/>
                        </a:lnRef>
                        <a:fillRef idx="0">
                          <a:schemeClr val="dk1"/>
                        </a:fillRef>
                        <a:effectRef idx="0">
                          <a:schemeClr val="dk1"/>
                        </a:effectRef>
                        <a:fontRef idx="minor">
                          <a:schemeClr val="tx1"/>
                        </a:fontRef>
                      </p:style>
                    </p:cxnSp>
                  </p:grpSp>
                </p:grpSp>
                <p:sp>
                  <p:nvSpPr>
                    <p:cNvPr id="50" name="Text Box 1110"/>
                    <p:cNvSpPr txBox="1"/>
                    <p:nvPr/>
                  </p:nvSpPr>
                  <p:spPr>
                    <a:xfrm>
                      <a:off x="142875" y="0"/>
                      <a:ext cx="1276350" cy="2476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Frame 0</a:t>
                      </a:r>
                    </a:p>
                  </p:txBody>
                </p:sp>
              </p:grpSp>
              <p:sp>
                <p:nvSpPr>
                  <p:cNvPr id="48" name="Text Box 1111"/>
                  <p:cNvSpPr txBox="1"/>
                  <p:nvPr/>
                </p:nvSpPr>
                <p:spPr>
                  <a:xfrm>
                    <a:off x="2038350" y="0"/>
                    <a:ext cx="1276350" cy="2476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Frame 1</a:t>
                    </a:r>
                  </a:p>
                </p:txBody>
              </p:sp>
            </p:grpSp>
            <p:sp>
              <p:nvSpPr>
                <p:cNvPr id="46" name="Text Box 1112"/>
                <p:cNvSpPr txBox="1"/>
                <p:nvPr/>
              </p:nvSpPr>
              <p:spPr>
                <a:xfrm>
                  <a:off x="4029075" y="0"/>
                  <a:ext cx="1276350" cy="2476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Frame 2</a:t>
                  </a:r>
                </a:p>
              </p:txBody>
            </p:sp>
          </p:grpSp>
          <p:grpSp>
            <p:nvGrpSpPr>
              <p:cNvPr id="9" name="Group 8"/>
              <p:cNvGrpSpPr/>
              <p:nvPr/>
            </p:nvGrpSpPr>
            <p:grpSpPr>
              <a:xfrm>
                <a:off x="0" y="1219200"/>
                <a:ext cx="6162675" cy="1085850"/>
                <a:chOff x="0" y="200025"/>
                <a:chExt cx="6162675" cy="238125"/>
              </a:xfrm>
            </p:grpSpPr>
            <p:sp>
              <p:nvSpPr>
                <p:cNvPr id="15" name="Text Box 1114"/>
                <p:cNvSpPr txBox="1"/>
                <p:nvPr/>
              </p:nvSpPr>
              <p:spPr>
                <a:xfrm>
                  <a:off x="5686425" y="200025"/>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CCCH3</a:t>
                  </a:r>
                </a:p>
              </p:txBody>
            </p:sp>
            <p:sp>
              <p:nvSpPr>
                <p:cNvPr id="16" name="Text Box 1115"/>
                <p:cNvSpPr txBox="1"/>
                <p:nvPr/>
              </p:nvSpPr>
              <p:spPr>
                <a:xfrm>
                  <a:off x="5924550" y="200025"/>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CCCH3</a:t>
                  </a:r>
                </a:p>
              </p:txBody>
            </p:sp>
            <p:grpSp>
              <p:nvGrpSpPr>
                <p:cNvPr id="17" name="Group 16"/>
                <p:cNvGrpSpPr/>
                <p:nvPr/>
              </p:nvGrpSpPr>
              <p:grpSpPr>
                <a:xfrm>
                  <a:off x="0" y="200025"/>
                  <a:ext cx="5686425" cy="238125"/>
                  <a:chOff x="0" y="200025"/>
                  <a:chExt cx="5686425" cy="238125"/>
                </a:xfrm>
              </p:grpSpPr>
              <p:grpSp>
                <p:nvGrpSpPr>
                  <p:cNvPr id="18" name="Group 17"/>
                  <p:cNvGrpSpPr/>
                  <p:nvPr/>
                </p:nvGrpSpPr>
                <p:grpSpPr>
                  <a:xfrm>
                    <a:off x="0" y="200025"/>
                    <a:ext cx="1895475" cy="238125"/>
                    <a:chOff x="0" y="0"/>
                    <a:chExt cx="1895475" cy="238125"/>
                  </a:xfrm>
                </p:grpSpPr>
                <p:sp>
                  <p:nvSpPr>
                    <p:cNvPr id="37" name="Text Box 1118"/>
                    <p:cNvSpPr txBox="1"/>
                    <p:nvPr/>
                  </p:nvSpPr>
                  <p:spPr>
                    <a:xfrm>
                      <a:off x="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FCCH</a:t>
                      </a:r>
                    </a:p>
                  </p:txBody>
                </p:sp>
                <p:sp>
                  <p:nvSpPr>
                    <p:cNvPr id="38" name="Text Box 1119"/>
                    <p:cNvSpPr txBox="1"/>
                    <p:nvPr/>
                  </p:nvSpPr>
                  <p:spPr>
                    <a:xfrm>
                      <a:off x="2381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SCH</a:t>
                      </a:r>
                    </a:p>
                  </p:txBody>
                </p:sp>
                <p:sp>
                  <p:nvSpPr>
                    <p:cNvPr id="39" name="Text Box 1120"/>
                    <p:cNvSpPr txBox="1"/>
                    <p:nvPr/>
                  </p:nvSpPr>
                  <p:spPr>
                    <a:xfrm>
                      <a:off x="4762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BCCH</a:t>
                      </a:r>
                    </a:p>
                  </p:txBody>
                </p:sp>
                <p:sp>
                  <p:nvSpPr>
                    <p:cNvPr id="40" name="Text Box 1121"/>
                    <p:cNvSpPr txBox="1"/>
                    <p:nvPr/>
                  </p:nvSpPr>
                  <p:spPr>
                    <a:xfrm>
                      <a:off x="71437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BCCH</a:t>
                      </a:r>
                    </a:p>
                  </p:txBody>
                </p:sp>
                <p:sp>
                  <p:nvSpPr>
                    <p:cNvPr id="41" name="Text Box 1122"/>
                    <p:cNvSpPr txBox="1"/>
                    <p:nvPr/>
                  </p:nvSpPr>
                  <p:spPr>
                    <a:xfrm>
                      <a:off x="9525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BCCH</a:t>
                      </a:r>
                    </a:p>
                  </p:txBody>
                </p:sp>
                <p:sp>
                  <p:nvSpPr>
                    <p:cNvPr id="42" name="Text Box 1123"/>
                    <p:cNvSpPr txBox="1"/>
                    <p:nvPr/>
                  </p:nvSpPr>
                  <p:spPr>
                    <a:xfrm>
                      <a:off x="11811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BCCH</a:t>
                      </a:r>
                    </a:p>
                  </p:txBody>
                </p:sp>
                <p:sp>
                  <p:nvSpPr>
                    <p:cNvPr id="43" name="Text Box 1124"/>
                    <p:cNvSpPr txBox="1"/>
                    <p:nvPr/>
                  </p:nvSpPr>
                  <p:spPr>
                    <a:xfrm>
                      <a:off x="14192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CCCH0</a:t>
                      </a:r>
                    </a:p>
                  </p:txBody>
                </p:sp>
                <p:sp>
                  <p:nvSpPr>
                    <p:cNvPr id="44" name="Text Box 1125"/>
                    <p:cNvSpPr txBox="1"/>
                    <p:nvPr/>
                  </p:nvSpPr>
                  <p:spPr>
                    <a:xfrm>
                      <a:off x="16573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CCCH0</a:t>
                      </a:r>
                    </a:p>
                  </p:txBody>
                </p:sp>
              </p:grpSp>
              <p:grpSp>
                <p:nvGrpSpPr>
                  <p:cNvPr id="19" name="Group 18"/>
                  <p:cNvGrpSpPr/>
                  <p:nvPr/>
                </p:nvGrpSpPr>
                <p:grpSpPr>
                  <a:xfrm>
                    <a:off x="1895475" y="200025"/>
                    <a:ext cx="1895475" cy="238125"/>
                    <a:chOff x="0" y="0"/>
                    <a:chExt cx="1895475" cy="238125"/>
                  </a:xfrm>
                </p:grpSpPr>
                <p:sp>
                  <p:nvSpPr>
                    <p:cNvPr id="29" name="Text Box 1127"/>
                    <p:cNvSpPr txBox="1"/>
                    <p:nvPr/>
                  </p:nvSpPr>
                  <p:spPr>
                    <a:xfrm>
                      <a:off x="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CCCH0</a:t>
                      </a:r>
                    </a:p>
                  </p:txBody>
                </p:sp>
                <p:sp>
                  <p:nvSpPr>
                    <p:cNvPr id="30" name="Text Box 1128"/>
                    <p:cNvSpPr txBox="1"/>
                    <p:nvPr/>
                  </p:nvSpPr>
                  <p:spPr>
                    <a:xfrm>
                      <a:off x="2381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CCCH0</a:t>
                      </a:r>
                    </a:p>
                  </p:txBody>
                </p:sp>
                <p:sp>
                  <p:nvSpPr>
                    <p:cNvPr id="31" name="Text Box 1129"/>
                    <p:cNvSpPr txBox="1"/>
                    <p:nvPr/>
                  </p:nvSpPr>
                  <p:spPr>
                    <a:xfrm>
                      <a:off x="4762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FCCH</a:t>
                      </a:r>
                    </a:p>
                  </p:txBody>
                </p:sp>
                <p:sp>
                  <p:nvSpPr>
                    <p:cNvPr id="32" name="Text Box 1130"/>
                    <p:cNvSpPr txBox="1"/>
                    <p:nvPr/>
                  </p:nvSpPr>
                  <p:spPr>
                    <a:xfrm>
                      <a:off x="71437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SCH</a:t>
                      </a:r>
                    </a:p>
                  </p:txBody>
                </p:sp>
                <p:sp>
                  <p:nvSpPr>
                    <p:cNvPr id="33" name="Text Box 1131"/>
                    <p:cNvSpPr txBox="1"/>
                    <p:nvPr/>
                  </p:nvSpPr>
                  <p:spPr>
                    <a:xfrm>
                      <a:off x="9525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CCCH1</a:t>
                      </a:r>
                    </a:p>
                  </p:txBody>
                </p:sp>
                <p:sp>
                  <p:nvSpPr>
                    <p:cNvPr id="34" name="Text Box 1132"/>
                    <p:cNvSpPr txBox="1"/>
                    <p:nvPr/>
                  </p:nvSpPr>
                  <p:spPr>
                    <a:xfrm>
                      <a:off x="11811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CCCH1</a:t>
                      </a:r>
                    </a:p>
                  </p:txBody>
                </p:sp>
                <p:sp>
                  <p:nvSpPr>
                    <p:cNvPr id="35" name="Text Box 1133"/>
                    <p:cNvSpPr txBox="1"/>
                    <p:nvPr/>
                  </p:nvSpPr>
                  <p:spPr>
                    <a:xfrm>
                      <a:off x="14192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CCCH1</a:t>
                      </a:r>
                    </a:p>
                  </p:txBody>
                </p:sp>
                <p:sp>
                  <p:nvSpPr>
                    <p:cNvPr id="36" name="Text Box 1134"/>
                    <p:cNvSpPr txBox="1"/>
                    <p:nvPr/>
                  </p:nvSpPr>
                  <p:spPr>
                    <a:xfrm>
                      <a:off x="16573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CCCH1</a:t>
                      </a:r>
                    </a:p>
                  </p:txBody>
                </p:sp>
              </p:grpSp>
              <p:grpSp>
                <p:nvGrpSpPr>
                  <p:cNvPr id="20" name="Group 19"/>
                  <p:cNvGrpSpPr/>
                  <p:nvPr/>
                </p:nvGrpSpPr>
                <p:grpSpPr>
                  <a:xfrm>
                    <a:off x="3790950" y="200025"/>
                    <a:ext cx="1895475" cy="238125"/>
                    <a:chOff x="0" y="0"/>
                    <a:chExt cx="1895475" cy="238125"/>
                  </a:xfrm>
                </p:grpSpPr>
                <p:sp>
                  <p:nvSpPr>
                    <p:cNvPr id="21" name="Text Box 1136"/>
                    <p:cNvSpPr txBox="1"/>
                    <p:nvPr/>
                  </p:nvSpPr>
                  <p:spPr>
                    <a:xfrm>
                      <a:off x="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CCCH2</a:t>
                      </a:r>
                    </a:p>
                  </p:txBody>
                </p:sp>
                <p:sp>
                  <p:nvSpPr>
                    <p:cNvPr id="22" name="Text Box 1137"/>
                    <p:cNvSpPr txBox="1"/>
                    <p:nvPr/>
                  </p:nvSpPr>
                  <p:spPr>
                    <a:xfrm>
                      <a:off x="2381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CCCH2</a:t>
                      </a:r>
                    </a:p>
                  </p:txBody>
                </p:sp>
                <p:sp>
                  <p:nvSpPr>
                    <p:cNvPr id="23" name="Text Box 1138"/>
                    <p:cNvSpPr txBox="1"/>
                    <p:nvPr/>
                  </p:nvSpPr>
                  <p:spPr>
                    <a:xfrm>
                      <a:off x="4762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CCCH2</a:t>
                      </a:r>
                    </a:p>
                  </p:txBody>
                </p:sp>
                <p:sp>
                  <p:nvSpPr>
                    <p:cNvPr id="24" name="Text Box 1139"/>
                    <p:cNvSpPr txBox="1"/>
                    <p:nvPr/>
                  </p:nvSpPr>
                  <p:spPr>
                    <a:xfrm>
                      <a:off x="71437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CCCH2</a:t>
                      </a:r>
                    </a:p>
                  </p:txBody>
                </p:sp>
                <p:sp>
                  <p:nvSpPr>
                    <p:cNvPr id="25" name="Text Box 1140"/>
                    <p:cNvSpPr txBox="1"/>
                    <p:nvPr/>
                  </p:nvSpPr>
                  <p:spPr>
                    <a:xfrm>
                      <a:off x="9525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FCCH</a:t>
                      </a:r>
                    </a:p>
                  </p:txBody>
                </p:sp>
                <p:sp>
                  <p:nvSpPr>
                    <p:cNvPr id="26" name="Text Box 1141"/>
                    <p:cNvSpPr txBox="1"/>
                    <p:nvPr/>
                  </p:nvSpPr>
                  <p:spPr>
                    <a:xfrm>
                      <a:off x="118110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SCH</a:t>
                      </a:r>
                    </a:p>
                  </p:txBody>
                </p:sp>
                <p:sp>
                  <p:nvSpPr>
                    <p:cNvPr id="27" name="Text Box 1142"/>
                    <p:cNvSpPr txBox="1"/>
                    <p:nvPr/>
                  </p:nvSpPr>
                  <p:spPr>
                    <a:xfrm>
                      <a:off x="1419225"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CCCH3</a:t>
                      </a:r>
                    </a:p>
                  </p:txBody>
                </p:sp>
                <p:sp>
                  <p:nvSpPr>
                    <p:cNvPr id="28" name="Text Box 1143"/>
                    <p:cNvSpPr txBox="1"/>
                    <p:nvPr/>
                  </p:nvSpPr>
                  <p:spPr>
                    <a:xfrm>
                      <a:off x="1657350" y="0"/>
                      <a:ext cx="238125" cy="2381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CCCH3</a:t>
                      </a:r>
                    </a:p>
                  </p:txBody>
                </p:sp>
              </p:grpSp>
            </p:grpSp>
          </p:grpSp>
          <p:sp>
            <p:nvSpPr>
              <p:cNvPr id="10" name="Text Box 1144"/>
              <p:cNvSpPr txBox="1"/>
              <p:nvPr/>
            </p:nvSpPr>
            <p:spPr>
              <a:xfrm>
                <a:off x="2038350" y="971550"/>
                <a:ext cx="1276350" cy="24765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b="1">
                    <a:effectLst/>
                    <a:ea typeface="Calibri"/>
                    <a:cs typeface="Times New Roman"/>
                  </a:rPr>
                  <a:t>Logical channels:</a:t>
                </a:r>
                <a:endParaRPr lang="en-US" sz="1100">
                  <a:effectLst/>
                  <a:ea typeface="Calibri"/>
                  <a:cs typeface="Times New Roman"/>
                </a:endParaRPr>
              </a:p>
            </p:txBody>
          </p:sp>
          <p:cxnSp>
            <p:nvCxnSpPr>
              <p:cNvPr id="11" name="Straight Arrow Connector 10"/>
              <p:cNvCxnSpPr/>
              <p:nvPr/>
            </p:nvCxnSpPr>
            <p:spPr>
              <a:xfrm>
                <a:off x="142875" y="485775"/>
                <a:ext cx="0" cy="7334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42900" y="485775"/>
                <a:ext cx="1695450" cy="7334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61975" y="485775"/>
                <a:ext cx="3352800" cy="7334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847725" y="485775"/>
                <a:ext cx="4933950" cy="7334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567911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of logical channels over physical channels </a:t>
            </a:r>
            <a:r>
              <a:rPr lang="en-US" dirty="0" smtClean="0"/>
              <a:t>(uplink </a:t>
            </a:r>
            <a:r>
              <a:rPr lang="en-US" dirty="0"/>
              <a:t>path)</a:t>
            </a:r>
          </a:p>
        </p:txBody>
      </p:sp>
      <p:sp>
        <p:nvSpPr>
          <p:cNvPr id="3" name="Text Placeholder 2"/>
          <p:cNvSpPr>
            <a:spLocks noGrp="1"/>
          </p:cNvSpPr>
          <p:nvPr>
            <p:ph type="body" idx="1"/>
          </p:nvPr>
        </p:nvSpPr>
        <p:spPr/>
        <p:txBody>
          <a:bodyPr/>
          <a:lstStyle/>
          <a:p>
            <a:r>
              <a:rPr lang="en-US" sz="2400" dirty="0"/>
              <a:t>On the uplink path logical channels like RACH, SDCCH </a:t>
            </a:r>
            <a:endParaRPr lang="en-US" sz="2400" dirty="0" smtClean="0"/>
          </a:p>
          <a:p>
            <a:r>
              <a:rPr lang="en-US" sz="2400" dirty="0" smtClean="0"/>
              <a:t>or </a:t>
            </a:r>
            <a:r>
              <a:rPr lang="en-US" sz="2400" dirty="0"/>
              <a:t>SACCH </a:t>
            </a:r>
            <a:r>
              <a:rPr lang="en-US" sz="2400" dirty="0" smtClean="0"/>
              <a:t>are mapped </a:t>
            </a:r>
            <a:r>
              <a:rPr lang="en-US" sz="2400" dirty="0"/>
              <a:t>on the physical channel of time </a:t>
            </a:r>
            <a:endParaRPr lang="en-US" sz="2400" dirty="0" smtClean="0"/>
          </a:p>
          <a:p>
            <a:r>
              <a:rPr lang="en-US" sz="2400" dirty="0" smtClean="0"/>
              <a:t>slot </a:t>
            </a:r>
            <a:r>
              <a:rPr lang="en-US" sz="2400" dirty="0"/>
              <a:t>0 depending on the needs of </a:t>
            </a:r>
            <a:r>
              <a:rPr lang="en-US" sz="2400" dirty="0" smtClean="0"/>
              <a:t>the mobile </a:t>
            </a:r>
          </a:p>
          <a:p>
            <a:r>
              <a:rPr lang="en-US" sz="2400" dirty="0" smtClean="0"/>
              <a:t>subscriber </a:t>
            </a:r>
            <a:r>
              <a:rPr lang="en-US" sz="2400" dirty="0"/>
              <a:t>(e.g. when the mobile subscriber wants to </a:t>
            </a:r>
            <a:endParaRPr lang="en-US" sz="2400" dirty="0" smtClean="0"/>
          </a:p>
          <a:p>
            <a:r>
              <a:rPr lang="en-US" sz="2400" dirty="0" smtClean="0"/>
              <a:t>setup </a:t>
            </a:r>
            <a:r>
              <a:rPr lang="en-US" sz="2400" dirty="0"/>
              <a:t>or </a:t>
            </a:r>
            <a:r>
              <a:rPr lang="en-US" sz="2400" dirty="0" smtClean="0"/>
              <a:t>to </a:t>
            </a:r>
            <a:r>
              <a:rPr lang="en-US" sz="2400" dirty="0"/>
              <a:t>receive a call).</a:t>
            </a:r>
          </a:p>
          <a:p>
            <a:endParaRPr lang="en-US" dirty="0"/>
          </a:p>
        </p:txBody>
      </p:sp>
    </p:spTree>
    <p:extLst>
      <p:ext uri="{BB962C8B-B14F-4D97-AF65-F5344CB8AC3E}">
        <p14:creationId xmlns:p14="http://schemas.microsoft.com/office/powerpoint/2010/main" val="1641346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1"/>
        <p:cNvGrpSpPr/>
        <p:nvPr/>
      </p:nvGrpSpPr>
      <p:grpSpPr>
        <a:xfrm>
          <a:off x="0" y="0"/>
          <a:ext cx="0" cy="0"/>
          <a:chOff x="0" y="0"/>
          <a:chExt cx="0" cy="0"/>
        </a:xfrm>
      </p:grpSpPr>
      <p:sp>
        <p:nvSpPr>
          <p:cNvPr id="312" name="Google Shape;312;p54"/>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Call Processing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6"/>
        <p:cNvGrpSpPr/>
        <p:nvPr/>
      </p:nvGrpSpPr>
      <p:grpSpPr>
        <a:xfrm>
          <a:off x="0" y="0"/>
          <a:ext cx="0" cy="0"/>
          <a:chOff x="0" y="0"/>
          <a:chExt cx="0" cy="0"/>
        </a:xfrm>
      </p:grpSpPr>
      <p:sp>
        <p:nvSpPr>
          <p:cNvPr id="317" name="Google Shape;317;p55"/>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Initializing a call</a:t>
            </a:r>
            <a:endParaRPr/>
          </a:p>
        </p:txBody>
      </p:sp>
      <p:sp>
        <p:nvSpPr>
          <p:cNvPr id="318" name="Google Shape;318;p55"/>
          <p:cNvSpPr txBox="1">
            <a:spLocks noGrp="1"/>
          </p:cNvSpPr>
          <p:nvPr>
            <p:ph type="body" idx="1"/>
          </p:nvPr>
        </p:nvSpPr>
        <p:spPr>
          <a:xfrm>
            <a:off x="990600" y="1828800"/>
            <a:ext cx="8153400" cy="5029200"/>
          </a:xfrm>
          <a:prstGeom prst="rect">
            <a:avLst/>
          </a:prstGeom>
          <a:noFill/>
          <a:ln>
            <a:noFill/>
          </a:ln>
        </p:spPr>
        <p:txBody>
          <a:bodyPr spcFirstLastPara="1" wrap="square" lIns="90000" tIns="46800" rIns="90000" bIns="46800" anchor="t" anchorCtr="0">
            <a:noAutofit/>
          </a:bodyPr>
          <a:lstStyle/>
          <a:p>
            <a:pPr marL="609600" lvl="0" indent="-608013" algn="l" rtl="0">
              <a:lnSpc>
                <a:spcPct val="90000"/>
              </a:lnSpc>
              <a:spcBef>
                <a:spcPts val="0"/>
              </a:spcBef>
              <a:spcAft>
                <a:spcPts val="0"/>
              </a:spcAft>
              <a:buClr>
                <a:srgbClr val="000000"/>
              </a:buClr>
              <a:buSzPts val="1080"/>
              <a:buFont typeface="Tahoma"/>
              <a:buNone/>
            </a:pPr>
            <a:r>
              <a:rPr lang="en-US" sz="1800" dirty="0"/>
              <a:t>1. when the cell phone is turned on it scans all the available frequencies for the control channel</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2. all the BTS in the area transmit the FCCH, SCH and BCCH that contain the BTS identification and location </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3. out of available beacon frequencies from the neighboring BTSs, the cell phone chooses the strongest signal</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4. based on the FCCH of the strongest signal, the cell phone tunes itself to the frequency of the network</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5. the phone send a registration request to the BTS</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6. the BTS sends this registration request to the MSC via the BSC</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7. the MSC queries the AUC and EIR databases and based on the reply it authenticates the cell phone</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8. the MSC also queries the HLR and VLR databases to check whether the cell is in its home area or outside</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9. if the cell phone is in its home area the MSC gets all the necessary information from the HLR if it is not in its home area, the VLR gets the information from the corresponding HLR via MSCs</a:t>
            </a:r>
            <a:endParaRPr dirty="0"/>
          </a:p>
          <a:p>
            <a:pPr marL="609600" lvl="0" indent="-608013" algn="l" rtl="0">
              <a:lnSpc>
                <a:spcPct val="90000"/>
              </a:lnSpc>
              <a:spcBef>
                <a:spcPts val="450"/>
              </a:spcBef>
              <a:spcAft>
                <a:spcPts val="0"/>
              </a:spcAft>
              <a:buClr>
                <a:srgbClr val="000000"/>
              </a:buClr>
              <a:buSzPts val="1080"/>
              <a:buFont typeface="Tahoma"/>
              <a:buNone/>
            </a:pPr>
            <a:r>
              <a:rPr lang="en-US" sz="1800" dirty="0"/>
              <a:t>10. then the cell phone is ready to receive or make calls.</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2"/>
        <p:cNvGrpSpPr/>
        <p:nvPr/>
      </p:nvGrpSpPr>
      <p:grpSpPr>
        <a:xfrm>
          <a:off x="0" y="0"/>
          <a:ext cx="0" cy="0"/>
          <a:chOff x="0" y="0"/>
          <a:chExt cx="0" cy="0"/>
        </a:xfrm>
      </p:grpSpPr>
      <p:sp>
        <p:nvSpPr>
          <p:cNvPr id="323" name="Google Shape;323;p56"/>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Initializing a call (2)</a:t>
            </a:r>
            <a:endParaRPr/>
          </a:p>
        </p:txBody>
      </p:sp>
      <p:pic>
        <p:nvPicPr>
          <p:cNvPr id="324" name="Google Shape;324;p56"/>
          <p:cNvPicPr preferRelativeResize="0"/>
          <p:nvPr/>
        </p:nvPicPr>
        <p:blipFill rotWithShape="1">
          <a:blip r:embed="rId3">
            <a:alphaModFix/>
          </a:blip>
          <a:srcRect/>
          <a:stretch/>
        </p:blipFill>
        <p:spPr>
          <a:xfrm>
            <a:off x="685800" y="2133600"/>
            <a:ext cx="7248525" cy="342106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8"/>
        <p:cNvGrpSpPr/>
        <p:nvPr/>
      </p:nvGrpSpPr>
      <p:grpSpPr>
        <a:xfrm>
          <a:off x="0" y="0"/>
          <a:ext cx="0" cy="0"/>
          <a:chOff x="0" y="0"/>
          <a:chExt cx="0" cy="0"/>
        </a:xfrm>
      </p:grpSpPr>
      <p:sp>
        <p:nvSpPr>
          <p:cNvPr id="329" name="Google Shape;329;p57"/>
          <p:cNvSpPr txBox="1">
            <a:spLocks noGrp="1"/>
          </p:cNvSpPr>
          <p:nvPr>
            <p:ph type="title" idx="4294967295"/>
          </p:nvPr>
        </p:nvSpPr>
        <p:spPr>
          <a:xfrm>
            <a:off x="1150938" y="517330"/>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a:t>Making a call</a:t>
            </a:r>
            <a:endParaRPr dirty="0"/>
          </a:p>
        </p:txBody>
      </p:sp>
      <p:sp>
        <p:nvSpPr>
          <p:cNvPr id="330" name="Google Shape;330;p57"/>
          <p:cNvSpPr txBox="1">
            <a:spLocks noGrp="1"/>
          </p:cNvSpPr>
          <p:nvPr>
            <p:ph type="body" idx="1"/>
          </p:nvPr>
        </p:nvSpPr>
        <p:spPr>
          <a:xfrm>
            <a:off x="914400" y="1577236"/>
            <a:ext cx="8229600" cy="5105400"/>
          </a:xfrm>
          <a:prstGeom prst="rect">
            <a:avLst/>
          </a:prstGeom>
          <a:noFill/>
          <a:ln>
            <a:noFill/>
          </a:ln>
        </p:spPr>
        <p:txBody>
          <a:bodyPr spcFirstLastPara="1" wrap="square" lIns="90000" tIns="46800" rIns="90000" bIns="46800" anchor="t" anchorCtr="0">
            <a:noAutofit/>
          </a:bodyPr>
          <a:lstStyle/>
          <a:p>
            <a:pPr marL="342900" lvl="0" indent="-341313" algn="l" rtl="0">
              <a:spcBef>
                <a:spcPts val="0"/>
              </a:spcBef>
              <a:spcAft>
                <a:spcPts val="0"/>
              </a:spcAft>
              <a:buClr>
                <a:srgbClr val="000000"/>
              </a:buClr>
              <a:buSzPts val="1200"/>
              <a:buFont typeface="Tahoma"/>
              <a:buNone/>
            </a:pPr>
            <a:r>
              <a:rPr lang="en-US" sz="2000" dirty="0"/>
              <a:t>1. </a:t>
            </a:r>
            <a:r>
              <a:rPr lang="en-US" sz="1600" dirty="0"/>
              <a:t>when </a:t>
            </a:r>
            <a:r>
              <a:rPr lang="en-US" sz="1600" dirty="0" smtClean="0"/>
              <a:t>the </a:t>
            </a:r>
            <a:r>
              <a:rPr lang="en-US" sz="1600" dirty="0"/>
              <a:t>phone needs to make a call it sends an access request (containing phone identification, number) using RACH to the BTS; if another cell phone tries to send an access request at the same time the messages might get corrupted, in this case both cell phones wait a random time interval before trying to send again</a:t>
            </a:r>
            <a:endParaRPr sz="1600" dirty="0"/>
          </a:p>
          <a:p>
            <a:pPr marL="342900" lvl="0" indent="-341313" algn="l" rtl="0">
              <a:spcBef>
                <a:spcPts val="500"/>
              </a:spcBef>
              <a:spcAft>
                <a:spcPts val="0"/>
              </a:spcAft>
              <a:buClr>
                <a:srgbClr val="000000"/>
              </a:buClr>
              <a:buSzPts val="1200"/>
              <a:buFont typeface="Tahoma"/>
              <a:buNone/>
            </a:pPr>
            <a:r>
              <a:rPr lang="en-US" sz="1600" dirty="0"/>
              <a:t>2. then the BTS authenticates the cell phone and sends an acknowledgement to the cell </a:t>
            </a:r>
            <a:r>
              <a:rPr lang="en-US" sz="1600" dirty="0" smtClean="0"/>
              <a:t>phone (grants MS access to an SDCCH via the AGCH)</a:t>
            </a:r>
            <a:endParaRPr sz="1600" dirty="0"/>
          </a:p>
          <a:p>
            <a:pPr marL="342900" lvl="0" indent="-341313" algn="l" rtl="0">
              <a:spcBef>
                <a:spcPts val="500"/>
              </a:spcBef>
              <a:spcAft>
                <a:spcPts val="0"/>
              </a:spcAft>
              <a:buClr>
                <a:srgbClr val="000000"/>
              </a:buClr>
              <a:buSzPts val="1200"/>
              <a:buFont typeface="Tahoma"/>
              <a:buNone/>
            </a:pPr>
            <a:r>
              <a:rPr lang="en-US" sz="1600" dirty="0"/>
              <a:t>3. the BTS </a:t>
            </a:r>
            <a:r>
              <a:rPr lang="en-US" sz="1600" dirty="0" smtClean="0"/>
              <a:t>transmits the request to the MSC via BSC using SDCCH </a:t>
            </a:r>
          </a:p>
          <a:p>
            <a:pPr marL="342900" lvl="0" indent="-341313" algn="l" rtl="0">
              <a:spcBef>
                <a:spcPts val="500"/>
              </a:spcBef>
              <a:spcAft>
                <a:spcPts val="0"/>
              </a:spcAft>
              <a:buClr>
                <a:srgbClr val="000000"/>
              </a:buClr>
              <a:buSzPts val="1200"/>
              <a:buFont typeface="Tahoma"/>
              <a:buNone/>
            </a:pPr>
            <a:r>
              <a:rPr lang="en-US" sz="1600" dirty="0" smtClean="0"/>
              <a:t>4</a:t>
            </a:r>
            <a:r>
              <a:rPr lang="en-US" sz="1600" dirty="0"/>
              <a:t>. the MSC queries HLR and VLR and based on the information obtained it routes the call to the receiver’s BSC and </a:t>
            </a:r>
            <a:r>
              <a:rPr lang="en-US" sz="1600" dirty="0" smtClean="0"/>
              <a:t>BTS</a:t>
            </a:r>
          </a:p>
          <a:p>
            <a:pPr marL="342900" lvl="0" indent="-341313" algn="l" rtl="0">
              <a:spcBef>
                <a:spcPts val="500"/>
              </a:spcBef>
              <a:spcAft>
                <a:spcPts val="0"/>
              </a:spcAft>
              <a:buClr>
                <a:srgbClr val="000000"/>
              </a:buClr>
              <a:buSzPts val="1200"/>
              <a:buFont typeface="Tahoma"/>
              <a:buNone/>
            </a:pPr>
            <a:r>
              <a:rPr lang="en-US" sz="1600" dirty="0" smtClean="0"/>
              <a:t>5. MSC orders BSC and BTS to associate a free TCH (traffic channel) with this connection (i.e. a time slot and carrier frequency) </a:t>
            </a:r>
            <a:endParaRPr sz="1600" dirty="0"/>
          </a:p>
          <a:p>
            <a:pPr marL="342900" lvl="0" indent="-341313" algn="l" rtl="0">
              <a:spcBef>
                <a:spcPts val="500"/>
              </a:spcBef>
              <a:spcAft>
                <a:spcPts val="0"/>
              </a:spcAft>
              <a:buClr>
                <a:srgbClr val="000000"/>
              </a:buClr>
              <a:buSzPts val="1200"/>
              <a:buFont typeface="Tahoma"/>
              <a:buNone/>
            </a:pPr>
            <a:r>
              <a:rPr lang="en-US" sz="1600" dirty="0"/>
              <a:t>6</a:t>
            </a:r>
            <a:r>
              <a:rPr lang="en-US" sz="1600" dirty="0" smtClean="0"/>
              <a:t>. </a:t>
            </a:r>
            <a:r>
              <a:rPr lang="en-US" sz="1600" dirty="0"/>
              <a:t>the cell phone uses the voice channel and time slot assigned to it by the BTS to communicate with the receiver</a:t>
            </a:r>
            <a:endParaRPr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4"/>
        <p:cNvGrpSpPr/>
        <p:nvPr/>
      </p:nvGrpSpPr>
      <p:grpSpPr>
        <a:xfrm>
          <a:off x="0" y="0"/>
          <a:ext cx="0" cy="0"/>
          <a:chOff x="0" y="0"/>
          <a:chExt cx="0" cy="0"/>
        </a:xfrm>
      </p:grpSpPr>
      <p:sp>
        <p:nvSpPr>
          <p:cNvPr id="335" name="Google Shape;335;p58"/>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Making a call (2)</a:t>
            </a:r>
            <a:endParaRPr/>
          </a:p>
        </p:txBody>
      </p:sp>
      <p:pic>
        <p:nvPicPr>
          <p:cNvPr id="336" name="Google Shape;336;p58"/>
          <p:cNvPicPr preferRelativeResize="0"/>
          <p:nvPr/>
        </p:nvPicPr>
        <p:blipFill rotWithShape="1">
          <a:blip r:embed="rId3">
            <a:alphaModFix/>
          </a:blip>
          <a:srcRect/>
          <a:stretch/>
        </p:blipFill>
        <p:spPr>
          <a:xfrm>
            <a:off x="762000" y="2438400"/>
            <a:ext cx="7696200" cy="352266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0"/>
        <p:cNvGrpSpPr/>
        <p:nvPr/>
      </p:nvGrpSpPr>
      <p:grpSpPr>
        <a:xfrm>
          <a:off x="0" y="0"/>
          <a:ext cx="0" cy="0"/>
          <a:chOff x="0" y="0"/>
          <a:chExt cx="0" cy="0"/>
        </a:xfrm>
      </p:grpSpPr>
      <p:sp>
        <p:nvSpPr>
          <p:cNvPr id="341" name="Google Shape;341;p59"/>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Receiving a call</a:t>
            </a:r>
            <a:endParaRPr/>
          </a:p>
        </p:txBody>
      </p:sp>
      <p:sp>
        <p:nvSpPr>
          <p:cNvPr id="342" name="Google Shape;342;p59"/>
          <p:cNvSpPr txBox="1">
            <a:spLocks noGrp="1"/>
          </p:cNvSpPr>
          <p:nvPr>
            <p:ph type="body" idx="1"/>
          </p:nvPr>
        </p:nvSpPr>
        <p:spPr>
          <a:xfrm>
            <a:off x="914400" y="1676400"/>
            <a:ext cx="8229600" cy="5181600"/>
          </a:xfrm>
          <a:prstGeom prst="rect">
            <a:avLst/>
          </a:prstGeom>
          <a:noFill/>
          <a:ln>
            <a:noFill/>
          </a:ln>
        </p:spPr>
        <p:txBody>
          <a:bodyPr spcFirstLastPara="1" wrap="square" lIns="90000" tIns="46800" rIns="90000" bIns="46800" anchor="t" anchorCtr="0">
            <a:noAutofit/>
          </a:bodyPr>
          <a:lstStyle/>
          <a:p>
            <a:pPr marL="342900" lvl="0" indent="-341313" algn="l" rtl="0">
              <a:spcBef>
                <a:spcPts val="0"/>
              </a:spcBef>
              <a:spcAft>
                <a:spcPts val="0"/>
              </a:spcAft>
              <a:buClr>
                <a:srgbClr val="000000"/>
              </a:buClr>
              <a:buSzPts val="1200"/>
              <a:buFont typeface="Tahoma"/>
              <a:buNone/>
            </a:pPr>
            <a:r>
              <a:rPr lang="en-US" sz="2000" dirty="0"/>
              <a:t>1. </a:t>
            </a:r>
            <a:r>
              <a:rPr lang="en-US" dirty="0"/>
              <a:t>when a request to deliver a call is made in the network, the MSC or the receiver’s home area queries the HLR; if the cell phone is located in its home area the call is transferred to the receiver; if the cell phone is located outside its home area, the HLR maintains a record of the VLR attached to the cell phone</a:t>
            </a:r>
            <a:endParaRPr dirty="0"/>
          </a:p>
          <a:p>
            <a:pPr marL="342900" lvl="0" indent="-341313" algn="l" rtl="0">
              <a:spcBef>
                <a:spcPts val="500"/>
              </a:spcBef>
              <a:spcAft>
                <a:spcPts val="0"/>
              </a:spcAft>
              <a:buClr>
                <a:srgbClr val="000000"/>
              </a:buClr>
              <a:buSzPts val="1200"/>
              <a:buFont typeface="Tahoma"/>
              <a:buNone/>
            </a:pPr>
            <a:r>
              <a:rPr lang="en-US" dirty="0"/>
              <a:t>2. based on this record, the MSC notes the location of the VLR and indicated the corresponding BSC about the incoming call</a:t>
            </a:r>
            <a:endParaRPr dirty="0"/>
          </a:p>
          <a:p>
            <a:pPr marL="342900" lvl="0" indent="-341313" algn="l" rtl="0">
              <a:spcBef>
                <a:spcPts val="500"/>
              </a:spcBef>
              <a:spcAft>
                <a:spcPts val="0"/>
              </a:spcAft>
              <a:buClr>
                <a:srgbClr val="000000"/>
              </a:buClr>
              <a:buSzPts val="1200"/>
              <a:buFont typeface="Tahoma"/>
              <a:buNone/>
            </a:pPr>
            <a:r>
              <a:rPr lang="en-US" dirty="0"/>
              <a:t>3. the BSC routes the call to the particular BTS which uses the paging channel to alert the phone</a:t>
            </a:r>
            <a:endParaRPr dirty="0"/>
          </a:p>
          <a:p>
            <a:pPr marL="342900" lvl="0" indent="-341313" algn="l" rtl="0">
              <a:spcBef>
                <a:spcPts val="500"/>
              </a:spcBef>
              <a:spcAft>
                <a:spcPts val="0"/>
              </a:spcAft>
              <a:buClr>
                <a:srgbClr val="000000"/>
              </a:buClr>
              <a:buSzPts val="1200"/>
              <a:buFont typeface="Tahoma"/>
              <a:buNone/>
            </a:pPr>
            <a:r>
              <a:rPr lang="en-US" dirty="0"/>
              <a:t>4. the receiver cell phone monitors the paging channel periodically and once it receives the call alert from the BTS it responds to the BTS</a:t>
            </a:r>
            <a:endParaRPr dirty="0"/>
          </a:p>
          <a:p>
            <a:pPr marL="342900" lvl="0" indent="-341313" algn="l" rtl="0">
              <a:spcBef>
                <a:spcPts val="500"/>
              </a:spcBef>
              <a:spcAft>
                <a:spcPts val="0"/>
              </a:spcAft>
              <a:buClr>
                <a:srgbClr val="000000"/>
              </a:buClr>
              <a:buSzPts val="1200"/>
              <a:buFont typeface="Tahoma"/>
              <a:buNone/>
            </a:pPr>
            <a:r>
              <a:rPr lang="en-US" dirty="0"/>
              <a:t>5. the BTS communicates a channel and a time slot for the cell phone to communicate</a:t>
            </a:r>
            <a:endParaRPr dirty="0"/>
          </a:p>
          <a:p>
            <a:pPr marL="342900" lvl="0" indent="-341313" algn="l" rtl="0">
              <a:spcBef>
                <a:spcPts val="500"/>
              </a:spcBef>
              <a:spcAft>
                <a:spcPts val="0"/>
              </a:spcAft>
              <a:buClr>
                <a:srgbClr val="000000"/>
              </a:buClr>
              <a:buSzPts val="1200"/>
              <a:buFont typeface="Tahoma"/>
              <a:buNone/>
            </a:pPr>
            <a:r>
              <a:rPr lang="en-US" dirty="0"/>
              <a:t>6. now the call is established</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6"/>
        <p:cNvGrpSpPr/>
        <p:nvPr/>
      </p:nvGrpSpPr>
      <p:grpSpPr>
        <a:xfrm>
          <a:off x="0" y="0"/>
          <a:ext cx="0" cy="0"/>
          <a:chOff x="0" y="0"/>
          <a:chExt cx="0" cy="0"/>
        </a:xfrm>
      </p:grpSpPr>
      <p:sp>
        <p:nvSpPr>
          <p:cNvPr id="347" name="Google Shape;347;p60"/>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Receiving a call (2)</a:t>
            </a:r>
            <a:endParaRPr/>
          </a:p>
        </p:txBody>
      </p:sp>
      <p:pic>
        <p:nvPicPr>
          <p:cNvPr id="348" name="Google Shape;348;p60"/>
          <p:cNvPicPr preferRelativeResize="0"/>
          <p:nvPr/>
        </p:nvPicPr>
        <p:blipFill rotWithShape="1">
          <a:blip r:embed="rId3">
            <a:alphaModFix/>
          </a:blip>
          <a:srcRect/>
          <a:stretch/>
        </p:blipFill>
        <p:spPr>
          <a:xfrm>
            <a:off x="838200" y="2057400"/>
            <a:ext cx="7772400" cy="4165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2"/>
        <p:cNvGrpSpPr/>
        <p:nvPr/>
      </p:nvGrpSpPr>
      <p:grpSpPr>
        <a:xfrm>
          <a:off x="0" y="0"/>
          <a:ext cx="0" cy="0"/>
          <a:chOff x="0" y="0"/>
          <a:chExt cx="0" cy="0"/>
        </a:xfrm>
      </p:grpSpPr>
      <p:sp>
        <p:nvSpPr>
          <p:cNvPr id="353" name="Google Shape;353;p61"/>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GSM Security</a:t>
            </a:r>
            <a:endParaRPr/>
          </a:p>
        </p:txBody>
      </p:sp>
      <p:sp>
        <p:nvSpPr>
          <p:cNvPr id="354" name="Google Shape;354;p61"/>
          <p:cNvSpPr txBox="1">
            <a:spLocks noGrp="1"/>
          </p:cNvSpPr>
          <p:nvPr>
            <p:ph type="body" idx="1"/>
          </p:nvPr>
        </p:nvSpPr>
        <p:spPr>
          <a:xfrm>
            <a:off x="1182688" y="2017713"/>
            <a:ext cx="7772400" cy="41148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920"/>
              <a:buFont typeface="Noto Sans Symbols"/>
              <a:buChar char="■"/>
            </a:pPr>
            <a:r>
              <a:rPr lang="en-US" dirty="0"/>
              <a:t>Personal Identification Number (PIN)</a:t>
            </a:r>
            <a:endParaRPr dirty="0"/>
          </a:p>
          <a:p>
            <a:pPr marL="341313" lvl="0" indent="-341313" algn="l" rtl="0">
              <a:spcBef>
                <a:spcPts val="800"/>
              </a:spcBef>
              <a:spcAft>
                <a:spcPts val="0"/>
              </a:spcAft>
              <a:buClr>
                <a:srgbClr val="3333CC"/>
              </a:buClr>
              <a:buSzPts val="1920"/>
              <a:buFont typeface="Noto Sans Symbols"/>
              <a:buChar char="■"/>
            </a:pPr>
            <a:r>
              <a:rPr lang="en-US" dirty="0"/>
              <a:t>User Authentication</a:t>
            </a:r>
            <a:endParaRPr dirty="0"/>
          </a:p>
          <a:p>
            <a:pPr marL="341313" lvl="0" indent="-341313" algn="l" rtl="0">
              <a:spcBef>
                <a:spcPts val="800"/>
              </a:spcBef>
              <a:spcAft>
                <a:spcPts val="0"/>
              </a:spcAft>
              <a:buClr>
                <a:srgbClr val="3333CC"/>
              </a:buClr>
              <a:buSzPts val="1920"/>
              <a:buFont typeface="Noto Sans Symbols"/>
              <a:buChar char="■"/>
            </a:pPr>
            <a:r>
              <a:rPr lang="en-US" dirty="0" smtClean="0"/>
              <a:t>Confidentiality (data encryption)</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8"/>
        <p:cNvGrpSpPr/>
        <p:nvPr/>
      </p:nvGrpSpPr>
      <p:grpSpPr>
        <a:xfrm>
          <a:off x="0" y="0"/>
          <a:ext cx="0" cy="0"/>
          <a:chOff x="0" y="0"/>
          <a:chExt cx="0" cy="0"/>
        </a:xfrm>
      </p:grpSpPr>
      <p:sp>
        <p:nvSpPr>
          <p:cNvPr id="359" name="Google Shape;359;p62"/>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Personal Identification Number (PIN)</a:t>
            </a:r>
            <a:endParaRPr/>
          </a:p>
        </p:txBody>
      </p:sp>
      <p:sp>
        <p:nvSpPr>
          <p:cNvPr id="360" name="Google Shape;360;p62"/>
          <p:cNvSpPr txBox="1">
            <a:spLocks noGrp="1"/>
          </p:cNvSpPr>
          <p:nvPr>
            <p:ph type="body" idx="1"/>
          </p:nvPr>
        </p:nvSpPr>
        <p:spPr>
          <a:xfrm>
            <a:off x="990600" y="1752600"/>
            <a:ext cx="81534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sz="2400"/>
              <a:t>the PIN is stored on the SIM card of the cell phone</a:t>
            </a:r>
            <a:endParaRPr/>
          </a:p>
          <a:p>
            <a:pPr marL="341313" lvl="0" indent="-341313" algn="l" rtl="0">
              <a:spcBef>
                <a:spcPts val="600"/>
              </a:spcBef>
              <a:spcAft>
                <a:spcPts val="0"/>
              </a:spcAft>
              <a:buClr>
                <a:srgbClr val="3333CC"/>
              </a:buClr>
              <a:buSzPts val="1440"/>
              <a:buFont typeface="Noto Sans Symbols"/>
              <a:buChar char="■"/>
            </a:pPr>
            <a:r>
              <a:rPr lang="en-US" sz="2400"/>
              <a:t>when the cell phone is turned on, the SIM checks the PIN; in case of 3 consecutive faulty PIN inputs a PUK (Personal Unblocking Key) is asked for</a:t>
            </a:r>
            <a:endParaRPr/>
          </a:p>
          <a:p>
            <a:pPr marL="341313" lvl="0" indent="-341313" algn="l" rtl="0">
              <a:spcBef>
                <a:spcPts val="600"/>
              </a:spcBef>
              <a:spcAft>
                <a:spcPts val="0"/>
              </a:spcAft>
              <a:buClr>
                <a:srgbClr val="3333CC"/>
              </a:buClr>
              <a:buSzPts val="1440"/>
              <a:buFont typeface="Noto Sans Symbols"/>
              <a:buChar char="■"/>
            </a:pPr>
            <a:r>
              <a:rPr lang="en-US" sz="2400"/>
              <a:t>in case of 10 faulty PUK inputs, the SIM is locked and the subscriber must ask a new SIM</a:t>
            </a:r>
            <a:endParaRPr/>
          </a:p>
          <a:p>
            <a:pPr marL="341313" lvl="0" indent="-341313" algn="l" rtl="0">
              <a:spcBef>
                <a:spcPts val="600"/>
              </a:spcBef>
              <a:spcAft>
                <a:spcPts val="0"/>
              </a:spcAft>
              <a:buClr>
                <a:srgbClr val="3333CC"/>
              </a:buClr>
              <a:buSzPts val="1440"/>
              <a:buFont typeface="Noto Sans Symbols"/>
              <a:buChar char="■"/>
            </a:pPr>
            <a:r>
              <a:rPr lang="en-US" sz="2400"/>
              <a:t>this security measure is within the cell phone and the service provider is not involved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4"/>
        <p:cNvGrpSpPr/>
        <p:nvPr/>
      </p:nvGrpSpPr>
      <p:grpSpPr>
        <a:xfrm>
          <a:off x="0" y="0"/>
          <a:ext cx="0" cy="0"/>
          <a:chOff x="0" y="0"/>
          <a:chExt cx="0" cy="0"/>
        </a:xfrm>
      </p:grpSpPr>
      <p:sp>
        <p:nvSpPr>
          <p:cNvPr id="365" name="Google Shape;365;p63"/>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a:t>User Authentication</a:t>
            </a:r>
            <a:endParaRPr/>
          </a:p>
        </p:txBody>
      </p:sp>
      <p:sp>
        <p:nvSpPr>
          <p:cNvPr id="366" name="Google Shape;366;p63"/>
          <p:cNvSpPr txBox="1">
            <a:spLocks noGrp="1"/>
          </p:cNvSpPr>
          <p:nvPr>
            <p:ph type="body" idx="1"/>
          </p:nvPr>
        </p:nvSpPr>
        <p:spPr>
          <a:xfrm>
            <a:off x="990600" y="1828800"/>
            <a:ext cx="8153400" cy="5029200"/>
          </a:xfrm>
          <a:prstGeom prst="rect">
            <a:avLst/>
          </a:prstGeom>
          <a:noFill/>
          <a:ln>
            <a:noFill/>
          </a:ln>
        </p:spPr>
        <p:txBody>
          <a:bodyPr spcFirstLastPara="1" wrap="square" lIns="90000" tIns="46800" rIns="90000" bIns="46800" anchor="t" anchorCtr="0">
            <a:noAutofit/>
          </a:bodyPr>
          <a:lstStyle/>
          <a:p>
            <a:pPr marL="341313" lvl="0" indent="-341313">
              <a:lnSpc>
                <a:spcPct val="90000"/>
              </a:lnSpc>
              <a:spcBef>
                <a:spcPts val="0"/>
              </a:spcBef>
              <a:buClr>
                <a:srgbClr val="3333CC"/>
              </a:buClr>
              <a:buSzPts val="1440"/>
              <a:buFont typeface="Noto Sans Symbols"/>
              <a:buChar char="■"/>
            </a:pPr>
            <a:r>
              <a:rPr lang="en-US" sz="2400" dirty="0"/>
              <a:t>w</a:t>
            </a:r>
            <a:r>
              <a:rPr lang="en-US" sz="2400" dirty="0" smtClean="0"/>
              <a:t>hen </a:t>
            </a:r>
            <a:r>
              <a:rPr lang="en-US" sz="2400" dirty="0"/>
              <a:t>the MS first accesses the network or when it starts a call or receives a </a:t>
            </a:r>
            <a:r>
              <a:rPr lang="en-US" sz="2400" dirty="0" smtClean="0"/>
              <a:t>call it is authenticated by the </a:t>
            </a:r>
            <a:r>
              <a:rPr lang="en-US" sz="2400" dirty="0" err="1" smtClean="0"/>
              <a:t>AuC</a:t>
            </a:r>
            <a:r>
              <a:rPr lang="en-US" sz="2400" dirty="0" smtClean="0"/>
              <a:t> </a:t>
            </a:r>
          </a:p>
          <a:p>
            <a:pPr marL="341313" lvl="0" indent="-341313">
              <a:lnSpc>
                <a:spcPct val="90000"/>
              </a:lnSpc>
              <a:spcBef>
                <a:spcPts val="0"/>
              </a:spcBef>
              <a:buClr>
                <a:srgbClr val="3333CC"/>
              </a:buClr>
              <a:buSzPts val="1440"/>
              <a:buFont typeface="Noto Sans Symbols"/>
              <a:buChar char="■"/>
            </a:pPr>
            <a:r>
              <a:rPr lang="en-US" sz="2400" dirty="0" smtClean="0"/>
              <a:t>the </a:t>
            </a:r>
            <a:r>
              <a:rPr lang="en-US" sz="2400" dirty="0" err="1" smtClean="0"/>
              <a:t>AuC</a:t>
            </a:r>
            <a:r>
              <a:rPr lang="en-US" sz="2400" dirty="0" smtClean="0"/>
              <a:t> </a:t>
            </a:r>
            <a:r>
              <a:rPr lang="en-US" sz="2400" dirty="0"/>
              <a:t>sends random data to the cell phone (RAND)</a:t>
            </a:r>
            <a:endParaRPr dirty="0"/>
          </a:p>
          <a:p>
            <a:pPr marL="341313" lvl="0" indent="-341313" algn="l" rtl="0">
              <a:lnSpc>
                <a:spcPct val="90000"/>
              </a:lnSpc>
              <a:spcBef>
                <a:spcPts val="600"/>
              </a:spcBef>
              <a:spcAft>
                <a:spcPts val="0"/>
              </a:spcAft>
              <a:buClr>
                <a:srgbClr val="3333CC"/>
              </a:buClr>
              <a:buSzPts val="1440"/>
              <a:buFont typeface="Noto Sans Symbols"/>
              <a:buChar char="■"/>
            </a:pPr>
            <a:r>
              <a:rPr lang="en-US" sz="2400" dirty="0"/>
              <a:t>each cell phone is allocated a secret key (KI</a:t>
            </a:r>
            <a:r>
              <a:rPr lang="en-US" sz="2400" dirty="0" smtClean="0"/>
              <a:t>) stored on the SIM card</a:t>
            </a:r>
            <a:endParaRPr dirty="0"/>
          </a:p>
          <a:p>
            <a:pPr marL="341313" lvl="0" indent="-341313" algn="l" rtl="0">
              <a:lnSpc>
                <a:spcPct val="90000"/>
              </a:lnSpc>
              <a:spcBef>
                <a:spcPts val="600"/>
              </a:spcBef>
              <a:spcAft>
                <a:spcPts val="0"/>
              </a:spcAft>
              <a:buClr>
                <a:srgbClr val="3333CC"/>
              </a:buClr>
              <a:buSzPts val="1440"/>
              <a:buFont typeface="Noto Sans Symbols"/>
              <a:buChar char="■"/>
            </a:pPr>
            <a:r>
              <a:rPr lang="en-US" sz="2400" dirty="0"/>
              <a:t>using RAND and KI and the A3 encryption algorithm the cell phone generates a signed result (SRES) which is then sent to the network</a:t>
            </a:r>
            <a:endParaRPr dirty="0"/>
          </a:p>
          <a:p>
            <a:pPr marL="341313" lvl="0" indent="-341313" algn="l" rtl="0">
              <a:lnSpc>
                <a:spcPct val="90000"/>
              </a:lnSpc>
              <a:spcBef>
                <a:spcPts val="600"/>
              </a:spcBef>
              <a:spcAft>
                <a:spcPts val="0"/>
              </a:spcAft>
              <a:buClr>
                <a:srgbClr val="3333CC"/>
              </a:buClr>
              <a:buSzPts val="1440"/>
              <a:buFont typeface="Noto Sans Symbols"/>
              <a:buChar char="■"/>
            </a:pPr>
            <a:r>
              <a:rPr lang="en-US" sz="2400" dirty="0"/>
              <a:t>a similar process takes place in the </a:t>
            </a:r>
            <a:r>
              <a:rPr lang="en-US" sz="2400" dirty="0" err="1" smtClean="0"/>
              <a:t>AuC</a:t>
            </a:r>
            <a:r>
              <a:rPr lang="en-US" sz="2400" dirty="0" smtClean="0"/>
              <a:t> </a:t>
            </a:r>
            <a:r>
              <a:rPr lang="en-US" sz="2400" dirty="0"/>
              <a:t>which generates a signed result specific to the cell phone</a:t>
            </a:r>
            <a:endParaRPr dirty="0"/>
          </a:p>
          <a:p>
            <a:pPr marL="341313" lvl="0" indent="-341313" algn="l" rtl="0">
              <a:lnSpc>
                <a:spcPct val="90000"/>
              </a:lnSpc>
              <a:spcBef>
                <a:spcPts val="600"/>
              </a:spcBef>
              <a:spcAft>
                <a:spcPts val="0"/>
              </a:spcAft>
              <a:buClr>
                <a:srgbClr val="3333CC"/>
              </a:buClr>
              <a:buSzPts val="1440"/>
              <a:buFont typeface="Noto Sans Symbols"/>
              <a:buChar char="■"/>
            </a:pPr>
            <a:r>
              <a:rPr lang="en-US" sz="2400" dirty="0"/>
              <a:t>the network compares its SRES with the SRES generated by the phone and in case of a match the cell phone is connected to the network</a:t>
            </a:r>
            <a:endParaRPr dirty="0"/>
          </a:p>
          <a:p>
            <a:pPr marL="341313" lvl="0" indent="-341313" algn="l" rtl="0">
              <a:lnSpc>
                <a:spcPct val="90000"/>
              </a:lnSpc>
              <a:spcBef>
                <a:spcPts val="600"/>
              </a:spcBef>
              <a:spcAft>
                <a:spcPts val="0"/>
              </a:spcAft>
              <a:buClr>
                <a:srgbClr val="3333CC"/>
              </a:buClr>
              <a:buSzPts val="1440"/>
              <a:buFont typeface="Noto Sans Symbols"/>
              <a:buNone/>
            </a:pPr>
            <a:endParaRPr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0"/>
        <p:cNvGrpSpPr/>
        <p:nvPr/>
      </p:nvGrpSpPr>
      <p:grpSpPr>
        <a:xfrm>
          <a:off x="0" y="0"/>
          <a:ext cx="0" cy="0"/>
          <a:chOff x="0" y="0"/>
          <a:chExt cx="0" cy="0"/>
        </a:xfrm>
      </p:grpSpPr>
      <p:sp>
        <p:nvSpPr>
          <p:cNvPr id="371" name="Google Shape;371;p64"/>
          <p:cNvSpPr txBox="1">
            <a:spLocks noGrp="1"/>
          </p:cNvSpPr>
          <p:nvPr>
            <p:ph type="title" idx="4294967295"/>
          </p:nvPr>
        </p:nvSpPr>
        <p:spPr>
          <a:xfrm>
            <a:off x="1150938" y="617538"/>
            <a:ext cx="7793037" cy="1143000"/>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Clr>
                <a:srgbClr val="333399"/>
              </a:buClr>
              <a:buSzPts val="3600"/>
              <a:buFont typeface="Tahoma"/>
              <a:buNone/>
            </a:pPr>
            <a:r>
              <a:rPr lang="en-US" sz="3600" dirty="0" smtClean="0"/>
              <a:t>Data encryption (confidentiality)</a:t>
            </a:r>
            <a:endParaRPr dirty="0"/>
          </a:p>
        </p:txBody>
      </p:sp>
      <p:sp>
        <p:nvSpPr>
          <p:cNvPr id="372" name="Google Shape;372;p64"/>
          <p:cNvSpPr txBox="1">
            <a:spLocks noGrp="1"/>
          </p:cNvSpPr>
          <p:nvPr>
            <p:ph type="body" idx="1"/>
          </p:nvPr>
        </p:nvSpPr>
        <p:spPr>
          <a:xfrm>
            <a:off x="990600" y="1752600"/>
            <a:ext cx="8153400" cy="5105400"/>
          </a:xfrm>
          <a:prstGeom prst="rect">
            <a:avLst/>
          </a:prstGeom>
          <a:noFill/>
          <a:ln>
            <a:noFill/>
          </a:ln>
        </p:spPr>
        <p:txBody>
          <a:bodyPr spcFirstLastPara="1" wrap="square" lIns="90000" tIns="46800" rIns="90000" bIns="46800" anchor="t" anchorCtr="0">
            <a:noAutofit/>
          </a:bodyPr>
          <a:lstStyle/>
          <a:p>
            <a:pPr marL="341313" lvl="0" indent="-341313" algn="l" rtl="0">
              <a:spcBef>
                <a:spcPts val="0"/>
              </a:spcBef>
              <a:spcAft>
                <a:spcPts val="0"/>
              </a:spcAft>
              <a:buClr>
                <a:srgbClr val="3333CC"/>
              </a:buClr>
              <a:buSzPts val="1440"/>
              <a:buFont typeface="Noto Sans Symbols"/>
              <a:buChar char="■"/>
            </a:pPr>
            <a:r>
              <a:rPr lang="en-US" dirty="0" smtClean="0"/>
              <a:t>all user conversations between MS and BTS (voice and data) is encrypted using an algorithm A5</a:t>
            </a:r>
          </a:p>
          <a:p>
            <a:pPr marL="341313" lvl="0" indent="-341313" algn="l" rtl="0">
              <a:spcBef>
                <a:spcPts val="0"/>
              </a:spcBef>
              <a:spcAft>
                <a:spcPts val="0"/>
              </a:spcAft>
              <a:buClr>
                <a:srgbClr val="3333CC"/>
              </a:buClr>
              <a:buSzPts val="1440"/>
              <a:buFont typeface="Noto Sans Symbols"/>
              <a:buChar char="■"/>
            </a:pPr>
            <a:r>
              <a:rPr lang="en-US" dirty="0"/>
              <a:t>t</a:t>
            </a:r>
            <a:r>
              <a:rPr lang="en-US" dirty="0" smtClean="0"/>
              <a:t>here are 7 versions of the A5 algorithms, most of them secret, some of them reversed engineered</a:t>
            </a:r>
          </a:p>
          <a:p>
            <a:pPr marL="341313" lvl="0" indent="-341313">
              <a:spcBef>
                <a:spcPts val="0"/>
              </a:spcBef>
              <a:buClr>
                <a:srgbClr val="3333CC"/>
              </a:buClr>
              <a:buSzPts val="1440"/>
              <a:buFont typeface="Noto Sans Symbols"/>
              <a:buChar char="■"/>
            </a:pPr>
            <a:r>
              <a:rPr lang="en-US" dirty="0"/>
              <a:t>i</a:t>
            </a:r>
            <a:r>
              <a:rPr lang="en-US" dirty="0" smtClean="0"/>
              <a:t>n A5/1, the </a:t>
            </a:r>
            <a:r>
              <a:rPr lang="en-US" dirty="0"/>
              <a:t>key stored by the SIM and the random number produced by the </a:t>
            </a:r>
            <a:r>
              <a:rPr lang="en-US" dirty="0" err="1"/>
              <a:t>AuC</a:t>
            </a:r>
            <a:r>
              <a:rPr lang="en-US" dirty="0"/>
              <a:t> </a:t>
            </a:r>
            <a:r>
              <a:rPr lang="en-US" dirty="0" smtClean="0"/>
              <a:t>(for </a:t>
            </a:r>
            <a:r>
              <a:rPr lang="en-US" dirty="0"/>
              <a:t>the authentication </a:t>
            </a:r>
            <a:r>
              <a:rPr lang="en-US" dirty="0" smtClean="0"/>
              <a:t>process) </a:t>
            </a:r>
            <a:r>
              <a:rPr lang="en-US" dirty="0"/>
              <a:t>are passed through an A8 key generation algorithm (the A8 algorithm is stored on the SIM) which produces a 64bit </a:t>
            </a:r>
            <a:r>
              <a:rPr lang="en-US" dirty="0" err="1"/>
              <a:t>chipering</a:t>
            </a:r>
            <a:r>
              <a:rPr lang="en-US" dirty="0"/>
              <a:t> key K</a:t>
            </a:r>
            <a:r>
              <a:rPr lang="en-US" dirty="0" smtClean="0"/>
              <a:t>.</a:t>
            </a:r>
          </a:p>
          <a:p>
            <a:pPr marL="341313" lvl="0" indent="-341313">
              <a:spcBef>
                <a:spcPts val="0"/>
              </a:spcBef>
              <a:buClr>
                <a:srgbClr val="3333CC"/>
              </a:buClr>
              <a:buSzPts val="1440"/>
              <a:buFont typeface="Noto Sans Symbols"/>
              <a:buChar char="■"/>
            </a:pPr>
            <a:r>
              <a:rPr lang="en-US" dirty="0" smtClean="0"/>
              <a:t>the </a:t>
            </a:r>
            <a:r>
              <a:rPr lang="en-US" dirty="0"/>
              <a:t>A5/1 algorithm takes the 64bit key K and a 22-bit long representation of the TDMA frame number and produces two 114-bit long encryption streams (one for the uplink transmission and the other for the downlink transmission) which are then </a:t>
            </a:r>
            <a:r>
              <a:rPr lang="en-US" dirty="0" err="1"/>
              <a:t>XORed</a:t>
            </a:r>
            <a:r>
              <a:rPr lang="en-US" dirty="0"/>
              <a:t> with the 114 bits of the user in a burst prior to modulation. </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A5/1 encryption algorithm</a:t>
            </a:r>
            <a:endParaRPr lang="en-US" dirty="0"/>
          </a:p>
        </p:txBody>
      </p:sp>
      <p:sp>
        <p:nvSpPr>
          <p:cNvPr id="3" name="Text Placeholder 2"/>
          <p:cNvSpPr>
            <a:spLocks noGrp="1"/>
          </p:cNvSpPr>
          <p:nvPr>
            <p:ph type="body" idx="1"/>
          </p:nvPr>
        </p:nvSpPr>
        <p:spPr/>
        <p:txBody>
          <a:bodyPr/>
          <a:lstStyle/>
          <a:p>
            <a:pPr marL="514350" indent="-285750">
              <a:buFont typeface="Arial" panose="020B0604020202020204" pitchFamily="34" charset="0"/>
              <a:buChar char="•"/>
            </a:pPr>
            <a:r>
              <a:rPr lang="en-US" sz="2400" dirty="0"/>
              <a:t>A5/1 produces the two 114-bit encryption streams by using 3 linear feedback shift registers (LFSRs</a:t>
            </a:r>
            <a:r>
              <a:rPr lang="en-US" sz="2400" dirty="0" smtClean="0"/>
              <a:t>)</a:t>
            </a:r>
          </a:p>
          <a:p>
            <a:pPr marL="514350" indent="-285750">
              <a:buFont typeface="Arial" panose="020B0604020202020204" pitchFamily="34" charset="0"/>
              <a:buChar char="•"/>
            </a:pPr>
            <a:r>
              <a:rPr lang="en-US" sz="2400" dirty="0"/>
              <a:t>a</a:t>
            </a:r>
            <a:r>
              <a:rPr lang="en-US" sz="2400" dirty="0" smtClean="0"/>
              <a:t>n </a:t>
            </a:r>
            <a:r>
              <a:rPr lang="en-US" sz="2400" dirty="0"/>
              <a:t>LFSR is a shift register whose input is a linear function of its previous </a:t>
            </a:r>
            <a:r>
              <a:rPr lang="en-US" sz="2400" dirty="0" smtClean="0"/>
              <a:t>state</a:t>
            </a:r>
          </a:p>
          <a:p>
            <a:pPr marL="514350" indent="-285750">
              <a:buFont typeface="Arial" panose="020B0604020202020204" pitchFamily="34" charset="0"/>
              <a:buChar char="•"/>
            </a:pPr>
            <a:r>
              <a:rPr lang="en-US" sz="2400" dirty="0" smtClean="0"/>
              <a:t>the </a:t>
            </a:r>
            <a:r>
              <a:rPr lang="en-US" sz="2400" dirty="0"/>
              <a:t>register’s state is decided by several tap-bits, and the linear feedback function is an XOR of all the register’s tap bits</a:t>
            </a:r>
          </a:p>
        </p:txBody>
      </p:sp>
    </p:spTree>
    <p:extLst>
      <p:ext uri="{BB962C8B-B14F-4D97-AF65-F5344CB8AC3E}">
        <p14:creationId xmlns:p14="http://schemas.microsoft.com/office/powerpoint/2010/main" val="2873973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GSM protocol stack</a:t>
            </a:r>
            <a:endParaRPr lang="en-US" dirty="0"/>
          </a:p>
        </p:txBody>
      </p:sp>
      <p:pic>
        <p:nvPicPr>
          <p:cNvPr id="1026" name="Picture 2" descr="https://www.rfwireless-world.com/images/gsm-protocol-stac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033" y="1911154"/>
            <a:ext cx="7429500"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41693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GSM protocol </a:t>
            </a:r>
            <a:r>
              <a:rPr lang="en-US" dirty="0" smtClean="0"/>
              <a:t>stack (details)</a:t>
            </a:r>
            <a:endParaRPr lang="en-US" dirty="0"/>
          </a:p>
        </p:txBody>
      </p:sp>
      <p:sp>
        <p:nvSpPr>
          <p:cNvPr id="3" name="Text Placeholder 2"/>
          <p:cNvSpPr>
            <a:spLocks noGrp="1"/>
          </p:cNvSpPr>
          <p:nvPr>
            <p:ph type="body" idx="1"/>
          </p:nvPr>
        </p:nvSpPr>
        <p:spPr>
          <a:xfrm>
            <a:off x="311700" y="1536633"/>
            <a:ext cx="8644410" cy="5127214"/>
          </a:xfrm>
        </p:spPr>
        <p:txBody>
          <a:bodyPr/>
          <a:lstStyle/>
          <a:p>
            <a:r>
              <a:rPr lang="en-US" u="sng" dirty="0" smtClean="0"/>
              <a:t>Physical layer (layer 1)</a:t>
            </a:r>
            <a:r>
              <a:rPr lang="en-US" dirty="0" smtClean="0"/>
              <a:t> : FDMA/TDMA is used between the MS and BTS, but from BTS to the rest (BSC,MSC), the data is represented digital on 64kbps on the wire</a:t>
            </a:r>
          </a:p>
          <a:p>
            <a:r>
              <a:rPr lang="en-US" u="sng" dirty="0" smtClean="0"/>
              <a:t>Layer 2</a:t>
            </a:r>
            <a:r>
              <a:rPr lang="en-US" dirty="0" smtClean="0"/>
              <a:t>: protocols </a:t>
            </a:r>
            <a:r>
              <a:rPr lang="en-US" dirty="0" err="1" smtClean="0"/>
              <a:t>LAPD,LAPDm</a:t>
            </a:r>
            <a:r>
              <a:rPr lang="en-US" dirty="0" smtClean="0"/>
              <a:t>; functions:</a:t>
            </a:r>
          </a:p>
          <a:p>
            <a:pPr lvl="1">
              <a:lnSpc>
                <a:spcPct val="100000"/>
              </a:lnSpc>
              <a:spcBef>
                <a:spcPts val="0"/>
              </a:spcBef>
            </a:pPr>
            <a:r>
              <a:rPr lang="en-US" sz="1600" dirty="0" smtClean="0"/>
              <a:t>Establish, maintain, tear down the datalink</a:t>
            </a:r>
          </a:p>
          <a:p>
            <a:pPr lvl="1">
              <a:lnSpc>
                <a:spcPct val="100000"/>
              </a:lnSpc>
              <a:spcBef>
                <a:spcPts val="0"/>
              </a:spcBef>
            </a:pPr>
            <a:r>
              <a:rPr lang="en-US" sz="1600" dirty="0" smtClean="0"/>
              <a:t>Flow control</a:t>
            </a:r>
          </a:p>
          <a:p>
            <a:pPr lvl="1">
              <a:lnSpc>
                <a:spcPct val="100000"/>
              </a:lnSpc>
              <a:spcBef>
                <a:spcPts val="0"/>
              </a:spcBef>
            </a:pPr>
            <a:r>
              <a:rPr lang="en-US" sz="1600" dirty="0" smtClean="0"/>
              <a:t>Error detection</a:t>
            </a:r>
            <a:endParaRPr lang="en-US" sz="1600" dirty="0"/>
          </a:p>
          <a:p>
            <a:r>
              <a:rPr lang="en-US" dirty="0" smtClean="0"/>
              <a:t>Maximum </a:t>
            </a:r>
            <a:r>
              <a:rPr lang="en-US" dirty="0" err="1" smtClean="0"/>
              <a:t>LAPDm</a:t>
            </a:r>
            <a:r>
              <a:rPr lang="en-US" dirty="0" smtClean="0"/>
              <a:t> frame length is 23 bytes, i.e. 184 bits</a:t>
            </a:r>
          </a:p>
          <a:p>
            <a:r>
              <a:rPr lang="en-US" dirty="0" err="1" smtClean="0"/>
              <a:t>LAPDm</a:t>
            </a:r>
            <a:r>
              <a:rPr lang="en-US" dirty="0" smtClean="0"/>
              <a:t> frame fields:</a:t>
            </a:r>
          </a:p>
          <a:p>
            <a:pPr lvl="1">
              <a:lnSpc>
                <a:spcPct val="100000"/>
              </a:lnSpc>
              <a:spcBef>
                <a:spcPts val="0"/>
              </a:spcBef>
            </a:pPr>
            <a:r>
              <a:rPr lang="en-US" sz="1600" dirty="0" smtClean="0"/>
              <a:t>Address field (8 bits)</a:t>
            </a:r>
          </a:p>
          <a:p>
            <a:pPr lvl="1">
              <a:lnSpc>
                <a:spcPct val="100000"/>
              </a:lnSpc>
              <a:spcBef>
                <a:spcPts val="0"/>
              </a:spcBef>
            </a:pPr>
            <a:r>
              <a:rPr lang="en-US" sz="1600" dirty="0" smtClean="0"/>
              <a:t>Control field (8 bits)</a:t>
            </a:r>
          </a:p>
          <a:p>
            <a:pPr lvl="1">
              <a:lnSpc>
                <a:spcPct val="100000"/>
              </a:lnSpc>
              <a:spcBef>
                <a:spcPts val="0"/>
              </a:spcBef>
            </a:pPr>
            <a:r>
              <a:rPr lang="en-US" sz="1600" dirty="0" smtClean="0"/>
              <a:t>Frame length (8 bits)</a:t>
            </a:r>
          </a:p>
          <a:p>
            <a:pPr lvl="1">
              <a:lnSpc>
                <a:spcPct val="100000"/>
              </a:lnSpc>
              <a:spcBef>
                <a:spcPts val="0"/>
              </a:spcBef>
            </a:pPr>
            <a:r>
              <a:rPr lang="en-US" sz="1600" dirty="0" err="1" smtClean="0"/>
              <a:t>Signalling</a:t>
            </a:r>
            <a:r>
              <a:rPr lang="en-US" sz="1600" dirty="0" smtClean="0"/>
              <a:t> data (23 bytes)</a:t>
            </a:r>
          </a:p>
          <a:p>
            <a:pPr lvl="1">
              <a:lnSpc>
                <a:spcPct val="100000"/>
              </a:lnSpc>
              <a:spcBef>
                <a:spcPts val="0"/>
              </a:spcBef>
            </a:pPr>
            <a:r>
              <a:rPr lang="en-US" sz="1600" dirty="0" smtClean="0"/>
              <a:t>Payload data</a:t>
            </a:r>
          </a:p>
          <a:p>
            <a:pPr marL="111125" lvl="1" indent="1588">
              <a:lnSpc>
                <a:spcPct val="100000"/>
              </a:lnSpc>
              <a:spcBef>
                <a:spcPts val="0"/>
              </a:spcBef>
              <a:buSzPct val="240000"/>
              <a:buFont typeface="Arial" panose="020B0604020202020204" pitchFamily="34" charset="0"/>
              <a:buChar char="•"/>
            </a:pPr>
            <a:r>
              <a:rPr lang="en-US" sz="1800" dirty="0"/>
              <a:t> </a:t>
            </a:r>
            <a:r>
              <a:rPr lang="en-US" sz="1800" dirty="0" smtClean="0"/>
              <a:t>  </a:t>
            </a:r>
            <a:r>
              <a:rPr lang="en-US" sz="1800" u="sng" dirty="0" smtClean="0"/>
              <a:t>Layer 3</a:t>
            </a:r>
            <a:r>
              <a:rPr lang="en-US" sz="1800" dirty="0" smtClean="0"/>
              <a:t>: includes </a:t>
            </a:r>
            <a:r>
              <a:rPr lang="en-US" sz="1800" dirty="0" err="1" smtClean="0"/>
              <a:t>signalling</a:t>
            </a:r>
            <a:r>
              <a:rPr lang="en-US" sz="1800" dirty="0" smtClean="0"/>
              <a:t> protocols:</a:t>
            </a:r>
            <a:endParaRPr lang="en-US" sz="1800" dirty="0"/>
          </a:p>
          <a:p>
            <a:pPr marL="111125" lvl="1" indent="0">
              <a:lnSpc>
                <a:spcPct val="100000"/>
              </a:lnSpc>
              <a:spcBef>
                <a:spcPts val="0"/>
              </a:spcBef>
              <a:buSzPct val="240000"/>
              <a:buNone/>
            </a:pPr>
            <a:r>
              <a:rPr lang="en-US" sz="1800" dirty="0"/>
              <a:t> </a:t>
            </a:r>
            <a:r>
              <a:rPr lang="en-US" sz="1800" dirty="0" smtClean="0"/>
              <a:t>       - Radio Resource Management (RR) – manages the allocation of radio traffic channels to MS</a:t>
            </a:r>
          </a:p>
          <a:p>
            <a:pPr marL="111125" lvl="1" indent="0">
              <a:lnSpc>
                <a:spcPct val="100000"/>
              </a:lnSpc>
              <a:spcBef>
                <a:spcPts val="0"/>
              </a:spcBef>
              <a:buSzPct val="240000"/>
              <a:buNone/>
            </a:pPr>
            <a:r>
              <a:rPr lang="en-US" sz="1800" dirty="0" smtClean="0"/>
              <a:t>        - Mobility Management (MM)</a:t>
            </a:r>
          </a:p>
          <a:p>
            <a:pPr marL="111125" lvl="1" indent="0">
              <a:lnSpc>
                <a:spcPct val="100000"/>
              </a:lnSpc>
              <a:spcBef>
                <a:spcPts val="0"/>
              </a:spcBef>
              <a:buSzPct val="240000"/>
              <a:buNone/>
            </a:pPr>
            <a:r>
              <a:rPr lang="en-US" sz="1800" dirty="0"/>
              <a:t> </a:t>
            </a:r>
            <a:r>
              <a:rPr lang="en-US" sz="1800" dirty="0" smtClean="0"/>
              <a:t>       - Connection Management (CM) </a:t>
            </a:r>
          </a:p>
        </p:txBody>
      </p:sp>
    </p:spTree>
    <p:extLst>
      <p:ext uri="{BB962C8B-B14F-4D97-AF65-F5344CB8AC3E}">
        <p14:creationId xmlns:p14="http://schemas.microsoft.com/office/powerpoint/2010/main" val="375886930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5"/>
          <p:cNvSpPr txBox="1">
            <a:spLocks noGrp="1"/>
          </p:cNvSpPr>
          <p:nvPr>
            <p:ph type="title"/>
          </p:nvPr>
        </p:nvSpPr>
        <p:spPr>
          <a:xfrm>
            <a:off x="1150938" y="617538"/>
            <a:ext cx="7993062" cy="1141412"/>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dirty="0"/>
              <a:t>4G LTE (Long Term Evolution</a:t>
            </a:r>
            <a:r>
              <a:rPr lang="en-US" dirty="0" smtClean="0"/>
              <a:t>) and LTE-Advanced</a:t>
            </a:r>
            <a:endParaRPr dirty="0"/>
          </a:p>
        </p:txBody>
      </p:sp>
      <p:sp>
        <p:nvSpPr>
          <p:cNvPr id="378" name="Google Shape;378;p65"/>
          <p:cNvSpPr txBox="1">
            <a:spLocks noGrp="1"/>
          </p:cNvSpPr>
          <p:nvPr>
            <p:ph type="body" idx="1"/>
          </p:nvPr>
        </p:nvSpPr>
        <p:spPr>
          <a:xfrm>
            <a:off x="1182688" y="2017713"/>
            <a:ext cx="7770812" cy="4113212"/>
          </a:xfrm>
          <a:prstGeom prst="rect">
            <a:avLst/>
          </a:prstGeom>
          <a:noFill/>
          <a:ln>
            <a:noFill/>
          </a:ln>
        </p:spPr>
        <p:txBody>
          <a:bodyPr spcFirstLastPara="1" wrap="square" lIns="90000" tIns="46800" rIns="90000" bIns="46800" anchor="t" anchorCtr="0">
            <a:noAutofit/>
          </a:bodyPr>
          <a:lstStyle/>
          <a:p>
            <a:pPr marL="342900" lvl="0" indent="-342900" algn="l" rtl="0">
              <a:spcBef>
                <a:spcPts val="0"/>
              </a:spcBef>
              <a:spcAft>
                <a:spcPts val="0"/>
              </a:spcAft>
              <a:buNone/>
            </a:pPr>
            <a:endParaRPr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LTE and LTE-Advanced</a:t>
            </a:r>
            <a:endParaRPr lang="en-US" dirty="0"/>
          </a:p>
        </p:txBody>
      </p:sp>
      <p:sp>
        <p:nvSpPr>
          <p:cNvPr id="3" name="Text Placeholder 2"/>
          <p:cNvSpPr>
            <a:spLocks noGrp="1"/>
          </p:cNvSpPr>
          <p:nvPr>
            <p:ph type="body" idx="1"/>
          </p:nvPr>
        </p:nvSpPr>
        <p:spPr/>
        <p:txBody>
          <a:bodyPr/>
          <a:lstStyle/>
          <a:p>
            <a:pPr marL="514350" indent="-285750">
              <a:buFont typeface="Arial" panose="020B0604020202020204" pitchFamily="34" charset="0"/>
              <a:buChar char="•"/>
            </a:pPr>
            <a:r>
              <a:rPr lang="en-US" dirty="0" smtClean="0"/>
              <a:t>LTE and LTE-Advanced are two </a:t>
            </a:r>
            <a:r>
              <a:rPr lang="en-US" dirty="0"/>
              <a:t>standards produced by 3GPP (3rd Generation Partnership Project</a:t>
            </a:r>
            <a:r>
              <a:rPr lang="en-US" dirty="0" smtClean="0"/>
              <a:t>)</a:t>
            </a:r>
          </a:p>
          <a:p>
            <a:pPr marL="514350" indent="-285750">
              <a:buFont typeface="Arial" panose="020B0604020202020204" pitchFamily="34" charset="0"/>
              <a:buChar char="•"/>
            </a:pPr>
            <a:r>
              <a:rPr lang="en-US" dirty="0" smtClean="0"/>
              <a:t>LTE is not truly 4G because it does </a:t>
            </a:r>
            <a:r>
              <a:rPr lang="en-US" dirty="0"/>
              <a:t>not respect the </a:t>
            </a:r>
            <a:r>
              <a:rPr lang="en-US" dirty="0" smtClean="0"/>
              <a:t>ITU-R’s requirements for 4G - International </a:t>
            </a:r>
            <a:r>
              <a:rPr lang="en-US" dirty="0"/>
              <a:t>Mobile Telecommunications Advanced (IMT-Advanced), </a:t>
            </a:r>
            <a:r>
              <a:rPr lang="en-US" dirty="0" smtClean="0"/>
              <a:t>but it is marketed as one</a:t>
            </a:r>
          </a:p>
          <a:p>
            <a:pPr marL="514350" indent="-285750">
              <a:buFont typeface="Arial" panose="020B0604020202020204" pitchFamily="34" charset="0"/>
              <a:buChar char="•"/>
            </a:pPr>
            <a:r>
              <a:rPr lang="en-US" dirty="0" smtClean="0"/>
              <a:t>LTE-Advanced is a candidate of 4G </a:t>
            </a:r>
          </a:p>
          <a:p>
            <a:pPr marL="514350" indent="-285750">
              <a:buFont typeface="Arial" panose="020B0604020202020204" pitchFamily="34" charset="0"/>
              <a:buChar char="•"/>
            </a:pPr>
            <a:r>
              <a:rPr lang="en-US" dirty="0" smtClean="0"/>
              <a:t>ITU-R IMT-Advanced (i.e. 4G) requirements are: 100 Mbps speed for high mobility setups (cars and trains) and 1Gbps for low mobility (pedestrians)</a:t>
            </a:r>
          </a:p>
          <a:p>
            <a:pPr marL="514350" indent="-285750">
              <a:buFont typeface="Arial" panose="020B0604020202020204" pitchFamily="34" charset="0"/>
              <a:buChar char="•"/>
            </a:pPr>
            <a:r>
              <a:rPr lang="en-US" dirty="0" smtClean="0"/>
              <a:t>another 4G </a:t>
            </a:r>
            <a:r>
              <a:rPr lang="en-US" dirty="0"/>
              <a:t>candidate is IEEE 802.16m or </a:t>
            </a:r>
            <a:r>
              <a:rPr lang="en-US" dirty="0" err="1"/>
              <a:t>WirelessMAN</a:t>
            </a:r>
            <a:r>
              <a:rPr lang="en-US" dirty="0"/>
              <a:t>-Advanced</a:t>
            </a:r>
          </a:p>
        </p:txBody>
      </p:sp>
    </p:spTree>
    <p:extLst>
      <p:ext uri="{BB962C8B-B14F-4D97-AF65-F5344CB8AC3E}">
        <p14:creationId xmlns:p14="http://schemas.microsoft.com/office/powerpoint/2010/main" val="157061034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LTE characteristics</a:t>
            </a:r>
            <a:endParaRPr lang="en-US" dirty="0"/>
          </a:p>
        </p:txBody>
      </p:sp>
      <p:sp>
        <p:nvSpPr>
          <p:cNvPr id="3" name="Text Placeholder 2"/>
          <p:cNvSpPr>
            <a:spLocks noGrp="1"/>
          </p:cNvSpPr>
          <p:nvPr>
            <p:ph type="body" idx="1"/>
          </p:nvPr>
        </p:nvSpPr>
        <p:spPr/>
        <p:txBody>
          <a:bodyPr/>
          <a:lstStyle/>
          <a:p>
            <a:r>
              <a:rPr lang="en-US" sz="2400" dirty="0" smtClean="0"/>
              <a:t>It is based on </a:t>
            </a:r>
            <a:r>
              <a:rPr lang="en-US" sz="2400" dirty="0"/>
              <a:t>Universal Mobile Telecommunication System (UMTS</a:t>
            </a:r>
            <a:r>
              <a:rPr lang="en-US" sz="2400" dirty="0" smtClean="0"/>
              <a:t>) system</a:t>
            </a:r>
          </a:p>
          <a:p>
            <a:r>
              <a:rPr lang="en-US" sz="2400" dirty="0" smtClean="0"/>
              <a:t>All interfaces between network nodes are IP based</a:t>
            </a:r>
          </a:p>
          <a:p>
            <a:r>
              <a:rPr lang="en-US" sz="2400" dirty="0" smtClean="0"/>
              <a:t>Devices support MIMO (Multiple Input Multiple Output) transmissions (the BTS can transmit several data streams over the same carrier simultaneously)</a:t>
            </a:r>
          </a:p>
          <a:p>
            <a:endParaRPr lang="en-US" sz="2400" dirty="0"/>
          </a:p>
        </p:txBody>
      </p:sp>
    </p:spTree>
    <p:extLst>
      <p:ext uri="{BB962C8B-B14F-4D97-AF65-F5344CB8AC3E}">
        <p14:creationId xmlns:p14="http://schemas.microsoft.com/office/powerpoint/2010/main" val="36627553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66"/>
          <p:cNvSpPr txBox="1">
            <a:spLocks noGrp="1"/>
          </p:cNvSpPr>
          <p:nvPr>
            <p:ph type="title"/>
          </p:nvPr>
        </p:nvSpPr>
        <p:spPr>
          <a:xfrm>
            <a:off x="1150938" y="617538"/>
            <a:ext cx="7791450" cy="1141412"/>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sz="3600" dirty="0"/>
              <a:t>High level network architecture of LTE</a:t>
            </a:r>
            <a:endParaRPr dirty="0"/>
          </a:p>
        </p:txBody>
      </p:sp>
      <p:sp>
        <p:nvSpPr>
          <p:cNvPr id="384" name="Google Shape;384;p66"/>
          <p:cNvSpPr txBox="1">
            <a:spLocks noGrp="1"/>
          </p:cNvSpPr>
          <p:nvPr>
            <p:ph type="body" idx="1"/>
          </p:nvPr>
        </p:nvSpPr>
        <p:spPr>
          <a:xfrm>
            <a:off x="1182688" y="2017713"/>
            <a:ext cx="7732712" cy="1938337"/>
          </a:xfrm>
          <a:prstGeom prst="rect">
            <a:avLst/>
          </a:prstGeom>
          <a:noFill/>
          <a:ln>
            <a:noFill/>
          </a:ln>
        </p:spPr>
        <p:txBody>
          <a:bodyPr spcFirstLastPara="1" wrap="square" lIns="90000" tIns="46800" rIns="90000" bIns="46800" anchor="t" anchorCtr="0">
            <a:noAutofit/>
          </a:bodyPr>
          <a:lstStyle/>
          <a:p>
            <a:pPr marL="342900" lvl="0" indent="-342900" algn="l" rtl="0">
              <a:spcBef>
                <a:spcPts val="0"/>
              </a:spcBef>
              <a:spcAft>
                <a:spcPts val="0"/>
              </a:spcAft>
              <a:buSzPts val="2000"/>
              <a:buFont typeface="Arial"/>
              <a:buChar char="•"/>
            </a:pPr>
            <a:r>
              <a:rPr lang="en-US" sz="2000" dirty="0"/>
              <a:t>The User Equipment (UE</a:t>
            </a:r>
            <a:r>
              <a:rPr lang="en-US" sz="2000" dirty="0" smtClean="0"/>
              <a:t>) – similar to the mobile equipment used in GSM</a:t>
            </a:r>
            <a:endParaRPr dirty="0"/>
          </a:p>
          <a:p>
            <a:pPr marL="342900" lvl="0" indent="-342900" algn="l" rtl="0">
              <a:spcBef>
                <a:spcPts val="800"/>
              </a:spcBef>
              <a:spcAft>
                <a:spcPts val="0"/>
              </a:spcAft>
              <a:buSzPts val="2000"/>
              <a:buFont typeface="Arial"/>
              <a:buChar char="•"/>
            </a:pPr>
            <a:r>
              <a:rPr lang="en-US" sz="2000" dirty="0"/>
              <a:t>The Evolved UMTS Terrestrial Radio Access Network (E-UTRAN).</a:t>
            </a:r>
            <a:endParaRPr dirty="0"/>
          </a:p>
          <a:p>
            <a:pPr marL="342900" lvl="0" indent="-342900" algn="l" rtl="0">
              <a:spcBef>
                <a:spcPts val="800"/>
              </a:spcBef>
              <a:spcAft>
                <a:spcPts val="0"/>
              </a:spcAft>
              <a:buSzPts val="2000"/>
              <a:buFont typeface="Arial"/>
              <a:buChar char="•"/>
            </a:pPr>
            <a:r>
              <a:rPr lang="en-US" sz="2000" dirty="0"/>
              <a:t>The Evolved Packet Core (EPC).</a:t>
            </a:r>
            <a:endParaRPr dirty="0"/>
          </a:p>
          <a:p>
            <a:pPr marL="342900" lvl="0" indent="-190500" algn="l" rtl="0">
              <a:spcBef>
                <a:spcPts val="800"/>
              </a:spcBef>
              <a:spcAft>
                <a:spcPts val="0"/>
              </a:spcAft>
              <a:buSzPts val="2400"/>
              <a:buFont typeface="Arial"/>
              <a:buNone/>
            </a:pPr>
            <a:endParaRPr sz="2400" dirty="0"/>
          </a:p>
        </p:txBody>
      </p:sp>
      <p:pic>
        <p:nvPicPr>
          <p:cNvPr id="385" name="Google Shape;385;p66" descr="LTE Architecture"/>
          <p:cNvPicPr preferRelativeResize="0"/>
          <p:nvPr/>
        </p:nvPicPr>
        <p:blipFill rotWithShape="1">
          <a:blip r:embed="rId3">
            <a:alphaModFix/>
          </a:blip>
          <a:srcRect/>
          <a:stretch/>
        </p:blipFill>
        <p:spPr>
          <a:xfrm>
            <a:off x="1447800" y="3956050"/>
            <a:ext cx="6799263" cy="22098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7"/>
          <p:cNvSpPr txBox="1">
            <a:spLocks noGrp="1"/>
          </p:cNvSpPr>
          <p:nvPr>
            <p:ph type="title"/>
          </p:nvPr>
        </p:nvSpPr>
        <p:spPr>
          <a:xfrm>
            <a:off x="1150938" y="617538"/>
            <a:ext cx="7791450" cy="1141412"/>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sz="3600" dirty="0"/>
              <a:t>The E-UTRAN (access network)</a:t>
            </a:r>
            <a:endParaRPr dirty="0"/>
          </a:p>
        </p:txBody>
      </p:sp>
      <p:sp>
        <p:nvSpPr>
          <p:cNvPr id="391" name="Google Shape;391;p67"/>
          <p:cNvSpPr txBox="1">
            <a:spLocks noGrp="1"/>
          </p:cNvSpPr>
          <p:nvPr>
            <p:ph type="body" idx="1"/>
          </p:nvPr>
        </p:nvSpPr>
        <p:spPr>
          <a:xfrm>
            <a:off x="1182688" y="2017713"/>
            <a:ext cx="7580312" cy="725487"/>
          </a:xfrm>
          <a:prstGeom prst="rect">
            <a:avLst/>
          </a:prstGeom>
          <a:noFill/>
          <a:ln>
            <a:noFill/>
          </a:ln>
        </p:spPr>
        <p:txBody>
          <a:bodyPr spcFirstLastPara="1" wrap="square" lIns="90000" tIns="46800" rIns="90000" bIns="46800" anchor="t" anchorCtr="0">
            <a:noAutofit/>
          </a:bodyPr>
          <a:lstStyle/>
          <a:p>
            <a:pPr marL="342900" lvl="0" indent="-342900" algn="l" rtl="0">
              <a:spcBef>
                <a:spcPts val="0"/>
              </a:spcBef>
              <a:spcAft>
                <a:spcPts val="0"/>
              </a:spcAft>
              <a:buNone/>
            </a:pPr>
            <a:endParaRPr/>
          </a:p>
        </p:txBody>
      </p:sp>
      <p:pic>
        <p:nvPicPr>
          <p:cNvPr id="392" name="Google Shape;392;p67" descr="LTE E-UTRAN"/>
          <p:cNvPicPr preferRelativeResize="0"/>
          <p:nvPr/>
        </p:nvPicPr>
        <p:blipFill rotWithShape="1">
          <a:blip r:embed="rId3">
            <a:alphaModFix/>
          </a:blip>
          <a:srcRect/>
          <a:stretch/>
        </p:blipFill>
        <p:spPr>
          <a:xfrm>
            <a:off x="1600200" y="2971800"/>
            <a:ext cx="5334000" cy="31813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E-UTRAN (details)</a:t>
            </a:r>
            <a:endParaRPr lang="en-US" dirty="0"/>
          </a:p>
        </p:txBody>
      </p:sp>
      <p:sp>
        <p:nvSpPr>
          <p:cNvPr id="3" name="Text Placeholder 2"/>
          <p:cNvSpPr>
            <a:spLocks noGrp="1"/>
          </p:cNvSpPr>
          <p:nvPr>
            <p:ph type="body" idx="1"/>
          </p:nvPr>
        </p:nvSpPr>
        <p:spPr/>
        <p:txBody>
          <a:bodyPr/>
          <a:lstStyle/>
          <a:p>
            <a:r>
              <a:rPr lang="en-US" sz="2400" dirty="0" smtClean="0"/>
              <a:t>Handles the connection between the UE (i.e. mobile phone) and the EPC</a:t>
            </a:r>
          </a:p>
          <a:p>
            <a:r>
              <a:rPr lang="en-US" sz="2400" dirty="0" smtClean="0"/>
              <a:t>Is formed by evolved base stations (</a:t>
            </a:r>
            <a:r>
              <a:rPr lang="en-US" sz="2400" dirty="0" err="1" smtClean="0"/>
              <a:t>eNB</a:t>
            </a:r>
            <a:r>
              <a:rPr lang="en-US" sz="2400" dirty="0" smtClean="0"/>
              <a:t>)</a:t>
            </a:r>
          </a:p>
          <a:p>
            <a:r>
              <a:rPr lang="en-US" sz="2400" dirty="0" smtClean="0"/>
              <a:t>Is connected to the EPC through the S1 interface</a:t>
            </a:r>
          </a:p>
          <a:p>
            <a:r>
              <a:rPr lang="en-US" sz="2400" dirty="0" smtClean="0"/>
              <a:t>An </a:t>
            </a:r>
            <a:r>
              <a:rPr lang="en-US" sz="2400" dirty="0" err="1" smtClean="0"/>
              <a:t>eNB</a:t>
            </a:r>
            <a:r>
              <a:rPr lang="en-US" sz="2400" dirty="0" smtClean="0"/>
              <a:t> can be connected to other </a:t>
            </a:r>
            <a:r>
              <a:rPr lang="en-US" sz="2400" dirty="0" err="1" smtClean="0"/>
              <a:t>eNBs</a:t>
            </a:r>
            <a:r>
              <a:rPr lang="en-US" sz="2400" dirty="0" smtClean="0"/>
              <a:t> through the X2 interface</a:t>
            </a:r>
          </a:p>
        </p:txBody>
      </p:sp>
    </p:spTree>
    <p:extLst>
      <p:ext uri="{BB962C8B-B14F-4D97-AF65-F5344CB8AC3E}">
        <p14:creationId xmlns:p14="http://schemas.microsoft.com/office/powerpoint/2010/main" val="3001144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8"/>
          <p:cNvSpPr txBox="1">
            <a:spLocks noGrp="1"/>
          </p:cNvSpPr>
          <p:nvPr>
            <p:ph type="title"/>
          </p:nvPr>
        </p:nvSpPr>
        <p:spPr>
          <a:xfrm>
            <a:off x="1150938" y="617538"/>
            <a:ext cx="7791450" cy="1141412"/>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sz="3600" dirty="0"/>
              <a:t>The EPC (Evolved Packet Core) network</a:t>
            </a:r>
            <a:endParaRPr dirty="0"/>
          </a:p>
        </p:txBody>
      </p:sp>
      <p:sp>
        <p:nvSpPr>
          <p:cNvPr id="398" name="Google Shape;398;p68"/>
          <p:cNvSpPr txBox="1">
            <a:spLocks noGrp="1"/>
          </p:cNvSpPr>
          <p:nvPr>
            <p:ph type="body" idx="1"/>
          </p:nvPr>
        </p:nvSpPr>
        <p:spPr>
          <a:xfrm>
            <a:off x="1182688" y="2017713"/>
            <a:ext cx="7732712" cy="877887"/>
          </a:xfrm>
          <a:prstGeom prst="rect">
            <a:avLst/>
          </a:prstGeom>
          <a:noFill/>
          <a:ln>
            <a:noFill/>
          </a:ln>
        </p:spPr>
        <p:txBody>
          <a:bodyPr spcFirstLastPara="1" wrap="square" lIns="90000" tIns="46800" rIns="90000" bIns="46800" anchor="t" anchorCtr="0">
            <a:noAutofit/>
          </a:bodyPr>
          <a:lstStyle/>
          <a:p>
            <a:pPr marL="342900" lvl="0" indent="-342900" algn="l" rtl="0">
              <a:spcBef>
                <a:spcPts val="0"/>
              </a:spcBef>
              <a:spcAft>
                <a:spcPts val="0"/>
              </a:spcAft>
              <a:buNone/>
            </a:pPr>
            <a:endParaRPr dirty="0"/>
          </a:p>
        </p:txBody>
      </p:sp>
      <p:pic>
        <p:nvPicPr>
          <p:cNvPr id="399" name="Google Shape;399;p68" descr="LTE EPC"/>
          <p:cNvPicPr preferRelativeResize="0"/>
          <p:nvPr/>
        </p:nvPicPr>
        <p:blipFill rotWithShape="1">
          <a:blip r:embed="rId3">
            <a:alphaModFix/>
          </a:blip>
          <a:srcRect/>
          <a:stretch/>
        </p:blipFill>
        <p:spPr>
          <a:xfrm>
            <a:off x="1828800" y="3124200"/>
            <a:ext cx="5334000" cy="32861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Evolved Packet Core details</a:t>
            </a:r>
            <a:endParaRPr lang="en-US" dirty="0"/>
          </a:p>
        </p:txBody>
      </p:sp>
      <p:sp>
        <p:nvSpPr>
          <p:cNvPr id="3" name="Text Placeholder 2"/>
          <p:cNvSpPr>
            <a:spLocks noGrp="1"/>
          </p:cNvSpPr>
          <p:nvPr>
            <p:ph type="body" idx="1"/>
          </p:nvPr>
        </p:nvSpPr>
        <p:spPr>
          <a:xfrm>
            <a:off x="311700" y="1536632"/>
            <a:ext cx="8631884" cy="4914271"/>
          </a:xfrm>
        </p:spPr>
        <p:txBody>
          <a:bodyPr/>
          <a:lstStyle/>
          <a:p>
            <a:r>
              <a:rPr lang="en-US" sz="2400" dirty="0" smtClean="0"/>
              <a:t>HSS (Home Subscriber Server) – is just a database of all subscribers of the network with details for those subscribers</a:t>
            </a:r>
          </a:p>
          <a:p>
            <a:r>
              <a:rPr lang="en-US" sz="2400" dirty="0" smtClean="0"/>
              <a:t>P-GW (Packet Data Network Gateway) – links the cellular network with other networks (e.g. IP networks like the Internet); IP address allocation for UE, </a:t>
            </a:r>
            <a:r>
              <a:rPr lang="en-US" sz="2400" dirty="0" err="1" smtClean="0"/>
              <a:t>QoS</a:t>
            </a:r>
            <a:r>
              <a:rPr lang="en-US" sz="2400" dirty="0" smtClean="0"/>
              <a:t> </a:t>
            </a:r>
            <a:r>
              <a:rPr lang="en-US" sz="2400" dirty="0" smtClean="0"/>
              <a:t>enforcement on flows</a:t>
            </a:r>
            <a:endParaRPr lang="en-US" sz="2400" dirty="0" smtClean="0"/>
          </a:p>
          <a:p>
            <a:r>
              <a:rPr lang="en-US" sz="2400" dirty="0" smtClean="0"/>
              <a:t>S-GW (Serving Gateway) – a router that forwards </a:t>
            </a:r>
            <a:r>
              <a:rPr lang="en-US" sz="2400" dirty="0" smtClean="0"/>
              <a:t>IP packets between </a:t>
            </a:r>
            <a:r>
              <a:rPr lang="en-US" sz="2400" dirty="0" err="1" smtClean="0"/>
              <a:t>eNBs</a:t>
            </a:r>
            <a:r>
              <a:rPr lang="en-US" sz="2400" dirty="0" smtClean="0"/>
              <a:t> and P-GW</a:t>
            </a:r>
          </a:p>
          <a:p>
            <a:r>
              <a:rPr lang="en-US" sz="2400" dirty="0" smtClean="0"/>
              <a:t>MME (Mobile Management Entity) – controls the high level operations of the cellular network (Non-Access Stratum. NAS, protocols)</a:t>
            </a:r>
            <a:endParaRPr lang="en-US" sz="2400" dirty="0"/>
          </a:p>
        </p:txBody>
      </p:sp>
    </p:spTree>
    <p:extLst>
      <p:ext uri="{BB962C8B-B14F-4D97-AF65-F5344CB8AC3E}">
        <p14:creationId xmlns:p14="http://schemas.microsoft.com/office/powerpoint/2010/main" val="8557703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9"/>
          <p:cNvSpPr txBox="1">
            <a:spLocks noGrp="1"/>
          </p:cNvSpPr>
          <p:nvPr>
            <p:ph type="title"/>
          </p:nvPr>
        </p:nvSpPr>
        <p:spPr>
          <a:xfrm>
            <a:off x="1150938" y="617538"/>
            <a:ext cx="7791450" cy="1141412"/>
          </a:xfrm>
          <a:prstGeom prst="rect">
            <a:avLst/>
          </a:prstGeom>
          <a:noFill/>
          <a:ln>
            <a:noFill/>
          </a:ln>
        </p:spPr>
        <p:txBody>
          <a:bodyPr spcFirstLastPara="1" wrap="square" lIns="90000" tIns="46800" rIns="90000" bIns="46800" anchor="b" anchorCtr="0">
            <a:noAutofit/>
          </a:bodyPr>
          <a:lstStyle/>
          <a:p>
            <a:pPr marL="0" lvl="0" indent="0" algn="l" rtl="0">
              <a:spcBef>
                <a:spcPts val="0"/>
              </a:spcBef>
              <a:spcAft>
                <a:spcPts val="0"/>
              </a:spcAft>
              <a:buNone/>
            </a:pPr>
            <a:r>
              <a:rPr lang="en-US" sz="3600" dirty="0"/>
              <a:t>LTE Protocol </a:t>
            </a:r>
            <a:r>
              <a:rPr lang="en-US" sz="3600" dirty="0" smtClean="0"/>
              <a:t>Layers (general)</a:t>
            </a:r>
            <a:endParaRPr dirty="0"/>
          </a:p>
        </p:txBody>
      </p:sp>
      <p:pic>
        <p:nvPicPr>
          <p:cNvPr id="405" name="Google Shape;405;p69" descr="https://www.tutorialspoint.com/lte/images/lte_protocol_layers.jpg"/>
          <p:cNvPicPr preferRelativeResize="0"/>
          <p:nvPr/>
        </p:nvPicPr>
        <p:blipFill rotWithShape="1">
          <a:blip r:embed="rId3">
            <a:alphaModFix/>
          </a:blip>
          <a:srcRect/>
          <a:stretch/>
        </p:blipFill>
        <p:spPr>
          <a:xfrm>
            <a:off x="1981200" y="2133600"/>
            <a:ext cx="5334000" cy="44481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LTE Protocol Layers (details)</a:t>
            </a:r>
            <a:endParaRPr lang="en-US" dirty="0"/>
          </a:p>
        </p:txBody>
      </p:sp>
      <p:sp>
        <p:nvSpPr>
          <p:cNvPr id="3" name="Text Placeholder 2"/>
          <p:cNvSpPr>
            <a:spLocks noGrp="1"/>
          </p:cNvSpPr>
          <p:nvPr>
            <p:ph type="body" idx="1"/>
          </p:nvPr>
        </p:nvSpPr>
        <p:spPr>
          <a:xfrm>
            <a:off x="311700" y="1311164"/>
            <a:ext cx="8832300" cy="5546835"/>
          </a:xfrm>
        </p:spPr>
        <p:txBody>
          <a:bodyPr/>
          <a:lstStyle/>
          <a:p>
            <a:r>
              <a:rPr lang="en-US" sz="2000" dirty="0" smtClean="0"/>
              <a:t>The Physical layer provides modulation over electromagnetic waves</a:t>
            </a:r>
          </a:p>
          <a:p>
            <a:r>
              <a:rPr lang="en-US" sz="2000" dirty="0" smtClean="0"/>
              <a:t>MAC (Medium Access Control) groups logical channels in transport blocks which are then mapped over physical transport channels</a:t>
            </a:r>
          </a:p>
          <a:p>
            <a:r>
              <a:rPr lang="en-US" sz="2000" dirty="0" smtClean="0"/>
              <a:t>RLC (Radio Link Control) – transfers upper PDUs (Protocol Data Unit) from upper layers to MAC; it also deals with error </a:t>
            </a:r>
            <a:r>
              <a:rPr lang="en-US" sz="2000" dirty="0" smtClean="0"/>
              <a:t>correction, segmentation/assembly, ARQ (Automatic Repeat Request) – if packet is not acknowledged by receiver, it is automatically retransmitted</a:t>
            </a:r>
            <a:endParaRPr lang="en-US" sz="2000" dirty="0" smtClean="0"/>
          </a:p>
          <a:p>
            <a:r>
              <a:rPr lang="en-US" sz="2000" dirty="0" smtClean="0"/>
              <a:t>PDCP (Packet Data Convergence Protocol) – deals with IP header compression/decompression, data encryption, in sequence delivery of packets to upper layers</a:t>
            </a:r>
          </a:p>
          <a:p>
            <a:r>
              <a:rPr lang="en-US" sz="2000" dirty="0" smtClean="0"/>
              <a:t>RRC (Radio Resource Control) -  establish, release and management of connections between the UE and </a:t>
            </a:r>
            <a:r>
              <a:rPr lang="en-US" sz="2000" dirty="0" err="1" smtClean="0"/>
              <a:t>eNBs</a:t>
            </a:r>
            <a:endParaRPr lang="en-US" sz="2000" dirty="0"/>
          </a:p>
        </p:txBody>
      </p:sp>
    </p:spTree>
    <p:extLst>
      <p:ext uri="{BB962C8B-B14F-4D97-AF65-F5344CB8AC3E}">
        <p14:creationId xmlns:p14="http://schemas.microsoft.com/office/powerpoint/2010/main" val="36637958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LTE Protocol stack above IP level</a:t>
            </a:r>
            <a:endParaRPr lang="en-US" dirty="0"/>
          </a:p>
        </p:txBody>
      </p:sp>
      <p:sp>
        <p:nvSpPr>
          <p:cNvPr id="3" name="Text Placeholder 2"/>
          <p:cNvSpPr>
            <a:spLocks noGrp="1"/>
          </p:cNvSpPr>
          <p:nvPr>
            <p:ph type="body" idx="1"/>
          </p:nvPr>
        </p:nvSpPr>
        <p:spPr/>
        <p:txBody>
          <a:bodyPr/>
          <a:lstStyle/>
          <a:p>
            <a:r>
              <a:rPr lang="en-US" dirty="0" smtClean="0"/>
              <a:t>The S1 network interface that connects </a:t>
            </a:r>
            <a:r>
              <a:rPr lang="en-US" dirty="0" err="1" smtClean="0"/>
              <a:t>eNB</a:t>
            </a:r>
            <a:r>
              <a:rPr lang="en-US" dirty="0" smtClean="0"/>
              <a:t> to EPC is split into: control plane and the user plane</a:t>
            </a:r>
          </a:p>
          <a:p>
            <a:r>
              <a:rPr lang="en-US" dirty="0" smtClean="0"/>
              <a:t>On the control plane, packets use SCTP (Stream Control Transmission Protocol) on top of IP</a:t>
            </a:r>
          </a:p>
          <a:p>
            <a:r>
              <a:rPr lang="en-US" dirty="0" smtClean="0"/>
              <a:t>On the user plane, packets use GTP-U (GPRS Tunneling Protocol User plane) on top of UDP which is on top of IP</a:t>
            </a:r>
          </a:p>
          <a:p>
            <a:r>
              <a:rPr lang="en-US" dirty="0" smtClean="0"/>
              <a:t>Below IP, there are the layer 2 and layer 1 protocols presented on the previous slide (OFDM, MAC, RLC, PDCP).</a:t>
            </a:r>
          </a:p>
          <a:p>
            <a:endParaRPr lang="en-US" dirty="0"/>
          </a:p>
        </p:txBody>
      </p:sp>
    </p:spTree>
    <p:extLst>
      <p:ext uri="{BB962C8B-B14F-4D97-AF65-F5344CB8AC3E}">
        <p14:creationId xmlns:p14="http://schemas.microsoft.com/office/powerpoint/2010/main" val="5111843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channels</a:t>
            </a:r>
            <a:endParaRPr lang="en-US" dirty="0"/>
          </a:p>
        </p:txBody>
      </p:sp>
      <p:sp>
        <p:nvSpPr>
          <p:cNvPr id="3" name="Text Placeholder 2"/>
          <p:cNvSpPr>
            <a:spLocks noGrp="1"/>
          </p:cNvSpPr>
          <p:nvPr>
            <p:ph type="body" idx="1"/>
          </p:nvPr>
        </p:nvSpPr>
        <p:spPr/>
        <p:txBody>
          <a:bodyPr/>
          <a:lstStyle/>
          <a:p>
            <a:r>
              <a:rPr lang="en-US" sz="2000" dirty="0" smtClean="0"/>
              <a:t>like in GSM, logical channels define the message type</a:t>
            </a:r>
          </a:p>
          <a:p>
            <a:r>
              <a:rPr lang="en-US" sz="2000" dirty="0" smtClean="0"/>
              <a:t>There are control channels and traffic channels</a:t>
            </a:r>
          </a:p>
          <a:p>
            <a:r>
              <a:rPr lang="en-US" sz="2000" dirty="0" smtClean="0"/>
              <a:t>Common control channels are used for controlling multiple subscribers, dedicated control channels are used for controlling only one subscriber</a:t>
            </a:r>
          </a:p>
          <a:p>
            <a:r>
              <a:rPr lang="en-US" sz="2000" dirty="0" smtClean="0"/>
              <a:t>Control </a:t>
            </a:r>
            <a:r>
              <a:rPr lang="en-US" sz="2000" dirty="0"/>
              <a:t>channel examples: Broadcast Control Channel (BCCH), Paging Control Channel (PCCH), Common Control Channel	(CCCH), Dedicated Control Channel (DCCH), Multicast Control </a:t>
            </a:r>
            <a:r>
              <a:rPr lang="en-US" sz="2000" dirty="0" smtClean="0"/>
              <a:t>Channel (</a:t>
            </a:r>
            <a:r>
              <a:rPr lang="en-US" sz="2000" dirty="0"/>
              <a:t>MCCH), Dedicated Traffic Channel (DTCH), Multicast Traffic </a:t>
            </a:r>
            <a:r>
              <a:rPr lang="en-US" sz="2000" dirty="0" smtClean="0"/>
              <a:t>Channel (MTCH)</a:t>
            </a:r>
          </a:p>
          <a:p>
            <a:endParaRPr lang="en-US" sz="2000" dirty="0"/>
          </a:p>
        </p:txBody>
      </p:sp>
    </p:spTree>
    <p:extLst>
      <p:ext uri="{BB962C8B-B14F-4D97-AF65-F5344CB8AC3E}">
        <p14:creationId xmlns:p14="http://schemas.microsoft.com/office/powerpoint/2010/main" val="18779564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channels</a:t>
            </a:r>
            <a:endParaRPr lang="en-US" dirty="0"/>
          </a:p>
        </p:txBody>
      </p:sp>
      <p:sp>
        <p:nvSpPr>
          <p:cNvPr id="3" name="Text Placeholder 2"/>
          <p:cNvSpPr>
            <a:spLocks noGrp="1"/>
          </p:cNvSpPr>
          <p:nvPr>
            <p:ph type="body" idx="1"/>
          </p:nvPr>
        </p:nvSpPr>
        <p:spPr/>
        <p:txBody>
          <a:bodyPr/>
          <a:lstStyle/>
          <a:p>
            <a:r>
              <a:rPr lang="en-US" sz="2000" dirty="0" smtClean="0"/>
              <a:t>Transport channels define the message type between the MAC and the physical layer</a:t>
            </a:r>
          </a:p>
          <a:p>
            <a:r>
              <a:rPr lang="en-US" sz="2000" dirty="0" smtClean="0"/>
              <a:t>Examples of transport channels:</a:t>
            </a:r>
          </a:p>
          <a:p>
            <a:pPr lvl="1">
              <a:lnSpc>
                <a:spcPct val="150000"/>
              </a:lnSpc>
              <a:spcBef>
                <a:spcPts val="0"/>
              </a:spcBef>
            </a:pPr>
            <a:r>
              <a:rPr lang="en-US" sz="1600" dirty="0"/>
              <a:t>Broadcast Channel (BCH)		 </a:t>
            </a:r>
          </a:p>
          <a:p>
            <a:pPr lvl="1">
              <a:lnSpc>
                <a:spcPct val="150000"/>
              </a:lnSpc>
              <a:spcBef>
                <a:spcPts val="0"/>
              </a:spcBef>
            </a:pPr>
            <a:r>
              <a:rPr lang="en-US" sz="1600" dirty="0"/>
              <a:t>Downlink Shared </a:t>
            </a:r>
            <a:r>
              <a:rPr lang="en-US" sz="1600" dirty="0" smtClean="0"/>
              <a:t>Channel (DL-SCH</a:t>
            </a:r>
            <a:r>
              <a:rPr lang="en-US" sz="1600" dirty="0"/>
              <a:t>)	 </a:t>
            </a:r>
          </a:p>
          <a:p>
            <a:pPr lvl="1">
              <a:lnSpc>
                <a:spcPct val="150000"/>
              </a:lnSpc>
              <a:spcBef>
                <a:spcPts val="0"/>
              </a:spcBef>
            </a:pPr>
            <a:r>
              <a:rPr lang="en-US" sz="1600" dirty="0"/>
              <a:t>Paging Channel (PCH) </a:t>
            </a:r>
          </a:p>
          <a:p>
            <a:pPr lvl="1">
              <a:lnSpc>
                <a:spcPct val="150000"/>
              </a:lnSpc>
              <a:spcBef>
                <a:spcPts val="0"/>
              </a:spcBef>
            </a:pPr>
            <a:r>
              <a:rPr lang="en-US" sz="1600" dirty="0"/>
              <a:t>Multicast Channel (MCH)	 </a:t>
            </a:r>
          </a:p>
          <a:p>
            <a:pPr lvl="1">
              <a:lnSpc>
                <a:spcPct val="150000"/>
              </a:lnSpc>
              <a:spcBef>
                <a:spcPts val="0"/>
              </a:spcBef>
            </a:pPr>
            <a:r>
              <a:rPr lang="en-US" sz="1600" dirty="0"/>
              <a:t>Uplink Shared Channel (UL-SCH)</a:t>
            </a:r>
          </a:p>
          <a:p>
            <a:pPr lvl="1">
              <a:lnSpc>
                <a:spcPct val="150000"/>
              </a:lnSpc>
              <a:spcBef>
                <a:spcPts val="0"/>
              </a:spcBef>
            </a:pPr>
            <a:r>
              <a:rPr lang="en-US" sz="1600" dirty="0"/>
              <a:t>Random Access Channel (RACH)</a:t>
            </a:r>
          </a:p>
        </p:txBody>
      </p:sp>
    </p:spTree>
    <p:extLst>
      <p:ext uri="{BB962C8B-B14F-4D97-AF65-F5344CB8AC3E}">
        <p14:creationId xmlns:p14="http://schemas.microsoft.com/office/powerpoint/2010/main" val="39121448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channels</a:t>
            </a:r>
            <a:endParaRPr lang="en-US" dirty="0"/>
          </a:p>
        </p:txBody>
      </p:sp>
      <p:sp>
        <p:nvSpPr>
          <p:cNvPr id="3" name="Text Placeholder 2"/>
          <p:cNvSpPr>
            <a:spLocks noGrp="1"/>
          </p:cNvSpPr>
          <p:nvPr>
            <p:ph type="body" idx="1"/>
          </p:nvPr>
        </p:nvSpPr>
        <p:spPr>
          <a:xfrm>
            <a:off x="311700" y="1536633"/>
            <a:ext cx="8694514" cy="5202370"/>
          </a:xfrm>
        </p:spPr>
        <p:txBody>
          <a:bodyPr/>
          <a:lstStyle/>
          <a:p>
            <a:r>
              <a:rPr lang="en-US" sz="2000" dirty="0" smtClean="0"/>
              <a:t>They are physical data channels and physical control channels</a:t>
            </a:r>
          </a:p>
          <a:p>
            <a:r>
              <a:rPr lang="en-US" sz="2000" dirty="0" smtClean="0"/>
              <a:t>They define the modulation of binary data on radio waves</a:t>
            </a:r>
          </a:p>
          <a:p>
            <a:r>
              <a:rPr lang="en-US" sz="2000" dirty="0" smtClean="0"/>
              <a:t>OFDM (Orthogonal Frequency-Division Multiplexing) is used for modulation</a:t>
            </a:r>
          </a:p>
          <a:p>
            <a:r>
              <a:rPr lang="en-US" sz="2000" dirty="0" smtClean="0"/>
              <a:t>From the binary data of the transport channel blocks a symbol ready to be transmitted over air is formed</a:t>
            </a:r>
          </a:p>
          <a:p>
            <a:r>
              <a:rPr lang="en-US" sz="2000" dirty="0" smtClean="0"/>
              <a:t>Symbols are grouped into resource blocks</a:t>
            </a:r>
          </a:p>
          <a:p>
            <a:r>
              <a:rPr lang="en-US" sz="2000" dirty="0" smtClean="0"/>
              <a:t>When transmitted (modulated) a data symbols are spread over several resource blocks</a:t>
            </a:r>
          </a:p>
          <a:p>
            <a:r>
              <a:rPr lang="en-US" sz="2000" dirty="0" smtClean="0"/>
              <a:t>A resource block occupies one 180KHz subcarrier and a 0.5ms time </a:t>
            </a:r>
            <a:r>
              <a:rPr lang="en-US" sz="2000" dirty="0" smtClean="0"/>
              <a:t>slot</a:t>
            </a:r>
          </a:p>
          <a:p>
            <a:r>
              <a:rPr lang="en-US" sz="2000" dirty="0" smtClean="0"/>
              <a:t>Examples:</a:t>
            </a:r>
          </a:p>
          <a:p>
            <a:pPr lvl="1">
              <a:lnSpc>
                <a:spcPct val="100000"/>
              </a:lnSpc>
              <a:spcBef>
                <a:spcPts val="0"/>
              </a:spcBef>
            </a:pPr>
            <a:r>
              <a:rPr lang="en-US" sz="1600" dirty="0"/>
              <a:t>PDSCH - Physical Downlink Shared Channel</a:t>
            </a:r>
            <a:r>
              <a:rPr lang="en-US" sz="1600" dirty="0" smtClean="0"/>
              <a:t>; used </a:t>
            </a:r>
            <a:r>
              <a:rPr lang="en-US" sz="1600" dirty="0"/>
              <a:t>to carry high speed data/multimedia </a:t>
            </a:r>
          </a:p>
          <a:p>
            <a:pPr lvl="1">
              <a:lnSpc>
                <a:spcPct val="100000"/>
              </a:lnSpc>
              <a:spcBef>
                <a:spcPts val="0"/>
              </a:spcBef>
            </a:pPr>
            <a:r>
              <a:rPr lang="en-US" sz="1600" dirty="0"/>
              <a:t>PDCCH - Physical Downlink Control Channel; used to carry UE specific control information. </a:t>
            </a:r>
          </a:p>
          <a:p>
            <a:pPr lvl="1">
              <a:lnSpc>
                <a:spcPct val="100000"/>
              </a:lnSpc>
              <a:spcBef>
                <a:spcPts val="0"/>
              </a:spcBef>
            </a:pPr>
            <a:r>
              <a:rPr lang="en-US" sz="1600" dirty="0"/>
              <a:t>CCPCH - Common Control Physical Channel; carries cell-wide control information.</a:t>
            </a:r>
            <a:endParaRPr lang="en-US" sz="1600" dirty="0"/>
          </a:p>
        </p:txBody>
      </p:sp>
    </p:spTree>
    <p:extLst>
      <p:ext uri="{BB962C8B-B14F-4D97-AF65-F5344CB8AC3E}">
        <p14:creationId xmlns:p14="http://schemas.microsoft.com/office/powerpoint/2010/main" val="16096809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chan. -&gt; Transport chan. -&gt; Physical chan.</a:t>
            </a:r>
            <a:endParaRPr lang="en-US" dirty="0"/>
          </a:p>
        </p:txBody>
      </p:sp>
      <p:pic>
        <p:nvPicPr>
          <p:cNvPr id="2050" name="Picture 2" descr="https://www.rfwireless-world.com/images/LTE-logical-transport-physical-channel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194" y="2015342"/>
            <a:ext cx="8027812" cy="33959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102290" y="5649238"/>
            <a:ext cx="4521896" cy="307777"/>
          </a:xfrm>
          <a:prstGeom prst="rect">
            <a:avLst/>
          </a:prstGeom>
          <a:noFill/>
        </p:spPr>
        <p:txBody>
          <a:bodyPr wrap="square" rtlCol="0">
            <a:spAutoFit/>
          </a:bodyPr>
          <a:lstStyle/>
          <a:p>
            <a:r>
              <a:rPr lang="en-US" dirty="0"/>
              <a:t>https://www.rfwireless-world.com/</a:t>
            </a:r>
          </a:p>
        </p:txBody>
      </p:sp>
    </p:spTree>
    <p:extLst>
      <p:ext uri="{BB962C8B-B14F-4D97-AF65-F5344CB8AC3E}">
        <p14:creationId xmlns:p14="http://schemas.microsoft.com/office/powerpoint/2010/main" val="3663302375"/>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3382</TotalTime>
  <Words>5025</Words>
  <Application>Microsoft Office PowerPoint</Application>
  <PresentationFormat>On-screen Show (4:3)</PresentationFormat>
  <Paragraphs>394</Paragraphs>
  <Slides>74</Slides>
  <Notes>55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Arial</vt:lpstr>
      <vt:lpstr>Tahoma</vt:lpstr>
      <vt:lpstr>Times New Roman</vt:lpstr>
      <vt:lpstr>Proxima Nova</vt:lpstr>
      <vt:lpstr>Calibri</vt:lpstr>
      <vt:lpstr>Noto Sans Symbols</vt:lpstr>
      <vt:lpstr>Spearmint</vt:lpstr>
      <vt:lpstr>Cellular Communication</vt:lpstr>
      <vt:lpstr>Evolution to cellular networks – communication anytime, anywhere</vt:lpstr>
      <vt:lpstr>Cellular systems generations</vt:lpstr>
      <vt:lpstr>Frequency reuse</vt:lpstr>
      <vt:lpstr>Network Cells</vt:lpstr>
      <vt:lpstr>Network cells (2)</vt:lpstr>
      <vt:lpstr>Types of cells </vt:lpstr>
      <vt:lpstr>Other cellular concepts</vt:lpstr>
      <vt:lpstr>Multiple access schemes</vt:lpstr>
      <vt:lpstr>The control channel</vt:lpstr>
      <vt:lpstr>Cellular services</vt:lpstr>
      <vt:lpstr>Global System for Mobile Communication (GSM)</vt:lpstr>
      <vt:lpstr>GSM characteristics</vt:lpstr>
      <vt:lpstr>Cellular network components</vt:lpstr>
      <vt:lpstr>Cellular network components (2)</vt:lpstr>
      <vt:lpstr>Components of a cellular phone (MSU – Mobile Subscriber Unit)</vt:lpstr>
      <vt:lpstr>Setting up a call process</vt:lpstr>
      <vt:lpstr>Making a call process</vt:lpstr>
      <vt:lpstr>Receiving a call process</vt:lpstr>
      <vt:lpstr>Subscriber Identity Module (SIM) card</vt:lpstr>
      <vt:lpstr>International Mobile Equipment Identity (IMEI) key</vt:lpstr>
      <vt:lpstr>International Mobile Subscriber Identity (IMSI) key</vt:lpstr>
      <vt:lpstr>Temporary Mobile Subscriber Identity (TMSI) key</vt:lpstr>
      <vt:lpstr>GSM architecture</vt:lpstr>
      <vt:lpstr>Base Station Subsystem (BSS)</vt:lpstr>
      <vt:lpstr>HLR, VLR and EIR registers</vt:lpstr>
      <vt:lpstr>Authentication Center (AuC)</vt:lpstr>
      <vt:lpstr>GSM Mobile Switching Center (MSC)</vt:lpstr>
      <vt:lpstr>GSM Channels</vt:lpstr>
      <vt:lpstr>GSM channel divisions</vt:lpstr>
      <vt:lpstr>GSM channel divisions (2)</vt:lpstr>
      <vt:lpstr>GSM uplink/downlink frequency bands used</vt:lpstr>
      <vt:lpstr>GSM Access Scheme and Channel Structure</vt:lpstr>
      <vt:lpstr>Physical vs. logical channels</vt:lpstr>
      <vt:lpstr>GSM. The structure of a frame and a time slot from a frame</vt:lpstr>
      <vt:lpstr>GSM multiframe structure</vt:lpstr>
      <vt:lpstr>GSM frames, multiframes and superframes</vt:lpstr>
      <vt:lpstr>GSM Control Channel</vt:lpstr>
      <vt:lpstr>Broadcast Control Channels</vt:lpstr>
      <vt:lpstr>Common Control Channels</vt:lpstr>
      <vt:lpstr>Dedicated Control Channel</vt:lpstr>
      <vt:lpstr>Traffic Channel</vt:lpstr>
      <vt:lpstr>Mapping of logical channels over physical channels (downlink path)</vt:lpstr>
      <vt:lpstr>Mapping of logical channels over physical channels (downlink path) - detail</vt:lpstr>
      <vt:lpstr>Mapping of logical channels over physical channels (uplink path)</vt:lpstr>
      <vt:lpstr>GSM Call Processing</vt:lpstr>
      <vt:lpstr>Initializing a call</vt:lpstr>
      <vt:lpstr>Initializing a call (2)</vt:lpstr>
      <vt:lpstr>Making a call</vt:lpstr>
      <vt:lpstr>Making a call (2)</vt:lpstr>
      <vt:lpstr>Receiving a call</vt:lpstr>
      <vt:lpstr>Receiving a call (2)</vt:lpstr>
      <vt:lpstr>GSM Security</vt:lpstr>
      <vt:lpstr>Personal Identification Number (PIN)</vt:lpstr>
      <vt:lpstr>User Authentication</vt:lpstr>
      <vt:lpstr>Data encryption (confidentiality)</vt:lpstr>
      <vt:lpstr>The A5/1 encryption algorithm</vt:lpstr>
      <vt:lpstr>GSM protocol stack</vt:lpstr>
      <vt:lpstr>GSM protocol stack (details)</vt:lpstr>
      <vt:lpstr>4G LTE (Long Term Evolution) and LTE-Advanced</vt:lpstr>
      <vt:lpstr>About LTE and LTE-Advanced</vt:lpstr>
      <vt:lpstr>LTE characteristics</vt:lpstr>
      <vt:lpstr>High level network architecture of LTE</vt:lpstr>
      <vt:lpstr>The E-UTRAN (access network)</vt:lpstr>
      <vt:lpstr>The E-UTRAN (details)</vt:lpstr>
      <vt:lpstr>The EPC (Evolved Packet Core) network</vt:lpstr>
      <vt:lpstr>Evolved Packet Core details</vt:lpstr>
      <vt:lpstr>LTE Protocol Layers (general)</vt:lpstr>
      <vt:lpstr>LTE Protocol Layers (details)</vt:lpstr>
      <vt:lpstr>LTE Protocol stack above IP level</vt:lpstr>
      <vt:lpstr>Logical channels</vt:lpstr>
      <vt:lpstr>Transport channels</vt:lpstr>
      <vt:lpstr>Physical channels</vt:lpstr>
      <vt:lpstr>Logical chan. -&gt; Transport chan. -&gt; Physical chan.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Cellular Communication</dc:title>
  <cp:lastModifiedBy>Forest</cp:lastModifiedBy>
  <cp:revision>80</cp:revision>
  <dcterms:modified xsi:type="dcterms:W3CDTF">2020-11-03T14:14:20Z</dcterms:modified>
</cp:coreProperties>
</file>