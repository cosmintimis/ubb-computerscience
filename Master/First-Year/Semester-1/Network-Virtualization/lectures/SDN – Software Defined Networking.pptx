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5" r:id="rId14"/>
    <p:sldId id="269" r:id="rId15"/>
    <p:sldId id="270" r:id="rId16"/>
    <p:sldId id="271" r:id="rId17"/>
    <p:sldId id="280" r:id="rId18"/>
    <p:sldId id="281" r:id="rId19"/>
    <p:sldId id="282" r:id="rId20"/>
    <p:sldId id="283" r:id="rId21"/>
    <p:sldId id="284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8189B3E-6389-4254-8909-1C18DE17915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5A0FB64-83DF-474D-A381-DD633693772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SDN – Software Defined Networking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4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Understand the difference between traditional networking and SDN</a:t>
            </a:r>
          </a:p>
          <a:p>
            <a:r>
              <a:rPr lang="en-US" dirty="0"/>
              <a:t>Learn SDN architecture and key components</a:t>
            </a:r>
          </a:p>
          <a:p>
            <a:r>
              <a:rPr lang="en-US" dirty="0"/>
              <a:t>Explore SDN controllers and protocols</a:t>
            </a:r>
          </a:p>
          <a:p>
            <a:r>
              <a:rPr lang="en-US" dirty="0" smtClean="0"/>
              <a:t>Simulating/experimenting with SDN</a:t>
            </a:r>
            <a:endParaRPr lang="en-US" dirty="0"/>
          </a:p>
          <a:p>
            <a:r>
              <a:rPr lang="en-US" dirty="0"/>
              <a:t>Discuss challenges and future directions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8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SDN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Traditional networks are hardware-centric and vendor-specific</a:t>
            </a:r>
          </a:p>
          <a:p>
            <a:r>
              <a:rPr lang="en-US" dirty="0"/>
              <a:t>Complex to configure and scale</a:t>
            </a:r>
          </a:p>
          <a:p>
            <a:r>
              <a:rPr lang="en-US" dirty="0"/>
              <a:t>Slow to respond to changes or failures</a:t>
            </a:r>
          </a:p>
          <a:p>
            <a:r>
              <a:rPr lang="en-US" dirty="0"/>
              <a:t>SDN enables </a:t>
            </a:r>
            <a:r>
              <a:rPr lang="en-US" b="1" dirty="0"/>
              <a:t>programmability, automation, and centralized control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20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</a:t>
            </a:r>
            <a:r>
              <a:rPr lang="en-US" dirty="0" smtClean="0"/>
              <a:t>vs. </a:t>
            </a:r>
            <a:r>
              <a:rPr lang="en-US" dirty="0"/>
              <a:t>SDN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Traditional: </a:t>
            </a:r>
            <a:endParaRPr lang="en-US" dirty="0" smtClean="0"/>
          </a:p>
          <a:p>
            <a:pPr lvl="1"/>
            <a:r>
              <a:rPr lang="en-US" dirty="0" smtClean="0"/>
              <a:t>distributed </a:t>
            </a:r>
            <a:r>
              <a:rPr lang="en-US" dirty="0"/>
              <a:t>control plane, manual </a:t>
            </a:r>
            <a:r>
              <a:rPr lang="en-US" dirty="0" smtClean="0"/>
              <a:t>configuration</a:t>
            </a:r>
          </a:p>
          <a:p>
            <a:pPr lvl="1"/>
            <a:r>
              <a:rPr lang="en-US" dirty="0" smtClean="0"/>
              <a:t>static</a:t>
            </a:r>
            <a:r>
              <a:rPr lang="en-US" dirty="0"/>
              <a:t>, complex </a:t>
            </a:r>
            <a:r>
              <a:rPr lang="en-US" dirty="0" smtClean="0"/>
              <a:t>architecture</a:t>
            </a:r>
          </a:p>
          <a:p>
            <a:pPr lvl="1"/>
            <a:r>
              <a:rPr lang="en-US" dirty="0"/>
              <a:t>Inconsistent </a:t>
            </a:r>
            <a:r>
              <a:rPr lang="en-US" dirty="0" smtClean="0"/>
              <a:t>policies</a:t>
            </a:r>
          </a:p>
          <a:p>
            <a:pPr lvl="1"/>
            <a:r>
              <a:rPr lang="en-US" dirty="0" smtClean="0"/>
              <a:t>inability </a:t>
            </a:r>
            <a:r>
              <a:rPr lang="en-US" dirty="0"/>
              <a:t>to </a:t>
            </a:r>
            <a:r>
              <a:rPr lang="en-US" dirty="0" smtClean="0"/>
              <a:t>scale</a:t>
            </a:r>
          </a:p>
          <a:p>
            <a:pPr lvl="1"/>
            <a:r>
              <a:rPr lang="en-US" dirty="0" smtClean="0"/>
              <a:t>vendor </a:t>
            </a:r>
            <a:r>
              <a:rPr lang="en-US" dirty="0"/>
              <a:t>dependence</a:t>
            </a:r>
          </a:p>
          <a:p>
            <a:r>
              <a:rPr lang="en-US" dirty="0"/>
              <a:t>SDN: </a:t>
            </a:r>
            <a:endParaRPr lang="en-US" dirty="0" smtClean="0"/>
          </a:p>
          <a:p>
            <a:pPr lvl="1"/>
            <a:r>
              <a:rPr lang="en-US" dirty="0" smtClean="0"/>
              <a:t>centralized </a:t>
            </a:r>
            <a:r>
              <a:rPr lang="en-US" dirty="0"/>
              <a:t>control plane, software-defined </a:t>
            </a:r>
            <a:r>
              <a:rPr lang="en-US" dirty="0" smtClean="0"/>
              <a:t>policies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ecouples </a:t>
            </a:r>
            <a:r>
              <a:rPr lang="en-US" b="1" dirty="0"/>
              <a:t>control plane</a:t>
            </a:r>
            <a:r>
              <a:rPr lang="en-US" dirty="0"/>
              <a:t> and </a:t>
            </a:r>
            <a:r>
              <a:rPr lang="en-US" b="1" dirty="0"/>
              <a:t>data </a:t>
            </a:r>
            <a:r>
              <a:rPr lang="en-US" b="1" dirty="0" smtClean="0"/>
              <a:t>plane</a:t>
            </a:r>
          </a:p>
          <a:p>
            <a:pPr lvl="1"/>
            <a:r>
              <a:rPr lang="en-US" dirty="0" smtClean="0"/>
              <a:t>adaptability and maintainability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utomation</a:t>
            </a:r>
          </a:p>
          <a:p>
            <a:pPr lvl="1"/>
            <a:r>
              <a:rPr lang="en-US" dirty="0" smtClean="0"/>
              <a:t>on-demand scaling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6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Typical network architecture (traditional and SDN)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19200"/>
            <a:ext cx="3995738" cy="513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32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networking</a:t>
            </a:r>
          </a:p>
        </p:txBody>
      </p:sp>
      <p:pic>
        <p:nvPicPr>
          <p:cNvPr id="2050" name="Picture 2" descr="https://networklessons.com/wp-content/uploads/2014/10/control-vs-data-pla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32460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84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Defined Networking</a:t>
            </a:r>
            <a:endParaRPr lang="en-US" dirty="0"/>
          </a:p>
        </p:txBody>
      </p:sp>
      <p:pic>
        <p:nvPicPr>
          <p:cNvPr id="3074" name="Picture 2" descr="https://networklessons.com/wp-content/uploads/2016/09/sdn-controller-data-plane-switch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0"/>
            <a:ext cx="3962400" cy="440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12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Separation of control and data plane</a:t>
            </a:r>
          </a:p>
          <a:p>
            <a:r>
              <a:rPr lang="en-US" dirty="0"/>
              <a:t>Programmable network behavior</a:t>
            </a:r>
          </a:p>
          <a:p>
            <a:r>
              <a:rPr lang="en-US" dirty="0"/>
              <a:t>Centralized network intelligence</a:t>
            </a:r>
          </a:p>
          <a:p>
            <a:r>
              <a:rPr lang="en-US" dirty="0"/>
              <a:t>Open interfaces (APIs) for automation</a:t>
            </a:r>
          </a:p>
          <a:p>
            <a:r>
              <a:rPr lang="en-US" dirty="0"/>
              <a:t>SDN makes networks “software-controllable” like cloud systems</a:t>
            </a:r>
          </a:p>
        </p:txBody>
      </p:sp>
    </p:spTree>
    <p:extLst>
      <p:ext uri="{BB962C8B-B14F-4D97-AF65-F5344CB8AC3E}">
        <p14:creationId xmlns:p14="http://schemas.microsoft.com/office/powerpoint/2010/main" val="770168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Infrastructure </a:t>
            </a:r>
            <a:r>
              <a:rPr lang="en-US" dirty="0"/>
              <a:t>Layer – switches, routers</a:t>
            </a:r>
          </a:p>
          <a:p>
            <a:r>
              <a:rPr lang="en-US" dirty="0"/>
              <a:t>Control Layer – SDN controller, network OS</a:t>
            </a:r>
          </a:p>
          <a:p>
            <a:r>
              <a:rPr lang="en-US" dirty="0"/>
              <a:t>Application Layer – apps using network 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138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SDN architecture</a:t>
            </a:r>
            <a:endParaRPr lang="en-US" dirty="0"/>
          </a:p>
        </p:txBody>
      </p:sp>
      <p:sp>
        <p:nvSpPr>
          <p:cNvPr id="3" name="AutoShape 2" descr="Image of 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of 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Image of 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47800"/>
            <a:ext cx="7391400" cy="403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1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Infrastructure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Physical or virtual switches</a:t>
            </a:r>
          </a:p>
          <a:p>
            <a:r>
              <a:rPr lang="en-US" dirty="0" err="1"/>
              <a:t>OpenFlow</a:t>
            </a:r>
            <a:r>
              <a:rPr lang="en-US" dirty="0"/>
              <a:t>-capable devices</a:t>
            </a:r>
          </a:p>
          <a:p>
            <a:r>
              <a:rPr lang="en-US" dirty="0"/>
              <a:t>Forwarding devices execute controller instructions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9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Control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Centralized SDN Controller</a:t>
            </a:r>
          </a:p>
          <a:p>
            <a:r>
              <a:rPr lang="en-US" dirty="0"/>
              <a:t>Maintains global network view</a:t>
            </a:r>
          </a:p>
          <a:p>
            <a:r>
              <a:rPr lang="en-US" dirty="0"/>
              <a:t>Computes paths and distributes flow rules</a:t>
            </a:r>
          </a:p>
          <a:p>
            <a:r>
              <a:rPr lang="en-US" dirty="0"/>
              <a:t>Examples: ONOS, </a:t>
            </a:r>
            <a:r>
              <a:rPr lang="en-US" dirty="0" err="1"/>
              <a:t>OpenDaylight</a:t>
            </a:r>
            <a:r>
              <a:rPr lang="en-US" dirty="0"/>
              <a:t>, </a:t>
            </a:r>
            <a:r>
              <a:rPr lang="en-US" dirty="0" err="1"/>
              <a:t>Ryu</a:t>
            </a:r>
            <a:r>
              <a:rPr lang="en-US" dirty="0"/>
              <a:t>, Floodlight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484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SDN Controller functions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6539914" cy="31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9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Network applications use </a:t>
            </a:r>
            <a:r>
              <a:rPr lang="en-US" b="1" dirty="0"/>
              <a:t>northbound APIs</a:t>
            </a: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Traffic engineering</a:t>
            </a:r>
          </a:p>
          <a:p>
            <a:pPr lvl="1"/>
            <a:r>
              <a:rPr lang="en-US" dirty="0"/>
              <a:t>Security automation</a:t>
            </a:r>
          </a:p>
          <a:p>
            <a:pPr lvl="1"/>
            <a:r>
              <a:rPr lang="en-US" dirty="0" err="1"/>
              <a:t>QoS</a:t>
            </a:r>
            <a:r>
              <a:rPr lang="en-US" dirty="0"/>
              <a:t> and </a:t>
            </a:r>
            <a:r>
              <a:rPr lang="en-US" dirty="0" smtClean="0"/>
              <a:t>monitoring</a:t>
            </a:r>
          </a:p>
          <a:p>
            <a:pPr marL="342900" lvl="1" indent="-342900"/>
            <a:r>
              <a:rPr lang="en-US" dirty="0"/>
              <a:t>apps can dynamically react to network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2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Southbound APIs:</a:t>
            </a:r>
            <a:r>
              <a:rPr lang="en-US" dirty="0"/>
              <a:t> </a:t>
            </a:r>
            <a:r>
              <a:rPr lang="en-US" dirty="0" err="1"/>
              <a:t>OpenFlow</a:t>
            </a:r>
            <a:r>
              <a:rPr lang="en-US" dirty="0"/>
              <a:t>, NETCONF/YANG, P4Runtime</a:t>
            </a:r>
          </a:p>
          <a:p>
            <a:r>
              <a:rPr lang="en-US" b="1" dirty="0"/>
              <a:t>Northbound APIs:</a:t>
            </a:r>
            <a:r>
              <a:rPr lang="en-US" dirty="0"/>
              <a:t> REST, intent-based interfaces, higher-level orchestration</a:t>
            </a:r>
          </a:p>
          <a:p>
            <a:r>
              <a:rPr lang="en-US" dirty="0"/>
              <a:t>S</a:t>
            </a:r>
            <a:r>
              <a:rPr lang="en-US" dirty="0" smtClean="0"/>
              <a:t>outhbound APIs control switches; northbound API enable apps </a:t>
            </a:r>
            <a:r>
              <a:rPr lang="en-US" dirty="0"/>
              <a:t>to control network</a:t>
            </a:r>
          </a:p>
        </p:txBody>
      </p:sp>
    </p:spTree>
    <p:extLst>
      <p:ext uri="{BB962C8B-B14F-4D97-AF65-F5344CB8AC3E}">
        <p14:creationId xmlns:p14="http://schemas.microsoft.com/office/powerpoint/2010/main" val="1592326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OpenFlow</a:t>
            </a:r>
            <a:r>
              <a:rPr lang="en-US" dirty="0"/>
              <a:t>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Core protocol for SDN</a:t>
            </a:r>
          </a:p>
          <a:p>
            <a:r>
              <a:rPr lang="en-US" dirty="0"/>
              <a:t>Flow tables in switches</a:t>
            </a:r>
          </a:p>
          <a:p>
            <a:r>
              <a:rPr lang="en-US" dirty="0"/>
              <a:t>Controller instructs switches on packet forwarding</a:t>
            </a:r>
          </a:p>
          <a:p>
            <a:r>
              <a:rPr lang="en-US" dirty="0"/>
              <a:t>Match-action rules: match packet → apply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32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OpenFlow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503" y="1600200"/>
            <a:ext cx="5442756" cy="429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447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OpenFlow</a:t>
            </a:r>
            <a:r>
              <a:rPr lang="en-US" dirty="0" smtClean="0"/>
              <a:t> switch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5820276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000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OpenFlow</a:t>
            </a:r>
            <a:r>
              <a:rPr lang="en-US" dirty="0" smtClean="0"/>
              <a:t> – </a:t>
            </a:r>
            <a:r>
              <a:rPr lang="en-US" dirty="0" err="1" smtClean="0"/>
              <a:t>FlowTable</a:t>
            </a:r>
            <a:r>
              <a:rPr lang="en-US" dirty="0" smtClean="0"/>
              <a:t>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/>
          <a:lstStyle/>
          <a:p>
            <a:r>
              <a:rPr lang="en-US" dirty="0" smtClean="0"/>
              <a:t>Each packet entering the switch passes through one or more flow tables</a:t>
            </a:r>
          </a:p>
          <a:p>
            <a:r>
              <a:rPr lang="en-US" dirty="0" smtClean="0"/>
              <a:t>Each packet is matched to a </a:t>
            </a:r>
            <a:r>
              <a:rPr lang="en-US" dirty="0" err="1" smtClean="0"/>
              <a:t>flowtable</a:t>
            </a:r>
            <a:r>
              <a:rPr lang="en-US" dirty="0" smtClean="0"/>
              <a:t> entry and sent to an egress port or to another flow table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3810000"/>
            <a:ext cx="49149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446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OpenFlow</a:t>
            </a:r>
            <a:r>
              <a:rPr lang="en-US" dirty="0" smtClean="0"/>
              <a:t> – Ingress processing of a packet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513397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417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OpenFlow</a:t>
            </a:r>
            <a:r>
              <a:rPr lang="en-US" dirty="0"/>
              <a:t> – E</a:t>
            </a:r>
            <a:r>
              <a:rPr lang="en-US" dirty="0" smtClean="0"/>
              <a:t>gress </a:t>
            </a:r>
            <a:r>
              <a:rPr lang="en-US" dirty="0"/>
              <a:t>processing of a packet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371600"/>
            <a:ext cx="50387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208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Data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P4 language for custom packet processing</a:t>
            </a:r>
          </a:p>
          <a:p>
            <a:r>
              <a:rPr lang="en-US" dirty="0"/>
              <a:t>Programmable switch pipelines</a:t>
            </a:r>
          </a:p>
          <a:p>
            <a:r>
              <a:rPr lang="en-US" dirty="0"/>
              <a:t>Use cases: load balancing, custom packet headers, telemetry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13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Overlay networks: VXLAN, GRE, </a:t>
            </a:r>
            <a:r>
              <a:rPr lang="en-US" dirty="0" err="1"/>
              <a:t>Geneve</a:t>
            </a:r>
            <a:endParaRPr lang="en-US" dirty="0"/>
          </a:p>
          <a:p>
            <a:r>
              <a:rPr lang="en-US" dirty="0"/>
              <a:t>NFV vs SDN – complementary concepts</a:t>
            </a:r>
          </a:p>
          <a:p>
            <a:r>
              <a:rPr lang="en-US" dirty="0"/>
              <a:t>Virtual switches: Open </a:t>
            </a:r>
            <a:r>
              <a:rPr lang="en-US" dirty="0" err="1"/>
              <a:t>vSwitch</a:t>
            </a:r>
            <a:r>
              <a:rPr lang="en-US" dirty="0"/>
              <a:t>, VPP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49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Centralized intelligence for network automation</a:t>
            </a:r>
          </a:p>
          <a:p>
            <a:r>
              <a:rPr lang="en-US" dirty="0"/>
              <a:t>Features: topology discovery, flow rule distribution, traffic engineering</a:t>
            </a:r>
          </a:p>
          <a:p>
            <a:r>
              <a:rPr lang="en-US" dirty="0"/>
              <a:t>Popular controllers: </a:t>
            </a:r>
            <a:r>
              <a:rPr lang="en-US" dirty="0" err="1"/>
              <a:t>OpenDaylight</a:t>
            </a:r>
            <a:r>
              <a:rPr lang="en-US" dirty="0"/>
              <a:t>, ONOS, </a:t>
            </a:r>
            <a:r>
              <a:rPr lang="en-US" dirty="0" err="1"/>
              <a:t>Ryu</a:t>
            </a:r>
            <a:r>
              <a:rPr lang="en-US" dirty="0"/>
              <a:t>, Floodlight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99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Use Cases: Data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Multi-tenant networks with isolation</a:t>
            </a:r>
          </a:p>
          <a:p>
            <a:r>
              <a:rPr lang="en-US" dirty="0"/>
              <a:t>Automated provisioning and scaling</a:t>
            </a:r>
          </a:p>
          <a:p>
            <a:r>
              <a:rPr lang="en-US" dirty="0"/>
              <a:t>East-west traffic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4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Use Cases: Service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5G network slicing</a:t>
            </a:r>
          </a:p>
          <a:p>
            <a:r>
              <a:rPr lang="en-US" dirty="0"/>
              <a:t>WAN SDN for traffic optimization</a:t>
            </a:r>
          </a:p>
          <a:p>
            <a:r>
              <a:rPr lang="en-US" dirty="0"/>
              <a:t>Carrier-grade traffic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86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Use Cases: Enterprise &amp;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Centralized policy and network segmentation</a:t>
            </a:r>
          </a:p>
          <a:p>
            <a:r>
              <a:rPr lang="en-US" dirty="0"/>
              <a:t>Dynamic </a:t>
            </a:r>
            <a:r>
              <a:rPr lang="en-US" dirty="0" err="1"/>
              <a:t>QoS</a:t>
            </a:r>
            <a:r>
              <a:rPr lang="en-US" dirty="0"/>
              <a:t> for applications</a:t>
            </a:r>
          </a:p>
          <a:p>
            <a:r>
              <a:rPr lang="en-US" dirty="0"/>
              <a:t>Identity-based access control and security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6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Tools &amp; Emulation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/>
              <a:t>Mininet</a:t>
            </a:r>
            <a:r>
              <a:rPr lang="en-US" dirty="0"/>
              <a:t> – virtual networks for labs</a:t>
            </a:r>
          </a:p>
          <a:p>
            <a:r>
              <a:rPr lang="en-US" b="1" dirty="0"/>
              <a:t>GNS3 / EVE-NG</a:t>
            </a:r>
            <a:r>
              <a:rPr lang="en-US" dirty="0"/>
              <a:t> – industry-grade emulation</a:t>
            </a:r>
          </a:p>
          <a:p>
            <a:r>
              <a:rPr lang="en-US" b="1" dirty="0"/>
              <a:t>P4 Development Tools</a:t>
            </a:r>
            <a:r>
              <a:rPr lang="en-US" dirty="0"/>
              <a:t> – BMv2 switch, Tofino, P4Runtime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76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Controller </a:t>
            </a:r>
            <a:r>
              <a:rPr lang="en-US" dirty="0"/>
              <a:t>scalability and consistency</a:t>
            </a:r>
          </a:p>
          <a:p>
            <a:r>
              <a:rPr lang="en-US" dirty="0"/>
              <a:t>Reliability and single point of failure</a:t>
            </a:r>
          </a:p>
          <a:p>
            <a:r>
              <a:rPr lang="en-US" dirty="0"/>
              <a:t>Security: controller attacks, API misuse</a:t>
            </a:r>
          </a:p>
          <a:p>
            <a:r>
              <a:rPr lang="en-US" dirty="0"/>
              <a:t>Standardization issues: multiple southbound protocols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83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209</TotalTime>
  <Words>533</Words>
  <Application>Microsoft Office PowerPoint</Application>
  <PresentationFormat>On-screen Show (4:3)</PresentationFormat>
  <Paragraphs>105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Origin</vt:lpstr>
      <vt:lpstr>SDN – Software Defined Networking</vt:lpstr>
      <vt:lpstr>Learning objectives</vt:lpstr>
      <vt:lpstr>Why SDN ?</vt:lpstr>
      <vt:lpstr>Traditional vs. SDN Networking</vt:lpstr>
      <vt:lpstr>Typical network architecture (traditional and SDN)</vt:lpstr>
      <vt:lpstr>Traditional networking</vt:lpstr>
      <vt:lpstr>Software Defined Networking</vt:lpstr>
      <vt:lpstr>SDN Core Principles</vt:lpstr>
      <vt:lpstr>SDN Architecture Overview</vt:lpstr>
      <vt:lpstr>SDN architecture</vt:lpstr>
      <vt:lpstr>SDN Infrastructure Layer</vt:lpstr>
      <vt:lpstr>SDN Control Layer</vt:lpstr>
      <vt:lpstr>SDN Controller functions</vt:lpstr>
      <vt:lpstr>SDN Application Layer</vt:lpstr>
      <vt:lpstr>SDN APIs</vt:lpstr>
      <vt:lpstr>OpenFlow Basics</vt:lpstr>
      <vt:lpstr>OpenFlow</vt:lpstr>
      <vt:lpstr>OpenFlow switch</vt:lpstr>
      <vt:lpstr>OpenFlow – FlowTable structure</vt:lpstr>
      <vt:lpstr>OpenFlow – Ingress processing of a packet</vt:lpstr>
      <vt:lpstr>OpenFlow – Egress processing of a packet</vt:lpstr>
      <vt:lpstr>Programmable Data Plane</vt:lpstr>
      <vt:lpstr>SDN Virtualization</vt:lpstr>
      <vt:lpstr>SDN Controllers</vt:lpstr>
      <vt:lpstr>SDN Use Cases: Data Centers</vt:lpstr>
      <vt:lpstr>SDN Use Cases: Service Providers</vt:lpstr>
      <vt:lpstr>SDN Use Cases: Enterprise &amp; Campus</vt:lpstr>
      <vt:lpstr>SDN Tools &amp; Emulation</vt:lpstr>
      <vt:lpstr>SDN Challenges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SDN – Software Defined Networking</dc:title>
  <dc:creator>Forest</dc:creator>
  <cp:lastModifiedBy>Forest</cp:lastModifiedBy>
  <cp:revision>16</cp:revision>
  <dcterms:created xsi:type="dcterms:W3CDTF">2025-12-05T11:12:37Z</dcterms:created>
  <dcterms:modified xsi:type="dcterms:W3CDTF">2025-12-05T14:43:21Z</dcterms:modified>
</cp:coreProperties>
</file>