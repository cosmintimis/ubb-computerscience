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embeddedFontLs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53970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e4f246f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9e4f246f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e4f246f6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9e4f246f6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4243083"/>
            <a:ext cx="8123100" cy="8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399753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743200"/>
            <a:ext cx="8123100" cy="103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701800"/>
            <a:ext cx="57975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10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607767"/>
            <a:ext cx="4045200" cy="201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5649100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21967"/>
            <a:ext cx="8520600" cy="25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4095067"/>
            <a:ext cx="8520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1465" algn="l" rtl="0">
              <a:spcBef>
                <a:spcPts val="360"/>
              </a:spcBef>
              <a:spcAft>
                <a:spcPts val="0"/>
              </a:spcAft>
              <a:buSzPts val="990"/>
              <a:buChar char="○"/>
              <a:defRPr/>
            </a:lvl2pPr>
            <a:lvl3pPr marL="1371600" lvl="2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 rtl="0">
              <a:spcBef>
                <a:spcPts val="360"/>
              </a:spcBef>
              <a:spcAft>
                <a:spcPts val="0"/>
              </a:spcAft>
              <a:buSzPts val="990"/>
              <a:buChar char="●"/>
              <a:defRPr/>
            </a:lvl4pPr>
            <a:lvl5pPr marL="2286000" lvl="4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lvl="5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8pPr>
            <a:lvl9pPr marL="4114800" lvl="8" indent="-285750" algn="l" rtl="0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%CE%9C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510450" y="1676400"/>
            <a:ext cx="8123100" cy="21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/>
              <a:t>Introduction to Wireless Communication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510450" y="4243083"/>
            <a:ext cx="8123100" cy="8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29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Microwave, Infrared &amp; Bluetooth Communication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Microwaves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961312" cy="468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 - electromagnetic waves with a frequency between 1GHz (wavelength 30cm) and 12GHz (wavelength 1mm)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 frequency are further categorized into frequency bands: L (1-2 GHz), S (2-4 GHz), C (4-8 GHz), X (8-12 GHz)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receivers need an unobstructed view of the sender to successfully receive microwaves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 are ideal when large areas need to be covered and there are no obstacles in the path </a:t>
            </a:r>
            <a:endParaRPr/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Advantages of microwaves over radio waves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of high frequency, more data can be sent through microwaves -&gt; increased bandwidth, higher speeds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of their short wave length, microwaves use smaller antennas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smaller antennas produce a more focused beam which is difficult to intercept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Disadvantages of microwave communication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require no obstacle is present in the transmission path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cost of implementing the communication infrastructure is high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 are susceptible to rain, snow, electromagnetic interference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Microwaves usages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1219200" y="1905000"/>
            <a:ext cx="7924800" cy="378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carrier waves in satellite communications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cellular communication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bluetooth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wimax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wireless local area network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wireless sensors networks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GPS (Global Positioning System)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 communication concepts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1219200" y="1676400"/>
            <a:ext cx="7924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 are generated by magnetrons through vibration of electrons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(Line of Sight) – is a visible straight line between the sender and the receiver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propagation – propagation of microwaves in a straight line free from any obstructions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Fresnel zone – eliptical area around the LoS between a sender and receiver; microwaves spread into this area once are generated by an antenna; this area should be free of any obstacles: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0200" y="5181600"/>
            <a:ext cx="3200400" cy="160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 propagation modes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961312" cy="179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microwaves, one generated, propagate in a straight line in all directions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3 modes of propagation possible, and the mode is decided based on distance and terrain:</a:t>
            </a:r>
            <a:endParaRPr/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886200"/>
            <a:ext cx="30480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3657600"/>
            <a:ext cx="2257425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67400" y="3733800"/>
            <a:ext cx="29527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Microwave signal attenuation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2362200"/>
            <a:ext cx="8229600" cy="18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838200" y="4419600"/>
            <a:ext cx="7543800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microwaves are absorbed by moisture or gases in the atmosphere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What would Wi-Fi microwaves would look like (if we could see them)</a:t>
            </a:r>
            <a:endParaRPr/>
          </a:p>
        </p:txBody>
      </p:sp>
      <p:pic>
        <p:nvPicPr>
          <p:cNvPr id="119" name="Google Shape;119;p22" descr="https://motherboard-images.vice.com/content-images/article/wifi/7a4ae55fe94f9ed0b748c0a1cc5fb60f_vice_630x420.jpg?crop=1xw:0.84375xh;center,center&amp;resize=700:*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2057400"/>
            <a:ext cx="6667500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1219200" y="6172200"/>
            <a:ext cx="6248400" cy="30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Wi-fi waves by Nickolay Lamm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What would Wi-Fi microwaves would look like (if we could see them)</a:t>
            </a:r>
            <a:endParaRPr/>
          </a:p>
        </p:txBody>
      </p:sp>
      <p:pic>
        <p:nvPicPr>
          <p:cNvPr id="126" name="Google Shape;126;p23" descr="https://motherboard-images.vice.com/content-images/contentimage/no-slug/4e3e2ad78afd6c6e2fc4d812cd16f402.jpg?resize=714:*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1225" y="1855550"/>
            <a:ext cx="5253774" cy="437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2286000" y="6324600"/>
            <a:ext cx="6248400" cy="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Wi-fi waves by Nickolay Lamm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What would Wi-Fi microwaves would look like (if we could see them)</a:t>
            </a:r>
            <a:endParaRPr/>
          </a:p>
        </p:txBody>
      </p:sp>
      <p:pic>
        <p:nvPicPr>
          <p:cNvPr id="133" name="Google Shape;133;p24" descr="https://motherboard-images.vice.com/content-images/contentimage/no-slug/9152157bfcd46d9eb71768d15e218fa5.jpg?resize=1024:*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162" y="1836737"/>
            <a:ext cx="7310437" cy="486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4"/>
          <p:cNvSpPr txBox="1"/>
          <p:nvPr/>
        </p:nvSpPr>
        <p:spPr>
          <a:xfrm>
            <a:off x="76200" y="1978025"/>
            <a:ext cx="18360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Wi-fi pulses </a:t>
            </a:r>
            <a:endParaRPr sz="1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by Nickolay Lamm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Infrared &amp; Bluetooth communication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875850" y="2133600"/>
            <a:ext cx="8115600" cy="43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●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used in Wireless Personal Area Networks, a small area wireless network, spanning a range around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10m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involving computers/laptops, PDAs, cellular phones</a:t>
            </a: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Infrared waves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914400" y="1828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have frequency between 300 GHz and 400 THz and wave lengths between 1 mm and 750 nm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classified into sub bands: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near-infrared (120THz-400THz): are visible to the human eye as red and violet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mid-infrared (30THz-120THz)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far-infrared (300GHz-30THz): are not visible to the human eye, but are radiated in the form of heat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electromagnetic waves which are pulses of infrared light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used for short range communication, unobstructed (e.g. remote control for a TV set), though they can reflect on hard surfaces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factors affecting communication: bright sunlight, hard obstacles (e.g. walls, doors), smoke, dust, fog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Wireless infrared communication = Wireless optical communication</a:t>
            </a:r>
            <a:endParaRPr/>
          </a:p>
        </p:txBody>
      </p:sp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981200"/>
            <a:ext cx="6477000" cy="39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Infrared configuration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2438400" y="1905000"/>
            <a:ext cx="6705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2 infrared system configurations: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point-to-point communication : transmitter and receiver are placed in the LoS, directed toward each other, free of obstacles; directed LoS systems</a:t>
            </a:r>
            <a:endParaRPr/>
          </a:p>
          <a:p>
            <a:pPr marL="742950" lvl="1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15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diffuse communication: transmitter and receiver are placed in the vicinity, but not necessary in a straight line; non-directed non-LoS systems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438400"/>
            <a:ext cx="186372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Infrared devices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xfrm>
            <a:off x="1295400" y="1981200"/>
            <a:ext cx="7961312" cy="468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LED (Light Emitting Diode)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wider transmission beam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suitable for diffuse configuration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widely used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LD (Laser Diode)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have more focused beam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more efficient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many infrared devices (e.g. remote control, laptop, pda) follows the rules from IrDA (InfRared Data Association)</a:t>
            </a: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81200"/>
            <a:ext cx="1246187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352800"/>
            <a:ext cx="13049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Infrared communicating devices</a:t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2514600"/>
            <a:ext cx="4086225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0650" y="2057400"/>
            <a:ext cx="3943350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2362200"/>
            <a:ext cx="571500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(2)</a:t>
            </a:r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961312" cy="484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short range communication (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10m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between various devices like laptops, PDAs, PCs, gaming consoles etc.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works with higher distances (100m) in newer versions (Bluetooth 5.2, 2019)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creates a WPAN (Wireless Personal Area Network)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and voice is exchanged at 2.4 GHz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 8 devices can be connected to each other (</a:t>
            </a:r>
            <a:r>
              <a:rPr lang="en-US" sz="24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piconet</a:t>
            </a: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bluetooth devices operate at low power levels (1miliWatt)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“Bluetooth” technology was named in the memory of Danish king Harald Bluetooth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</a:t>
            </a:r>
            <a:r>
              <a:rPr lang="en-US" sz="4400" dirty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communication (1)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Uses frequency hopping spread spectrum for multiple access (i.e. multiple slaves) to transmit data on one of the 79 Bluetooth channels; 1600 hops per second</a:t>
            </a:r>
          </a:p>
          <a:p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Bluetooth channel is 1MHz wide with a 1MHz separation between channels</a:t>
            </a:r>
          </a:p>
          <a:p>
            <a:r>
              <a:rPr lang="en-US" sz="2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uses GFSK (Gaussian Frequency-Shift Keying) modulation to encapsulate data in the carrier wave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940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</a:t>
            </a:r>
            <a:r>
              <a:rPr lang="en-US" sz="4400" dirty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communication (2)</a:t>
            </a:r>
            <a:endParaRPr sz="44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1182675" y="2017699"/>
            <a:ext cx="7793100" cy="439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36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 dirty="0">
                <a:latin typeface="Tahoma"/>
                <a:ea typeface="Tahoma"/>
                <a:cs typeface="Tahoma"/>
                <a:sym typeface="Tahoma"/>
              </a:rPr>
              <a:t>Bluetooth communication protocol is packet based and has a master-slave architecture</a:t>
            </a:r>
            <a:endParaRPr sz="2400" dirty="0"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 dirty="0">
                <a:latin typeface="Tahoma"/>
                <a:ea typeface="Tahoma"/>
                <a:cs typeface="Tahoma"/>
                <a:sym typeface="Tahoma"/>
              </a:rPr>
              <a:t>Each slave can transmit to the master in a round-robin fashion</a:t>
            </a:r>
            <a:endParaRPr sz="2400" dirty="0"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master clock ticks with a period of 312.5 </a:t>
            </a:r>
            <a:r>
              <a:rPr lang="en-US" sz="2400" dirty="0" err="1">
                <a:solidFill>
                  <a:srgbClr val="0B0080"/>
                </a:solidFill>
                <a:highlight>
                  <a:srgbClr val="FFFFFF"/>
                </a:highlight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μs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, two clock ticks then make up a slot of 625 µs</a:t>
            </a:r>
            <a:endParaRPr sz="2400" dirty="0">
              <a:solidFill>
                <a:srgbClr val="202122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Font typeface="Tahoma"/>
              <a:buChar char="●"/>
            </a:pP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A packet can take 1 or more slots</a:t>
            </a:r>
            <a:endParaRPr sz="2400" dirty="0">
              <a:solidFill>
                <a:srgbClr val="202122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Font typeface="Tahoma"/>
              <a:buChar char="●"/>
            </a:pP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master begins transmission in even slots and begins reception in odd slots; the </a:t>
            </a:r>
            <a:r>
              <a:rPr lang="en-US" sz="2400" dirty="0" smtClean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slave does </a:t>
            </a:r>
            <a:r>
              <a:rPr lang="en-US" sz="2400" dirty="0">
                <a:solidFill>
                  <a:srgbClr val="202122"/>
                </a:solidFill>
                <a:highlight>
                  <a:srgbClr val="FFFFFF"/>
                </a:highlight>
                <a:latin typeface="Tahoma"/>
                <a:ea typeface="Tahoma"/>
                <a:cs typeface="Tahoma"/>
                <a:sym typeface="Tahoma"/>
              </a:rPr>
              <a:t>the opposite</a:t>
            </a:r>
            <a:endParaRPr sz="2400" dirty="0">
              <a:solidFill>
                <a:srgbClr val="202122"/>
              </a:solidFill>
              <a:highlight>
                <a:srgbClr val="FFFFFF"/>
              </a:highlight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security</a:t>
            </a: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wireless, so susceptible to interception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Bluetooth offers authentication and authorization</a:t>
            </a:r>
            <a:endParaRPr dirty="0"/>
          </a:p>
          <a:p>
            <a:pPr marL="342900" lvl="0" indent="-36576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Bluetooth offers non-discoverable mode</a:t>
            </a: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Encrypts communication using algorithms based on the SAFER+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chiper</a:t>
            </a: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Bluetooth key is derived from a Bluetooth PIN shared by both </a:t>
            </a:r>
            <a:r>
              <a:rPr lang="en-US" sz="24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devices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pairing modes: legacy (simple 4 digit PIN) and SSP (Secure Simple Pairing; based on public </a:t>
            </a:r>
            <a:r>
              <a:rPr lang="en-US" sz="240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key cryptography)</a:t>
            </a:r>
            <a:endParaRPr sz="24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devices</a:t>
            </a:r>
            <a:endParaRPr/>
          </a:p>
        </p:txBody>
      </p:sp>
      <p:sp>
        <p:nvSpPr>
          <p:cNvPr id="204" name="Google Shape;204;p35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laptops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personal computers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printers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PDA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GPS receivers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cellular phones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gaming consoles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head phones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title"/>
          </p:nvPr>
        </p:nvSpPr>
        <p:spPr>
          <a:xfrm>
            <a:off x="1150937" y="617537"/>
            <a:ext cx="7793100" cy="1143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Bluetooth vs Wi-Fi</a:t>
            </a:r>
            <a:endParaRPr sz="440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36"/>
          <p:cNvSpPr txBox="1">
            <a:spLocks noGrp="1"/>
          </p:cNvSpPr>
          <p:nvPr>
            <p:ph type="body" idx="1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36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Bluetooth offers speeds of up to 2Mbps, Wi-Fi much more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Bluetooth offers symmetrical communication (master-slave pair), Wi-Fi offers star like communication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Tahoma"/>
              <a:buChar char="●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Bluetooth is for simple, portable, equipment; Wi-Fi is for more complex devices as a replacement for wired Ethernet</a:t>
            </a:r>
            <a:endParaRPr sz="24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1013</Words>
  <Application>Microsoft Office PowerPoint</Application>
  <PresentationFormat>On-screen Show (4:3)</PresentationFormat>
  <Paragraphs>107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Proxima Nova</vt:lpstr>
      <vt:lpstr>Tahoma</vt:lpstr>
      <vt:lpstr>Noto Sans Symbols</vt:lpstr>
      <vt:lpstr>Spearmint</vt:lpstr>
      <vt:lpstr>Introduction to Wireless Communication</vt:lpstr>
      <vt:lpstr>Microwaves</vt:lpstr>
      <vt:lpstr>Advantages of microwaves over radio waves</vt:lpstr>
      <vt:lpstr>Disadvantages of microwave communication</vt:lpstr>
      <vt:lpstr>Microwaves usages</vt:lpstr>
      <vt:lpstr>Microwave communication concepts</vt:lpstr>
      <vt:lpstr>Microwave propagation modes</vt:lpstr>
      <vt:lpstr>Microwave signal attenuation</vt:lpstr>
      <vt:lpstr>What would Wi-Fi microwaves would look like (if we could see them)</vt:lpstr>
      <vt:lpstr>What would Wi-Fi microwaves would look like (if we could see them)</vt:lpstr>
      <vt:lpstr>What would Wi-Fi microwaves would look like (if we could see them)</vt:lpstr>
      <vt:lpstr>Infrared &amp; Bluetooth communication</vt:lpstr>
      <vt:lpstr>Infrared waves</vt:lpstr>
      <vt:lpstr>Wireless infrared communication = Wireless optical communication</vt:lpstr>
      <vt:lpstr>Infrared configuration</vt:lpstr>
      <vt:lpstr>Infrared devices</vt:lpstr>
      <vt:lpstr>Infrared communicating devices</vt:lpstr>
      <vt:lpstr>Bluetooth</vt:lpstr>
      <vt:lpstr>Bluetooth (2)</vt:lpstr>
      <vt:lpstr>Bluetooth communication (1)</vt:lpstr>
      <vt:lpstr>Bluetooth communication (2)</vt:lpstr>
      <vt:lpstr>Bluetooth security</vt:lpstr>
      <vt:lpstr>Bluetooth devices</vt:lpstr>
      <vt:lpstr>Bluetooth vs Wi-Fi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Wireless Communication</dc:title>
  <cp:lastModifiedBy>Windows User</cp:lastModifiedBy>
  <cp:revision>3</cp:revision>
  <dcterms:modified xsi:type="dcterms:W3CDTF">2020-10-13T13:36:02Z</dcterms:modified>
</cp:coreProperties>
</file>