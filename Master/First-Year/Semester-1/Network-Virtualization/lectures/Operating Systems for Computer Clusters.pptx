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73" r:id="rId4"/>
    <p:sldId id="263" r:id="rId5"/>
    <p:sldId id="277" r:id="rId6"/>
    <p:sldId id="269" r:id="rId7"/>
    <p:sldId id="266" r:id="rId8"/>
    <p:sldId id="270" r:id="rId9"/>
    <p:sldId id="271" r:id="rId10"/>
    <p:sldId id="272" r:id="rId11"/>
    <p:sldId id="267" r:id="rId12"/>
    <p:sldId id="274" r:id="rId13"/>
    <p:sldId id="275" r:id="rId14"/>
    <p:sldId id="276" r:id="rId15"/>
    <p:sldId id="268" r:id="rId16"/>
    <p:sldId id="258" r:id="rId17"/>
    <p:sldId id="259" r:id="rId18"/>
    <p:sldId id="260" r:id="rId19"/>
    <p:sldId id="261" r:id="rId20"/>
    <p:sldId id="262" r:id="rId21"/>
    <p:sldId id="264" r:id="rId22"/>
    <p:sldId id="265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02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CF037-92D4-4DC9-9387-99D9419A0666}" type="datetimeFigureOut">
              <a:rPr lang="en-US" smtClean="0"/>
              <a:t>1/5/2021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87C428-AAC4-4BAA-8DD0-D0CC494F3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386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ea typeface="ＭＳ Ｐゴシック" pitchFamily="34" charset="-128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02756" indent="-270291" defTabSz="914485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081164" indent="-216233" defTabSz="914485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13629" indent="-216233" defTabSz="914485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1946095" indent="-216233" defTabSz="914485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fld id="{3F6FF796-67F4-4D99-AB48-D722DEE41A1B}" type="slidenum">
              <a:rPr lang="en-US" altLang="en-US"/>
              <a:pPr/>
              <a:t>21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B0F-2F82-4640-A20F-9DD12E2E46B2}" type="datetimeFigureOut">
              <a:rPr lang="en-US" smtClean="0"/>
              <a:t>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F2A37-BB8E-4074-972F-C77835F52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230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B0F-2F82-4640-A20F-9DD12E2E46B2}" type="datetimeFigureOut">
              <a:rPr lang="en-US" smtClean="0"/>
              <a:t>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F2A37-BB8E-4074-972F-C77835F52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42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B0F-2F82-4640-A20F-9DD12E2E46B2}" type="datetimeFigureOut">
              <a:rPr lang="en-US" smtClean="0"/>
              <a:t>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F2A37-BB8E-4074-972F-C77835F52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833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B0F-2F82-4640-A20F-9DD12E2E46B2}" type="datetimeFigureOut">
              <a:rPr lang="en-US" smtClean="0"/>
              <a:t>1/5/2021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F2A37-BB8E-4074-972F-C77835F52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67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B0F-2F82-4640-A20F-9DD12E2E46B2}" type="datetimeFigureOut">
              <a:rPr lang="en-US" smtClean="0"/>
              <a:t>1/5/2021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F2A37-BB8E-4074-972F-C77835F52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42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B0F-2F82-4640-A20F-9DD12E2E46B2}" type="datetimeFigureOut">
              <a:rPr lang="en-US" smtClean="0"/>
              <a:t>1/5/2021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F2A37-BB8E-4074-972F-C77835F52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346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B0F-2F82-4640-A20F-9DD12E2E46B2}" type="datetimeFigureOut">
              <a:rPr lang="en-US" smtClean="0"/>
              <a:t>1/5/2021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F2A37-BB8E-4074-972F-C77835F52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21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B0F-2F82-4640-A20F-9DD12E2E46B2}" type="datetimeFigureOut">
              <a:rPr lang="en-US" smtClean="0"/>
              <a:t>1/5/2021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F2A37-BB8E-4074-972F-C77835F52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192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B0F-2F82-4640-A20F-9DD12E2E46B2}" type="datetimeFigureOut">
              <a:rPr lang="en-US" smtClean="0"/>
              <a:t>1/5/2021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F2A37-BB8E-4074-972F-C77835F52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010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B0F-2F82-4640-A20F-9DD12E2E46B2}" type="datetimeFigureOut">
              <a:rPr lang="en-US" smtClean="0"/>
              <a:t>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F2A37-BB8E-4074-972F-C77835F52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133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B0F-2F82-4640-A20F-9DD12E2E46B2}" type="datetimeFigureOut">
              <a:rPr lang="en-US" smtClean="0"/>
              <a:t>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F2A37-BB8E-4074-972F-C77835F52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174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bg5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6"/>
          <p:cNvSpPr>
            <a:spLocks noChangeArrowheads="1"/>
          </p:cNvSpPr>
          <p:nvPr userDrawn="1"/>
        </p:nvSpPr>
        <p:spPr bwMode="black">
          <a:xfrm>
            <a:off x="5927725" y="6496050"/>
            <a:ext cx="305435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/>
            <a:r>
              <a:rPr lang="en-US" altLang="en-US" sz="800">
                <a:solidFill>
                  <a:srgbClr val="262626"/>
                </a:solidFill>
              </a:rPr>
              <a:t>© 2012 IBM Corporation</a:t>
            </a:r>
            <a:endParaRPr lang="en-US" altLang="en-US">
              <a:solidFill>
                <a:srgbClr val="262626"/>
              </a:solidFill>
            </a:endParaRPr>
          </a:p>
        </p:txBody>
      </p:sp>
      <p:sp>
        <p:nvSpPr>
          <p:cNvPr id="4" name="Text Box 46"/>
          <p:cNvSpPr txBox="1">
            <a:spLocks noChangeArrowheads="1"/>
          </p:cNvSpPr>
          <p:nvPr userDrawn="1"/>
        </p:nvSpPr>
        <p:spPr bwMode="auto">
          <a:xfrm>
            <a:off x="228600" y="381000"/>
            <a:ext cx="2420938" cy="152400"/>
          </a:xfrm>
          <a:prstGeom prst="rect">
            <a:avLst/>
          </a:prstGeom>
          <a:noFill/>
          <a:ln>
            <a:noFill/>
          </a:ln>
          <a:extLst/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Aft>
                <a:spcPts val="900"/>
              </a:spcAft>
              <a:defRPr/>
            </a:pPr>
            <a:r>
              <a:rPr lang="en-US" sz="1000" smtClean="0">
                <a:solidFill>
                  <a:srgbClr val="262626"/>
                </a:solidFill>
                <a:ea typeface="+mn-ea"/>
              </a:rPr>
              <a:t>Systems and Technology Group</a:t>
            </a:r>
          </a:p>
        </p:txBody>
      </p:sp>
      <p:pic>
        <p:nvPicPr>
          <p:cNvPr id="5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8813" y="247650"/>
            <a:ext cx="588962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152400" y="609600"/>
            <a:ext cx="8763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160338" y="6467475"/>
            <a:ext cx="5524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4D43793B-75EA-4CBE-97BE-A7C63B23E286}" type="slidenum">
              <a:rPr lang="en-US" altLang="en-US" sz="1000">
                <a:solidFill>
                  <a:srgbClr val="000000"/>
                </a:solidFill>
              </a:rPr>
              <a:pPr eaLnBrk="1" hangingPunct="1"/>
              <a:t>‹#›</a:t>
            </a:fld>
            <a:endParaRPr lang="en-US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7518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21B0F-2F82-4640-A20F-9DD12E2E46B2}" type="datetimeFigureOut">
              <a:rPr lang="en-US" smtClean="0"/>
              <a:t>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F2A37-BB8E-4074-972F-C77835F52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421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Operating Systems for Computer Clusters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432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 smtClean="0"/>
              <a:t>Functions of the OS of a HPC Cluster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Provisioning computing nodes (installing/updating OS on computing nodes) (</a:t>
            </a:r>
            <a:r>
              <a:rPr lang="en-US" sz="2400" dirty="0" err="1" smtClean="0"/>
              <a:t>xCAT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Management of the computing resources of the cluster (PCM)  </a:t>
            </a:r>
          </a:p>
          <a:p>
            <a:r>
              <a:rPr lang="en-US" sz="2400" dirty="0" smtClean="0"/>
              <a:t>Workload management (job/task scheduling) (Platform LSF)</a:t>
            </a:r>
          </a:p>
          <a:p>
            <a:r>
              <a:rPr lang="en-US" sz="2400" dirty="0" smtClean="0"/>
              <a:t>Distributed file system (GPFS, NFS)</a:t>
            </a:r>
          </a:p>
          <a:p>
            <a:r>
              <a:rPr lang="en-US" sz="2400" dirty="0" smtClean="0"/>
              <a:t>Hardware management and system monitoring (PCM)</a:t>
            </a:r>
          </a:p>
          <a:p>
            <a:r>
              <a:rPr lang="en-US" sz="2400" dirty="0" smtClean="0"/>
              <a:t>Scalability (PCM)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18386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HPC Cluster layered architecture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71600"/>
            <a:ext cx="7100888" cy="50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4230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 smtClean="0"/>
              <a:t>IBM PCM – Platform Cluster Manager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Manages the resources of the cluster (using </a:t>
            </a:r>
            <a:r>
              <a:rPr lang="en-US" dirty="0" err="1" smtClean="0"/>
              <a:t>xCAT</a:t>
            </a:r>
            <a:r>
              <a:rPr lang="en-US" dirty="0" smtClean="0"/>
              <a:t> as provisioning engine)</a:t>
            </a:r>
          </a:p>
          <a:p>
            <a:r>
              <a:rPr lang="en-US" dirty="0" smtClean="0"/>
              <a:t>Provides system monitoring and reporting</a:t>
            </a:r>
          </a:p>
          <a:p>
            <a:r>
              <a:rPr lang="en-US" dirty="0" smtClean="0"/>
              <a:t>Has centralized web portal</a:t>
            </a:r>
          </a:p>
          <a:p>
            <a:r>
              <a:rPr lang="en-US" dirty="0" smtClean="0"/>
              <a:t>Provides remote control of compute nodes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IBM PCM component architecture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752600"/>
            <a:ext cx="8072437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8153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xCAT</a:t>
            </a:r>
            <a:r>
              <a:rPr lang="en-US" dirty="0"/>
              <a:t> – Extreme Cloud Administration Toolkit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18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 err="1" smtClean="0"/>
              <a:t>xCAT</a:t>
            </a:r>
            <a:r>
              <a:rPr lang="en-US" sz="3600" dirty="0" smtClean="0"/>
              <a:t> usages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Discover the hardware servers</a:t>
            </a:r>
          </a:p>
          <a:p>
            <a:r>
              <a:rPr lang="en-US" dirty="0"/>
              <a:t>Execute remote system management</a:t>
            </a:r>
          </a:p>
          <a:p>
            <a:r>
              <a:rPr lang="en-US" dirty="0"/>
              <a:t>Provision operating systems on physical or virtual machines</a:t>
            </a:r>
          </a:p>
          <a:p>
            <a:r>
              <a:rPr lang="en-US" dirty="0"/>
              <a:t>Provision machines in </a:t>
            </a:r>
            <a:r>
              <a:rPr lang="en-US" dirty="0" err="1"/>
              <a:t>Diskful</a:t>
            </a:r>
            <a:r>
              <a:rPr lang="en-US" dirty="0"/>
              <a:t> (</a:t>
            </a:r>
            <a:r>
              <a:rPr lang="en-US" dirty="0" err="1"/>
              <a:t>stateful</a:t>
            </a:r>
            <a:r>
              <a:rPr lang="en-US" dirty="0"/>
              <a:t>) and Diskless (stateless)</a:t>
            </a:r>
          </a:p>
          <a:p>
            <a:r>
              <a:rPr lang="en-US" dirty="0"/>
              <a:t>Install and configure user applications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466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 smtClean="0"/>
              <a:t>xCAT</a:t>
            </a:r>
            <a:r>
              <a:rPr lang="en-US" dirty="0" smtClean="0"/>
              <a:t> architecture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905000"/>
            <a:ext cx="6077896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5535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 smtClean="0"/>
              <a:t>xCAT</a:t>
            </a:r>
            <a:r>
              <a:rPr lang="en-US" dirty="0" smtClean="0"/>
              <a:t> architecture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5257800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Mgmt</a:t>
            </a:r>
            <a:r>
              <a:rPr lang="en-US" sz="2400" dirty="0" smtClean="0"/>
              <a:t> node: management node, server where XCAT is installed and which is used as a single point in managing the cluster; nodes are defined in postscript database</a:t>
            </a:r>
          </a:p>
          <a:p>
            <a:r>
              <a:rPr lang="en-US" sz="2400" dirty="0" smtClean="0"/>
              <a:t>Compute node: a compute node from the </a:t>
            </a:r>
            <a:r>
              <a:rPr lang="en-US" sz="2400" dirty="0" err="1" smtClean="0"/>
              <a:t>clusted</a:t>
            </a:r>
            <a:r>
              <a:rPr lang="en-US" sz="2400" dirty="0" smtClean="0"/>
              <a:t> which is managed by </a:t>
            </a:r>
            <a:r>
              <a:rPr lang="en-US" sz="2400" dirty="0" err="1" smtClean="0"/>
              <a:t>xCAT</a:t>
            </a:r>
            <a:endParaRPr lang="en-US" sz="2400" dirty="0" smtClean="0"/>
          </a:p>
          <a:p>
            <a:r>
              <a:rPr lang="en-US" sz="2400" dirty="0" smtClean="0"/>
              <a:t>Network services (</a:t>
            </a:r>
            <a:r>
              <a:rPr lang="en-US" sz="2400" dirty="0" err="1" smtClean="0"/>
              <a:t>dhcpd</a:t>
            </a:r>
            <a:r>
              <a:rPr lang="en-US" sz="2400" dirty="0" smtClean="0"/>
              <a:t>, </a:t>
            </a:r>
            <a:r>
              <a:rPr lang="en-US" sz="2400" dirty="0" err="1" smtClean="0"/>
              <a:t>tftpd</a:t>
            </a:r>
            <a:r>
              <a:rPr lang="en-US" sz="2400" dirty="0" smtClean="0"/>
              <a:t>, </a:t>
            </a:r>
            <a:r>
              <a:rPr lang="en-US" sz="2400" dirty="0" err="1" smtClean="0"/>
              <a:t>httpd</a:t>
            </a:r>
            <a:r>
              <a:rPr lang="en-US" sz="2400" dirty="0" smtClean="0"/>
              <a:t>, </a:t>
            </a:r>
            <a:r>
              <a:rPr lang="en-US" sz="2400" dirty="0" err="1" smtClean="0"/>
              <a:t>dns</a:t>
            </a:r>
            <a:r>
              <a:rPr lang="en-US" sz="2400" dirty="0" smtClean="0"/>
              <a:t>, </a:t>
            </a:r>
            <a:r>
              <a:rPr lang="en-US" sz="2400" dirty="0" err="1" smtClean="0"/>
              <a:t>ntpd</a:t>
            </a:r>
            <a:r>
              <a:rPr lang="en-US" sz="2400" dirty="0" smtClean="0"/>
              <a:t>, </a:t>
            </a:r>
            <a:r>
              <a:rPr lang="en-US" sz="2400" dirty="0" err="1" smtClean="0"/>
              <a:t>syslogd</a:t>
            </a:r>
            <a:r>
              <a:rPr lang="en-US" sz="2400" dirty="0" smtClean="0"/>
              <a:t>) : used for managing the cluster nodes, automatically configured</a:t>
            </a:r>
          </a:p>
          <a:p>
            <a:r>
              <a:rPr lang="en-US" sz="2400" dirty="0" smtClean="0"/>
              <a:t>Service Processor (SP): embedded system in the server hardware, used to perform out-of-band hardware control (IMM –Integrated Management Module for IBM, </a:t>
            </a:r>
            <a:r>
              <a:rPr lang="en-US" sz="2400" dirty="0" err="1" smtClean="0"/>
              <a:t>iLo</a:t>
            </a:r>
            <a:r>
              <a:rPr lang="en-US" sz="2400" dirty="0" smtClean="0"/>
              <a:t> for HP, </a:t>
            </a:r>
            <a:r>
              <a:rPr lang="en-US" sz="2400" dirty="0" err="1" smtClean="0"/>
              <a:t>iDRAC</a:t>
            </a:r>
            <a:r>
              <a:rPr lang="en-US" sz="2400" dirty="0" smtClean="0"/>
              <a:t> for DELL)</a:t>
            </a:r>
          </a:p>
          <a:p>
            <a:r>
              <a:rPr lang="en-US" sz="2400" dirty="0" smtClean="0"/>
              <a:t>Management network: used to provision/install compute nodes</a:t>
            </a:r>
          </a:p>
          <a:p>
            <a:r>
              <a:rPr lang="en-US" sz="2400" dirty="0" smtClean="0"/>
              <a:t>Service network: used by the management node to control the SP on the nodes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09418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Start/stop the </a:t>
            </a:r>
            <a:r>
              <a:rPr lang="en-US" dirty="0" err="1" smtClean="0"/>
              <a:t>xcatd</a:t>
            </a:r>
            <a:r>
              <a:rPr lang="en-US" dirty="0" smtClean="0"/>
              <a:t> 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sz="2800" dirty="0"/>
              <a:t>s</a:t>
            </a:r>
            <a:r>
              <a:rPr lang="en-US" sz="2800" dirty="0" smtClean="0"/>
              <a:t>ervice  </a:t>
            </a:r>
            <a:r>
              <a:rPr lang="en-US" sz="2800" dirty="0" err="1" smtClean="0"/>
              <a:t>xcatd</a:t>
            </a:r>
            <a:r>
              <a:rPr lang="en-US" sz="2800" dirty="0" smtClean="0"/>
              <a:t>  { stop | start | restart | status }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4731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 smtClean="0"/>
              <a:t>Platform LSF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029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LSF = Load Sharing Facility</a:t>
            </a:r>
          </a:p>
          <a:p>
            <a:r>
              <a:rPr lang="en-US" dirty="0" smtClean="0"/>
              <a:t>is job scheduling engine</a:t>
            </a:r>
          </a:p>
          <a:p>
            <a:r>
              <a:rPr lang="en-US" dirty="0" smtClean="0"/>
              <a:t>manages hardware resources and job requirements and finds the best execution plan</a:t>
            </a:r>
          </a:p>
          <a:p>
            <a:r>
              <a:rPr lang="en-US" dirty="0" smtClean="0"/>
              <a:t>monitors job execution progress</a:t>
            </a:r>
          </a:p>
          <a:p>
            <a:r>
              <a:rPr lang="en-US" dirty="0" smtClean="0"/>
              <a:t>has multiple job queues with several scheduling policies in the same cluster: FCFS (First Come First Served), Service Level Agreement (SLA) scheduling, </a:t>
            </a:r>
            <a:r>
              <a:rPr lang="en-US" dirty="0" err="1" smtClean="0"/>
              <a:t>Fairshare</a:t>
            </a:r>
            <a:r>
              <a:rPr lang="en-US" dirty="0"/>
              <a:t> </a:t>
            </a:r>
            <a:r>
              <a:rPr lang="en-US" dirty="0" smtClean="0"/>
              <a:t>scheduling</a:t>
            </a:r>
            <a:endParaRPr lang="en-US" dirty="0"/>
          </a:p>
          <a:p>
            <a:r>
              <a:rPr lang="en-US" dirty="0" smtClean="0"/>
              <a:t>allows resource reservation</a:t>
            </a:r>
          </a:p>
          <a:p>
            <a:r>
              <a:rPr lang="en-US" dirty="0" smtClean="0"/>
              <a:t>allows resizable jobs </a:t>
            </a:r>
          </a:p>
        </p:txBody>
      </p:sp>
    </p:spTree>
    <p:extLst>
      <p:ext uri="{BB962C8B-B14F-4D97-AF65-F5344CB8AC3E}">
        <p14:creationId xmlns:p14="http://schemas.microsoft.com/office/powerpoint/2010/main" val="129476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Job Processing with LSF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19200"/>
            <a:ext cx="6391275" cy="526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8694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/>
              <a:t>LSF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34400" cy="53340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LSF Base: </a:t>
            </a:r>
            <a:r>
              <a:rPr lang="en-US" sz="2400" dirty="0" smtClean="0"/>
              <a:t>provides load sharing services (resource usage information, process information host selection, remote execution)</a:t>
            </a:r>
            <a:endParaRPr lang="en-US" dirty="0" smtClean="0"/>
          </a:p>
          <a:p>
            <a:pPr lvl="2"/>
            <a:r>
              <a:rPr lang="en-US" u="sng" dirty="0" smtClean="0"/>
              <a:t>Load Information Manager (LIM)</a:t>
            </a:r>
            <a:r>
              <a:rPr lang="en-US" dirty="0" smtClean="0"/>
              <a:t>: LIM on a host monitors the host’s load and reports it to the LIM running on </a:t>
            </a:r>
            <a:r>
              <a:rPr lang="en-US" dirty="0" err="1" smtClean="0"/>
              <a:t>headnode</a:t>
            </a:r>
            <a:r>
              <a:rPr lang="en-US" dirty="0" smtClean="0"/>
              <a:t> which provides the info to apps.</a:t>
            </a:r>
          </a:p>
          <a:p>
            <a:pPr lvl="2"/>
            <a:r>
              <a:rPr lang="en-US" u="sng" dirty="0" smtClean="0"/>
              <a:t>Process Information Manager(PIM)</a:t>
            </a:r>
            <a:r>
              <a:rPr lang="en-US" dirty="0" smtClean="0"/>
              <a:t>: runs on each host, collects info about job processes and reports them to </a:t>
            </a:r>
            <a:r>
              <a:rPr lang="en-US" i="1" dirty="0" err="1" smtClean="0"/>
              <a:t>sbatchd</a:t>
            </a:r>
            <a:endParaRPr lang="en-US" i="1" dirty="0" smtClean="0"/>
          </a:p>
          <a:p>
            <a:pPr lvl="2"/>
            <a:r>
              <a:rPr lang="en-US" u="sng" dirty="0" smtClean="0"/>
              <a:t>Remote Execution Server (RES)</a:t>
            </a:r>
            <a:r>
              <a:rPr lang="en-US" dirty="0" smtClean="0"/>
              <a:t>: runs on each hosts and executes tasks on that host</a:t>
            </a:r>
          </a:p>
          <a:p>
            <a:r>
              <a:rPr lang="en-US" dirty="0" smtClean="0"/>
              <a:t>LSF Batch: </a:t>
            </a:r>
            <a:r>
              <a:rPr lang="en-US" sz="2400" dirty="0" smtClean="0"/>
              <a:t>provides job execution with load balancing and policy driven resource usage</a:t>
            </a:r>
          </a:p>
          <a:p>
            <a:pPr lvl="2"/>
            <a:r>
              <a:rPr lang="en-US" sz="2200" i="1" u="sng" dirty="0" err="1"/>
              <a:t>m</a:t>
            </a:r>
            <a:r>
              <a:rPr lang="en-US" sz="2200" i="1" u="sng" dirty="0" err="1" smtClean="0"/>
              <a:t>bschd</a:t>
            </a:r>
            <a:r>
              <a:rPr lang="en-US" sz="2200" u="sng" dirty="0" smtClean="0"/>
              <a:t> (Master Batch Scheduler daemon)</a:t>
            </a:r>
            <a:r>
              <a:rPr lang="en-US" sz="2200" dirty="0" smtClean="0"/>
              <a:t>: runs on </a:t>
            </a:r>
            <a:r>
              <a:rPr lang="en-US" sz="2200" dirty="0" err="1" smtClean="0"/>
              <a:t>headnode</a:t>
            </a:r>
            <a:r>
              <a:rPr lang="en-US" sz="2200" dirty="0" smtClean="0"/>
              <a:t>, receives job submissions, maintains queues, job status, </a:t>
            </a:r>
            <a:r>
              <a:rPr lang="en-US" sz="2200" dirty="0" err="1" smtClean="0"/>
              <a:t>dispaches</a:t>
            </a:r>
            <a:r>
              <a:rPr lang="en-US" sz="2200" dirty="0" smtClean="0"/>
              <a:t> jobs on compute nodes for execution</a:t>
            </a:r>
          </a:p>
          <a:p>
            <a:pPr lvl="2"/>
            <a:r>
              <a:rPr lang="en-US" sz="2200" i="1" u="sng" dirty="0" err="1" smtClean="0"/>
              <a:t>sbatchd</a:t>
            </a:r>
            <a:r>
              <a:rPr lang="en-US" sz="2200" i="1" u="sng" dirty="0" smtClean="0"/>
              <a:t> </a:t>
            </a:r>
            <a:r>
              <a:rPr lang="en-US" sz="2200" u="sng" dirty="0" smtClean="0"/>
              <a:t>(Slave Batch daemon)</a:t>
            </a:r>
            <a:r>
              <a:rPr lang="en-US" sz="2200" dirty="0" smtClean="0"/>
              <a:t>: runs on each host, receives jobs from </a:t>
            </a:r>
            <a:r>
              <a:rPr lang="en-US" sz="2200" i="1" dirty="0" err="1" smtClean="0"/>
              <a:t>mbschd</a:t>
            </a:r>
            <a:r>
              <a:rPr lang="en-US" sz="2200" dirty="0" smtClean="0"/>
              <a:t>, creates a child </a:t>
            </a:r>
            <a:r>
              <a:rPr lang="en-US" sz="2200" i="1" dirty="0" err="1" smtClean="0"/>
              <a:t>sbatchd</a:t>
            </a:r>
            <a:r>
              <a:rPr lang="en-US" sz="2200" dirty="0" smtClean="0"/>
              <a:t> for each job, gives the job to RES in order to execute it</a:t>
            </a:r>
            <a:endParaRPr lang="en-US" dirty="0" smtClean="0"/>
          </a:p>
          <a:p>
            <a:r>
              <a:rPr lang="en-US" dirty="0" smtClean="0"/>
              <a:t>LSF Libraries: </a:t>
            </a:r>
            <a:r>
              <a:rPr lang="en-US" sz="2400" dirty="0" smtClean="0"/>
              <a:t>provides API for interfacing with LSF</a:t>
            </a: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758363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LSF – view daemon 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Show </a:t>
            </a:r>
            <a:r>
              <a:rPr lang="en-US" sz="2400" dirty="0" err="1" smtClean="0"/>
              <a:t>mbatchd</a:t>
            </a:r>
            <a:r>
              <a:rPr lang="en-US" sz="2400" dirty="0" smtClean="0"/>
              <a:t> conf. : </a:t>
            </a:r>
            <a:r>
              <a:rPr lang="en-US" sz="2400" i="1" dirty="0" err="1" smtClean="0"/>
              <a:t>badmin</a:t>
            </a:r>
            <a:r>
              <a:rPr lang="en-US" sz="2400" i="1" dirty="0" smtClean="0"/>
              <a:t>  </a:t>
            </a:r>
            <a:r>
              <a:rPr lang="en-US" sz="2400" i="1" dirty="0" err="1" smtClean="0"/>
              <a:t>showconf</a:t>
            </a:r>
            <a:r>
              <a:rPr lang="en-US" sz="2400" i="1" dirty="0" smtClean="0"/>
              <a:t>  </a:t>
            </a:r>
            <a:r>
              <a:rPr lang="en-US" sz="2400" i="1" dirty="0" err="1" smtClean="0"/>
              <a:t>mbd</a:t>
            </a:r>
            <a:r>
              <a:rPr lang="en-US" sz="2400" i="1" dirty="0" smtClean="0"/>
              <a:t> </a:t>
            </a:r>
          </a:p>
          <a:p>
            <a:r>
              <a:rPr lang="en-US" sz="2400" dirty="0" smtClean="0"/>
              <a:t>Show </a:t>
            </a:r>
            <a:r>
              <a:rPr lang="en-US" sz="2400" dirty="0" err="1" smtClean="0"/>
              <a:t>sbatchd</a:t>
            </a:r>
            <a:r>
              <a:rPr lang="en-US" sz="2400" dirty="0" smtClean="0"/>
              <a:t> conf. on host: </a:t>
            </a:r>
            <a:r>
              <a:rPr lang="en-US" sz="2400" i="1" dirty="0" err="1"/>
              <a:t>badmin</a:t>
            </a:r>
            <a:r>
              <a:rPr lang="en-US" sz="2400" i="1" dirty="0"/>
              <a:t> 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showconf</a:t>
            </a:r>
            <a:r>
              <a:rPr lang="en-US" sz="2400" i="1" dirty="0" smtClean="0"/>
              <a:t>  </a:t>
            </a:r>
            <a:r>
              <a:rPr lang="en-US" sz="2400" i="1" dirty="0" err="1" smtClean="0"/>
              <a:t>sbd</a:t>
            </a:r>
            <a:r>
              <a:rPr lang="en-US" sz="2400" i="1" dirty="0" smtClean="0"/>
              <a:t>  host </a:t>
            </a:r>
          </a:p>
          <a:p>
            <a:r>
              <a:rPr lang="en-US" sz="2400" dirty="0" smtClean="0"/>
              <a:t>Show </a:t>
            </a:r>
            <a:r>
              <a:rPr lang="en-US" sz="2400" dirty="0" err="1" smtClean="0"/>
              <a:t>lim</a:t>
            </a:r>
            <a:r>
              <a:rPr lang="en-US" sz="2400" dirty="0" smtClean="0"/>
              <a:t> conf. on host: </a:t>
            </a:r>
            <a:r>
              <a:rPr lang="en-US" sz="2400" i="1" dirty="0" err="1"/>
              <a:t>lsadmin</a:t>
            </a:r>
            <a:r>
              <a:rPr lang="en-US" sz="2400" i="1" dirty="0"/>
              <a:t> 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showconf</a:t>
            </a:r>
            <a:r>
              <a:rPr lang="en-US" sz="2400" i="1" dirty="0" smtClean="0"/>
              <a:t>  </a:t>
            </a:r>
            <a:r>
              <a:rPr lang="en-US" sz="2400" i="1" dirty="0" err="1" smtClean="0"/>
              <a:t>lim</a:t>
            </a:r>
            <a:r>
              <a:rPr lang="en-US" sz="2400" i="1" dirty="0" smtClean="0"/>
              <a:t> </a:t>
            </a:r>
          </a:p>
          <a:p>
            <a:r>
              <a:rPr lang="en-US" sz="2400" dirty="0" smtClean="0"/>
              <a:t>Summary</a:t>
            </a:r>
            <a:r>
              <a:rPr lang="en-US" sz="2400" i="1" dirty="0" smtClean="0"/>
              <a:t>: </a:t>
            </a:r>
            <a:r>
              <a:rPr lang="en-US" sz="2400" i="1" dirty="0" err="1" smtClean="0"/>
              <a:t>badmin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showstatus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i="1" dirty="0" smtClean="0"/>
              <a:t/>
            </a:r>
            <a:br>
              <a:rPr lang="en-US" sz="2400" i="1" dirty="0" smtClean="0"/>
            </a:b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1303541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smtClean="0"/>
              <a:t>IBM GPFS - General </a:t>
            </a:r>
            <a:r>
              <a:rPr lang="en-US" sz="3600" dirty="0" smtClean="0"/>
              <a:t>Parallel File System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shares NSDs (Network Storage Disks) between the hosts of a GPFS cluster</a:t>
            </a:r>
          </a:p>
          <a:p>
            <a:r>
              <a:rPr lang="en-US" sz="2400" dirty="0" smtClean="0"/>
              <a:t>the data access is done at block level (not at file level)</a:t>
            </a:r>
          </a:p>
          <a:p>
            <a:r>
              <a:rPr lang="en-US" sz="2400" dirty="0" smtClean="0"/>
              <a:t>a NSD can be created from a local hard disk drive, from several local hard disk drives (connected in RAID or as a multipath device) or from the partitions/LUNs (Logical Unit Number – an ID of a storage device in a SCSI environment)</a:t>
            </a:r>
          </a:p>
          <a:p>
            <a:r>
              <a:rPr lang="en-US" sz="2400" dirty="0"/>
              <a:t>t</a:t>
            </a:r>
            <a:r>
              <a:rPr lang="en-US" sz="2400" dirty="0" smtClean="0"/>
              <a:t>he NDSs are exposed to the hosts computers in the GPFS cluster by NSD servers.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47602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 smtClean="0"/>
              <a:t>UBB’s IBM Intelligent Cluster (2016)</a:t>
            </a:r>
            <a:endParaRPr lang="ro-RO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9325" y="1981200"/>
            <a:ext cx="7661275" cy="4400128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HPC Cluster + Cloud System</a:t>
            </a:r>
          </a:p>
          <a:p>
            <a:r>
              <a:rPr lang="en-US" dirty="0" smtClean="0"/>
              <a:t>Built by IBM (costed approx. 1 mil. EUR, without VAT)</a:t>
            </a:r>
          </a:p>
          <a:p>
            <a:r>
              <a:rPr lang="en-US" dirty="0" smtClean="0"/>
              <a:t>Consists of: 4x 42U computing racks, 4x cooling rack(+exterior unit), 2 UPS enclosures</a:t>
            </a:r>
          </a:p>
          <a:p>
            <a:r>
              <a:rPr lang="en-US" dirty="0" smtClean="0"/>
              <a:t>Performance: </a:t>
            </a:r>
            <a:r>
              <a:rPr lang="ro-RO" dirty="0" smtClean="0"/>
              <a:t>Rpeak 62 Tflops</a:t>
            </a:r>
            <a:r>
              <a:rPr lang="en-US" dirty="0" smtClean="0"/>
              <a:t> (theoretical)</a:t>
            </a:r>
            <a:r>
              <a:rPr lang="ro-RO" dirty="0" smtClean="0"/>
              <a:t>, Rmax 40 Tflops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122499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 smtClean="0"/>
              <a:t>UBB’s IBM </a:t>
            </a:r>
            <a:r>
              <a:rPr lang="en-US" sz="3600" dirty="0" err="1" smtClean="0"/>
              <a:t>NextScale</a:t>
            </a:r>
            <a:r>
              <a:rPr lang="en-US" sz="3600" dirty="0" smtClean="0"/>
              <a:t> (HPC Cluster)</a:t>
            </a:r>
            <a:endParaRPr lang="ro-RO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556792"/>
            <a:ext cx="8460432" cy="5301208"/>
          </a:xfrm>
        </p:spPr>
        <p:txBody>
          <a:bodyPr/>
          <a:lstStyle/>
          <a:p>
            <a:r>
              <a:rPr lang="en-US" sz="2400" dirty="0" smtClean="0"/>
              <a:t>68 Nx360 M5 computing nodes</a:t>
            </a:r>
          </a:p>
          <a:p>
            <a:pPr lvl="1"/>
            <a:r>
              <a:rPr lang="en-US" sz="1800" dirty="0" smtClean="0"/>
              <a:t>50 nodes: 2x Intel Xeon E5-2660 v3 CPU, 10 cores; 128GB RAM; 2 HDD SATA 500 GB</a:t>
            </a:r>
          </a:p>
          <a:p>
            <a:pPr lvl="1"/>
            <a:r>
              <a:rPr lang="en-US" sz="1800" dirty="0" smtClean="0"/>
              <a:t>12 nodes with 2 </a:t>
            </a:r>
            <a:r>
              <a:rPr lang="en-US" sz="1800" dirty="0" err="1" smtClean="0"/>
              <a:t>Nvidia</a:t>
            </a:r>
            <a:r>
              <a:rPr lang="en-US" sz="1800" dirty="0" smtClean="0"/>
              <a:t> K40X GPU</a:t>
            </a:r>
          </a:p>
          <a:p>
            <a:pPr lvl="1"/>
            <a:r>
              <a:rPr lang="en-US" sz="1800" dirty="0" smtClean="0"/>
              <a:t>6 nodes with Intel Phi</a:t>
            </a:r>
            <a:endParaRPr lang="en-US" sz="1800" dirty="0"/>
          </a:p>
          <a:p>
            <a:r>
              <a:rPr lang="en-US" sz="2400" dirty="0" smtClean="0"/>
              <a:t>Fast networking: 56 Gb/s (</a:t>
            </a:r>
            <a:r>
              <a:rPr lang="en-US" sz="2400" dirty="0" err="1" smtClean="0"/>
              <a:t>Infiniband</a:t>
            </a:r>
            <a:r>
              <a:rPr lang="en-US" sz="2400" dirty="0" smtClean="0"/>
              <a:t> </a:t>
            </a:r>
            <a:r>
              <a:rPr lang="en-US" sz="2400" dirty="0" err="1" smtClean="0"/>
              <a:t>Mellanox</a:t>
            </a:r>
            <a:r>
              <a:rPr lang="en-US" sz="2400" dirty="0" smtClean="0"/>
              <a:t> FDR switch </a:t>
            </a:r>
            <a:r>
              <a:rPr lang="ro-RO" sz="2400" dirty="0" smtClean="0"/>
              <a:t>SX6512</a:t>
            </a:r>
            <a:r>
              <a:rPr lang="en-US" sz="2400" dirty="0" smtClean="0"/>
              <a:t> with 216 ports, 1:1 subscription rate)</a:t>
            </a:r>
          </a:p>
          <a:p>
            <a:r>
              <a:rPr lang="en-US" sz="2400" dirty="0" smtClean="0"/>
              <a:t>Storage: IBM GPFS (General Parallel File System) </a:t>
            </a:r>
            <a:r>
              <a:rPr lang="ro-RO" sz="2400" dirty="0" smtClean="0"/>
              <a:t>NetApp E5660</a:t>
            </a:r>
            <a:r>
              <a:rPr lang="en-US" sz="2400" dirty="0" smtClean="0"/>
              <a:t> Total: 72TB</a:t>
            </a:r>
            <a:endParaRPr lang="ro-RO" sz="2400" dirty="0" smtClean="0"/>
          </a:p>
          <a:p>
            <a:r>
              <a:rPr lang="en-US" sz="2400" dirty="0" smtClean="0"/>
              <a:t>Backup: IBM TS3100 Tape library </a:t>
            </a:r>
          </a:p>
          <a:p>
            <a:r>
              <a:rPr lang="en-US" sz="2400" dirty="0" smtClean="0"/>
              <a:t>Mgmt. Software: IBM Platform HPC 4.2 and </a:t>
            </a:r>
            <a:r>
              <a:rPr lang="en-US" sz="2400" dirty="0" err="1" smtClean="0"/>
              <a:t>RedHat</a:t>
            </a:r>
            <a:r>
              <a:rPr lang="en-US" sz="2400" dirty="0" smtClean="0"/>
              <a:t> Linux Enterprise </a:t>
            </a:r>
            <a:r>
              <a:rPr lang="en-US" sz="2400" dirty="0" smtClean="0"/>
              <a:t>7.2 </a:t>
            </a:r>
            <a:r>
              <a:rPr lang="en-US" sz="2400" dirty="0" smtClean="0"/>
              <a:t>for comp. nodes</a:t>
            </a:r>
          </a:p>
          <a:p>
            <a:r>
              <a:rPr lang="en-US" sz="2400" dirty="0" smtClean="0"/>
              <a:t>Others: 2 management nodes, 2 NSD, Fast Ethernet switches</a:t>
            </a:r>
            <a:endParaRPr lang="ro-RO" sz="2400" dirty="0"/>
          </a:p>
        </p:txBody>
      </p:sp>
    </p:spTree>
    <p:extLst>
      <p:ext uri="{BB962C8B-B14F-4D97-AF65-F5344CB8AC3E}">
        <p14:creationId xmlns:p14="http://schemas.microsoft.com/office/powerpoint/2010/main" val="885929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 smtClean="0"/>
              <a:t>UBB’s IBM Flex System (Cloud System)</a:t>
            </a:r>
            <a:endParaRPr lang="ro-RO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9325" y="1981200"/>
            <a:ext cx="7727131" cy="4256112"/>
          </a:xfrm>
        </p:spPr>
        <p:txBody>
          <a:bodyPr/>
          <a:lstStyle/>
          <a:p>
            <a:r>
              <a:rPr lang="ro-RO" sz="2400" dirty="0" smtClean="0"/>
              <a:t>10 </a:t>
            </a:r>
            <a:r>
              <a:rPr lang="en-US" sz="2400" dirty="0" smtClean="0"/>
              <a:t>virtualization servers</a:t>
            </a:r>
            <a:r>
              <a:rPr lang="ro-RO" sz="2400" dirty="0" smtClean="0"/>
              <a:t>  Flex System x240</a:t>
            </a:r>
            <a:endParaRPr lang="en-US" sz="2400" dirty="0" smtClean="0"/>
          </a:p>
          <a:p>
            <a:pPr lvl="1"/>
            <a:r>
              <a:rPr lang="en-US" sz="1800" dirty="0" smtClean="0"/>
              <a:t>128 Gb RAM / server</a:t>
            </a:r>
          </a:p>
          <a:p>
            <a:pPr lvl="1"/>
            <a:r>
              <a:rPr lang="en-US" sz="1800" dirty="0" smtClean="0"/>
              <a:t>CPU 2 x Intel Xeon E5-2640 v2 / server</a:t>
            </a:r>
          </a:p>
          <a:p>
            <a:pPr lvl="1"/>
            <a:r>
              <a:rPr lang="en-US" sz="1800" dirty="0" smtClean="0"/>
              <a:t>HDD 2 x SSD SATA 240 Gb / server </a:t>
            </a:r>
          </a:p>
          <a:p>
            <a:r>
              <a:rPr lang="en-US" sz="2400" dirty="0" smtClean="0"/>
              <a:t>1 management server</a:t>
            </a:r>
          </a:p>
          <a:p>
            <a:r>
              <a:rPr lang="en-US" sz="2400" dirty="0" smtClean="0"/>
              <a:t>Cloud Software: IBM cloud manager with OpenStack 4.2</a:t>
            </a:r>
          </a:p>
          <a:p>
            <a:r>
              <a:rPr lang="en-US" sz="2400" dirty="0" smtClean="0"/>
              <a:t>Management and Monitor Software: IBM Flex System Manager software stack </a:t>
            </a:r>
          </a:p>
          <a:p>
            <a:r>
              <a:rPr lang="en-US" sz="2400" dirty="0" smtClean="0"/>
              <a:t>Virtualization Software: </a:t>
            </a:r>
            <a:r>
              <a:rPr lang="en-US" sz="2400" dirty="0" err="1" smtClean="0"/>
              <a:t>Vmware</a:t>
            </a:r>
            <a:r>
              <a:rPr lang="en-US" sz="2400" dirty="0" smtClean="0"/>
              <a:t> vSphere Enterprise 5.1 </a:t>
            </a:r>
            <a:endParaRPr lang="ro-RO" sz="2400" dirty="0" smtClean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35892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 smtClean="0"/>
              <a:t>Cluster application software </a:t>
            </a:r>
            <a:endParaRPr lang="ro-RO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9325" y="1981200"/>
            <a:ext cx="7727131" cy="4760168"/>
          </a:xfrm>
        </p:spPr>
        <p:txBody>
          <a:bodyPr/>
          <a:lstStyle/>
          <a:p>
            <a:r>
              <a:rPr lang="en-US" sz="2800" dirty="0" smtClean="0"/>
              <a:t>Inter Parallel Studio</a:t>
            </a:r>
          </a:p>
          <a:p>
            <a:r>
              <a:rPr lang="en-US" sz="2800" dirty="0" err="1" smtClean="0"/>
              <a:t>Matlab</a:t>
            </a:r>
            <a:endParaRPr lang="en-US" sz="2800" dirty="0" smtClean="0"/>
          </a:p>
          <a:p>
            <a:r>
              <a:rPr lang="en-US" sz="2800" dirty="0" smtClean="0"/>
              <a:t>Mathematica</a:t>
            </a:r>
          </a:p>
          <a:p>
            <a:r>
              <a:rPr lang="en-US" sz="2800" dirty="0" err="1" smtClean="0"/>
              <a:t>Lumerical</a:t>
            </a:r>
            <a:r>
              <a:rPr lang="en-US" sz="2800" dirty="0" smtClean="0"/>
              <a:t> FDTD</a:t>
            </a:r>
          </a:p>
          <a:p>
            <a:r>
              <a:rPr lang="en-US" sz="2800" dirty="0" err="1" smtClean="0"/>
              <a:t>Ansys</a:t>
            </a:r>
            <a:endParaRPr lang="en-US" sz="2800" dirty="0" smtClean="0"/>
          </a:p>
          <a:p>
            <a:r>
              <a:rPr lang="en-US" sz="2800" dirty="0" err="1" smtClean="0"/>
              <a:t>Comsol</a:t>
            </a:r>
            <a:endParaRPr lang="en-US" sz="2800" dirty="0" smtClean="0"/>
          </a:p>
          <a:p>
            <a:r>
              <a:rPr lang="en-US" sz="2800" dirty="0" smtClean="0"/>
              <a:t>Multiphysics Gaussian</a:t>
            </a:r>
          </a:p>
          <a:p>
            <a:r>
              <a:rPr lang="en-US" sz="2800" dirty="0" smtClean="0"/>
              <a:t>Material Studio</a:t>
            </a:r>
          </a:p>
          <a:p>
            <a:r>
              <a:rPr lang="en-US" sz="2800" dirty="0" smtClean="0"/>
              <a:t>…</a:t>
            </a:r>
            <a:endParaRPr lang="ro-RO" sz="2800" dirty="0"/>
          </a:p>
        </p:txBody>
      </p:sp>
    </p:spTree>
    <p:extLst>
      <p:ext uri="{BB962C8B-B14F-4D97-AF65-F5344CB8AC3E}">
        <p14:creationId xmlns:p14="http://schemas.microsoft.com/office/powerpoint/2010/main" val="1884730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 smtClean="0"/>
              <a:t>Cluster physical view</a:t>
            </a:r>
            <a:endParaRPr lang="ro-RO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772816"/>
            <a:ext cx="7704856" cy="43301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9592" y="6165304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managed by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Faculty of Mathematics and Computer Science &amp; Faculty of Economic Studies</a:t>
            </a:r>
            <a:endParaRPr lang="ro-RO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407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5"/>
          <p:cNvSpPr>
            <a:spLocks noChangeArrowheads="1"/>
          </p:cNvSpPr>
          <p:nvPr/>
        </p:nvSpPr>
        <p:spPr bwMode="auto">
          <a:xfrm>
            <a:off x="1676400" y="1917700"/>
            <a:ext cx="7239000" cy="4635500"/>
          </a:xfrm>
          <a:prstGeom prst="rect">
            <a:avLst/>
          </a:prstGeom>
          <a:solidFill>
            <a:srgbClr val="7889FB"/>
          </a:solidFill>
          <a:ln w="793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6386" name="Rectangle 13"/>
          <p:cNvSpPr>
            <a:spLocks noChangeArrowheads="1"/>
          </p:cNvSpPr>
          <p:nvPr/>
        </p:nvSpPr>
        <p:spPr bwMode="auto">
          <a:xfrm>
            <a:off x="5334000" y="2171700"/>
            <a:ext cx="3505200" cy="4254500"/>
          </a:xfrm>
          <a:prstGeom prst="rect">
            <a:avLst/>
          </a:prstGeom>
          <a:solidFill>
            <a:srgbClr val="C0C0C0"/>
          </a:solidFill>
          <a:ln w="8001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altLang="en-US" sz="1200" b="1"/>
              <a:t>   </a:t>
            </a:r>
            <a:endParaRPr lang="de-DE" altLang="en-US" sz="600" b="1"/>
          </a:p>
        </p:txBody>
      </p:sp>
      <p:sp>
        <p:nvSpPr>
          <p:cNvPr id="16387" name="Line 14"/>
          <p:cNvSpPr>
            <a:spLocks noChangeShapeType="1"/>
          </p:cNvSpPr>
          <p:nvPr/>
        </p:nvSpPr>
        <p:spPr bwMode="auto">
          <a:xfrm flipH="1">
            <a:off x="5791200" y="3581400"/>
            <a:ext cx="0" cy="1222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8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mtClean="0">
                <a:ea typeface="ＭＳ Ｐゴシック" pitchFamily="34" charset="-128"/>
              </a:rPr>
              <a:t>IT Architecture for HPC and Private Cloud Computing</a:t>
            </a:r>
          </a:p>
        </p:txBody>
      </p:sp>
      <p:sp>
        <p:nvSpPr>
          <p:cNvPr id="1638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fld id="{68CB0C03-0F1B-40F1-8D5F-285D3989644D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16390" name="Rectangle 4"/>
          <p:cNvSpPr>
            <a:spLocks noChangeArrowheads="1"/>
          </p:cNvSpPr>
          <p:nvPr/>
        </p:nvSpPr>
        <p:spPr bwMode="auto">
          <a:xfrm>
            <a:off x="228600" y="1917700"/>
            <a:ext cx="1295400" cy="34290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endParaRPr lang="en-US" altLang="en-US" sz="1600">
              <a:cs typeface="Arial" pitchFamily="34" charset="0"/>
            </a:endParaRPr>
          </a:p>
        </p:txBody>
      </p:sp>
      <p:sp>
        <p:nvSpPr>
          <p:cNvPr id="16391" name="Rectangle 6"/>
          <p:cNvSpPr>
            <a:spLocks noChangeArrowheads="1"/>
          </p:cNvSpPr>
          <p:nvPr/>
        </p:nvSpPr>
        <p:spPr bwMode="auto">
          <a:xfrm>
            <a:off x="1981200" y="2171700"/>
            <a:ext cx="2971800" cy="4254500"/>
          </a:xfrm>
          <a:prstGeom prst="rect">
            <a:avLst/>
          </a:prstGeom>
          <a:solidFill>
            <a:srgbClr val="C0C0C0"/>
          </a:solidFill>
          <a:ln w="8001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/>
            <a:endParaRPr lang="en-US" altLang="en-US" sz="800" b="1"/>
          </a:p>
        </p:txBody>
      </p:sp>
      <p:sp>
        <p:nvSpPr>
          <p:cNvPr id="16392" name="Rectangle 7" descr="Dark vertical"/>
          <p:cNvSpPr>
            <a:spLocks noChangeArrowheads="1"/>
          </p:cNvSpPr>
          <p:nvPr/>
        </p:nvSpPr>
        <p:spPr bwMode="auto">
          <a:xfrm>
            <a:off x="2133600" y="4711700"/>
            <a:ext cx="2743200" cy="1651000"/>
          </a:xfrm>
          <a:prstGeom prst="rect">
            <a:avLst/>
          </a:prstGeom>
          <a:pattFill prst="dkVert">
            <a:fgClr>
              <a:schemeClr val="hlink"/>
            </a:fgClr>
            <a:bgClr>
              <a:srgbClr val="FFFFFF"/>
            </a:bgClr>
          </a:pattFill>
          <a:ln w="8001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de-DE" altLang="en-US" sz="1600" b="1"/>
              <a:t>Flex Chassie</a:t>
            </a:r>
          </a:p>
        </p:txBody>
      </p:sp>
      <p:sp>
        <p:nvSpPr>
          <p:cNvPr id="16393" name="Rectangle 8"/>
          <p:cNvSpPr>
            <a:spLocks noChangeArrowheads="1"/>
          </p:cNvSpPr>
          <p:nvPr/>
        </p:nvSpPr>
        <p:spPr bwMode="auto">
          <a:xfrm>
            <a:off x="228600" y="1346200"/>
            <a:ext cx="4953000" cy="5080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altLang="en-US" sz="1400" b="1">
                <a:cs typeface="Arial" pitchFamily="34" charset="0"/>
              </a:rPr>
              <a:t>CMwO Self Service Portal  - Enduser</a:t>
            </a:r>
          </a:p>
          <a:p>
            <a:pPr algn="ctr"/>
            <a:r>
              <a:rPr lang="de-DE" altLang="en-US" sz="1100" b="1">
                <a:cs typeface="Arial" pitchFamily="34" charset="0"/>
              </a:rPr>
              <a:t>(XML)</a:t>
            </a:r>
          </a:p>
        </p:txBody>
      </p:sp>
      <p:sp>
        <p:nvSpPr>
          <p:cNvPr id="16394" name="AutoShape 8"/>
          <p:cNvSpPr>
            <a:spLocks noChangeArrowheads="1"/>
          </p:cNvSpPr>
          <p:nvPr/>
        </p:nvSpPr>
        <p:spPr bwMode="auto">
          <a:xfrm>
            <a:off x="304800" y="3568700"/>
            <a:ext cx="1066800" cy="635000"/>
          </a:xfrm>
          <a:prstGeom prst="can">
            <a:avLst>
              <a:gd name="adj" fmla="val 2500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endParaRPr lang="de-DE" altLang="en-US" sz="1200" b="1">
              <a:solidFill>
                <a:srgbClr val="000000"/>
              </a:solidFill>
            </a:endParaRPr>
          </a:p>
          <a:p>
            <a:pPr algn="ctr"/>
            <a:endParaRPr lang="de-DE" altLang="en-US" sz="1200" b="1">
              <a:solidFill>
                <a:srgbClr val="000000"/>
              </a:solidFill>
            </a:endParaRPr>
          </a:p>
          <a:p>
            <a:pPr algn="ctr"/>
            <a:r>
              <a:rPr lang="de-DE" altLang="en-US" sz="1200" b="1">
                <a:solidFill>
                  <a:srgbClr val="000000"/>
                </a:solidFill>
              </a:rPr>
              <a:t>GPFS</a:t>
            </a:r>
          </a:p>
          <a:p>
            <a:pPr algn="ctr"/>
            <a:r>
              <a:rPr lang="de-DE" altLang="en-US" sz="800" b="1">
                <a:solidFill>
                  <a:srgbClr val="000000"/>
                </a:solidFill>
              </a:rPr>
              <a:t>LUN‘s</a:t>
            </a:r>
          </a:p>
          <a:p>
            <a:pPr algn="ctr"/>
            <a:endParaRPr lang="de-DE" altLang="en-US"/>
          </a:p>
        </p:txBody>
      </p:sp>
      <p:sp>
        <p:nvSpPr>
          <p:cNvPr id="16395" name="AutoShape 9"/>
          <p:cNvSpPr>
            <a:spLocks noChangeArrowheads="1"/>
          </p:cNvSpPr>
          <p:nvPr/>
        </p:nvSpPr>
        <p:spPr bwMode="auto">
          <a:xfrm>
            <a:off x="304800" y="4330700"/>
            <a:ext cx="1066800" cy="635000"/>
          </a:xfrm>
          <a:prstGeom prst="can">
            <a:avLst>
              <a:gd name="adj" fmla="val 25000"/>
            </a:avLst>
          </a:prstGeom>
          <a:solidFill>
            <a:srgbClr val="66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altLang="en-US" sz="1400" b="1">
                <a:solidFill>
                  <a:srgbClr val="000000"/>
                </a:solidFill>
              </a:rPr>
              <a:t>Flex</a:t>
            </a:r>
            <a:endParaRPr lang="de-DE" altLang="en-US" sz="900" b="1">
              <a:solidFill>
                <a:srgbClr val="000000"/>
              </a:solidFill>
            </a:endParaRPr>
          </a:p>
          <a:p>
            <a:pPr algn="ctr"/>
            <a:r>
              <a:rPr lang="de-DE" altLang="en-US" sz="800" b="1">
                <a:solidFill>
                  <a:srgbClr val="000000"/>
                </a:solidFill>
              </a:rPr>
              <a:t>LUN‘s</a:t>
            </a:r>
            <a:endParaRPr lang="de-DE" altLang="en-US"/>
          </a:p>
        </p:txBody>
      </p:sp>
      <p:sp>
        <p:nvSpPr>
          <p:cNvPr id="16396" name="Line 10"/>
          <p:cNvSpPr>
            <a:spLocks noChangeShapeType="1"/>
          </p:cNvSpPr>
          <p:nvPr/>
        </p:nvSpPr>
        <p:spPr bwMode="auto">
          <a:xfrm flipH="1">
            <a:off x="5546725" y="3098800"/>
            <a:ext cx="47307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7" name="Rectangle 15"/>
          <p:cNvSpPr>
            <a:spLocks noChangeArrowheads="1"/>
          </p:cNvSpPr>
          <p:nvPr/>
        </p:nvSpPr>
        <p:spPr bwMode="auto">
          <a:xfrm>
            <a:off x="2339975" y="2235200"/>
            <a:ext cx="2247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de-DE" altLang="en-US" sz="1400"/>
              <a:t>Virtualization Resource Pool</a:t>
            </a:r>
          </a:p>
          <a:p>
            <a:r>
              <a:rPr lang="de-DE" altLang="en-US" sz="1000">
                <a:solidFill>
                  <a:srgbClr val="FF0000"/>
                </a:solidFill>
              </a:rPr>
              <a:t>Flex System Ent.</a:t>
            </a:r>
            <a:endParaRPr lang="de-DE" altLang="en-US" sz="1100">
              <a:solidFill>
                <a:srgbClr val="FF0000"/>
              </a:solidFill>
            </a:endParaRPr>
          </a:p>
        </p:txBody>
      </p:sp>
      <p:sp>
        <p:nvSpPr>
          <p:cNvPr id="16398" name="Line 14"/>
          <p:cNvSpPr>
            <a:spLocks noChangeShapeType="1"/>
          </p:cNvSpPr>
          <p:nvPr/>
        </p:nvSpPr>
        <p:spPr bwMode="auto">
          <a:xfrm flipH="1">
            <a:off x="5715000" y="3489325"/>
            <a:ext cx="0" cy="1222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9" name="Rectangle 17"/>
          <p:cNvSpPr>
            <a:spLocks noChangeArrowheads="1"/>
          </p:cNvSpPr>
          <p:nvPr/>
        </p:nvSpPr>
        <p:spPr bwMode="auto">
          <a:xfrm>
            <a:off x="2063750" y="2652713"/>
            <a:ext cx="1231900" cy="814387"/>
          </a:xfrm>
          <a:prstGeom prst="rect">
            <a:avLst/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de-DE" altLang="en-US" sz="1100" b="1">
                <a:cs typeface="Arial" pitchFamily="34" charset="0"/>
              </a:rPr>
              <a:t>CMwO Admin</a:t>
            </a:r>
            <a:endParaRPr lang="de-DE" altLang="en-US" sz="1000" b="1">
              <a:cs typeface="Arial" pitchFamily="34" charset="0"/>
            </a:endParaRPr>
          </a:p>
          <a:p>
            <a:r>
              <a:rPr lang="de-DE" altLang="en-US" sz="700">
                <a:cs typeface="Arial" pitchFamily="34" charset="0"/>
              </a:rPr>
              <a:t>Self Service</a:t>
            </a:r>
          </a:p>
          <a:p>
            <a:r>
              <a:rPr lang="de-DE" altLang="en-US" sz="700">
                <a:cs typeface="Arial" pitchFamily="34" charset="0"/>
              </a:rPr>
              <a:t>SLA Management</a:t>
            </a:r>
          </a:p>
          <a:p>
            <a:r>
              <a:rPr lang="de-DE" altLang="en-US" sz="700">
                <a:cs typeface="Arial" pitchFamily="34" charset="0"/>
              </a:rPr>
              <a:t>Metering</a:t>
            </a:r>
          </a:p>
          <a:p>
            <a:r>
              <a:rPr lang="de-DE" altLang="en-US" sz="700">
                <a:cs typeface="Arial" pitchFamily="34" charset="0"/>
              </a:rPr>
              <a:t>Accounting </a:t>
            </a:r>
          </a:p>
          <a:p>
            <a:r>
              <a:rPr lang="de-DE" altLang="en-US" sz="700">
                <a:cs typeface="Arial" pitchFamily="34" charset="0"/>
              </a:rPr>
              <a:t>Image Provisioning</a:t>
            </a:r>
          </a:p>
        </p:txBody>
      </p:sp>
      <p:sp>
        <p:nvSpPr>
          <p:cNvPr id="16400" name="Rectangle 18"/>
          <p:cNvSpPr>
            <a:spLocks noChangeArrowheads="1"/>
          </p:cNvSpPr>
          <p:nvPr/>
        </p:nvSpPr>
        <p:spPr bwMode="auto">
          <a:xfrm>
            <a:off x="5410200" y="4713288"/>
            <a:ext cx="3276600" cy="164941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endParaRPr lang="de-DE" altLang="en-US" sz="1600" b="1">
              <a:cs typeface="Arial" pitchFamily="34" charset="0"/>
            </a:endParaRPr>
          </a:p>
          <a:p>
            <a:r>
              <a:rPr lang="de-DE" altLang="en-US" sz="1400" b="1">
                <a:cs typeface="Arial" pitchFamily="34" charset="0"/>
              </a:rPr>
              <a:t>NextScale Compute Nodes</a:t>
            </a:r>
            <a:endParaRPr lang="de-DE" altLang="en-US" sz="1400">
              <a:cs typeface="Arial" pitchFamily="34" charset="0"/>
            </a:endParaRPr>
          </a:p>
          <a:p>
            <a:endParaRPr lang="de-DE" altLang="en-US" sz="1000">
              <a:cs typeface="Arial" pitchFamily="34" charset="0"/>
            </a:endParaRPr>
          </a:p>
          <a:p>
            <a:endParaRPr lang="de-DE" altLang="en-US" sz="1000">
              <a:cs typeface="Arial" pitchFamily="34" charset="0"/>
            </a:endParaRPr>
          </a:p>
          <a:p>
            <a:endParaRPr lang="de-DE" altLang="en-US" sz="1000">
              <a:cs typeface="Arial" pitchFamily="34" charset="0"/>
            </a:endParaRPr>
          </a:p>
          <a:p>
            <a:endParaRPr lang="de-DE" altLang="en-US" sz="1000">
              <a:cs typeface="Arial" pitchFamily="34" charset="0"/>
            </a:endParaRPr>
          </a:p>
          <a:p>
            <a:endParaRPr lang="de-DE" altLang="en-US" sz="1000">
              <a:cs typeface="Arial" pitchFamily="34" charset="0"/>
            </a:endParaRPr>
          </a:p>
          <a:p>
            <a:endParaRPr lang="de-DE" altLang="en-US" sz="1000">
              <a:cs typeface="Arial" pitchFamily="34" charset="0"/>
            </a:endParaRPr>
          </a:p>
          <a:p>
            <a:endParaRPr lang="de-DE" altLang="en-US" sz="1000">
              <a:cs typeface="Arial" pitchFamily="34" charset="0"/>
            </a:endParaRPr>
          </a:p>
          <a:p>
            <a:endParaRPr lang="de-DE" altLang="en-US" sz="1000">
              <a:cs typeface="Arial" pitchFamily="34" charset="0"/>
            </a:endParaRPr>
          </a:p>
          <a:p>
            <a:endParaRPr lang="de-DE" altLang="en-US" sz="1000">
              <a:cs typeface="Arial" pitchFamily="34" charset="0"/>
            </a:endParaRPr>
          </a:p>
          <a:p>
            <a:endParaRPr lang="de-DE" altLang="en-US" sz="1000">
              <a:cs typeface="Arial" pitchFamily="34" charset="0"/>
            </a:endParaRPr>
          </a:p>
        </p:txBody>
      </p:sp>
      <p:sp>
        <p:nvSpPr>
          <p:cNvPr id="16401" name="Line 18"/>
          <p:cNvSpPr>
            <a:spLocks noChangeShapeType="1"/>
          </p:cNvSpPr>
          <p:nvPr/>
        </p:nvSpPr>
        <p:spPr bwMode="auto">
          <a:xfrm>
            <a:off x="6096000" y="30607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2" name="Rectangle 22"/>
          <p:cNvSpPr>
            <a:spLocks noChangeArrowheads="1"/>
          </p:cNvSpPr>
          <p:nvPr/>
        </p:nvSpPr>
        <p:spPr bwMode="auto">
          <a:xfrm>
            <a:off x="2286000" y="5541963"/>
            <a:ext cx="685800" cy="254000"/>
          </a:xfrm>
          <a:prstGeom prst="rect">
            <a:avLst/>
          </a:prstGeom>
          <a:solidFill>
            <a:srgbClr val="7889F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altLang="en-US" sz="800">
                <a:cs typeface="Arial" pitchFamily="34" charset="0"/>
              </a:rPr>
              <a:t>Compute</a:t>
            </a:r>
          </a:p>
          <a:p>
            <a:pPr algn="ctr"/>
            <a:r>
              <a:rPr lang="de-DE" altLang="en-US" sz="800">
                <a:cs typeface="Arial" pitchFamily="34" charset="0"/>
              </a:rPr>
              <a:t>Node</a:t>
            </a: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3884613" y="5473700"/>
            <a:ext cx="915987" cy="2397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>
            <a:defPPr>
              <a:defRPr lang="de-DE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>
              <a:defRPr/>
            </a:pPr>
            <a:r>
              <a:rPr lang="de-DE" sz="700" dirty="0" smtClean="0">
                <a:cs typeface="Arial" panose="020B0604020202020204" pitchFamily="34" charset="0"/>
              </a:rPr>
              <a:t>16Gbps FC Network</a:t>
            </a:r>
            <a:endParaRPr lang="de-DE" sz="700" dirty="0">
              <a:cs typeface="Arial" panose="020B0604020202020204" pitchFamily="34" charset="0"/>
            </a:endParaRPr>
          </a:p>
        </p:txBody>
      </p:sp>
      <p:sp>
        <p:nvSpPr>
          <p:cNvPr id="16404" name="Rectangle 26"/>
          <p:cNvSpPr>
            <a:spLocks noChangeArrowheads="1"/>
          </p:cNvSpPr>
          <p:nvPr/>
        </p:nvSpPr>
        <p:spPr bwMode="auto">
          <a:xfrm>
            <a:off x="4114800" y="6070600"/>
            <a:ext cx="685800" cy="254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altLang="en-US" sz="800">
                <a:cs typeface="Arial" pitchFamily="34" charset="0"/>
              </a:rPr>
              <a:t>Chassies MNG </a:t>
            </a:r>
          </a:p>
          <a:p>
            <a:pPr algn="ctr"/>
            <a:r>
              <a:rPr lang="de-DE" altLang="en-US" sz="800">
                <a:cs typeface="Arial" pitchFamily="34" charset="0"/>
              </a:rPr>
              <a:t>Module</a:t>
            </a:r>
          </a:p>
        </p:txBody>
      </p:sp>
      <p:sp>
        <p:nvSpPr>
          <p:cNvPr id="16405" name="Line 34"/>
          <p:cNvSpPr>
            <a:spLocks noChangeShapeType="1"/>
          </p:cNvSpPr>
          <p:nvPr/>
        </p:nvSpPr>
        <p:spPr bwMode="auto">
          <a:xfrm flipV="1">
            <a:off x="1371600" y="4800600"/>
            <a:ext cx="755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6" name="Line 35"/>
          <p:cNvSpPr>
            <a:spLocks noChangeShapeType="1"/>
          </p:cNvSpPr>
          <p:nvPr/>
        </p:nvSpPr>
        <p:spPr bwMode="auto">
          <a:xfrm>
            <a:off x="2133600" y="1881188"/>
            <a:ext cx="0" cy="771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7" name="Line 36"/>
          <p:cNvSpPr>
            <a:spLocks noChangeShapeType="1"/>
          </p:cNvSpPr>
          <p:nvPr/>
        </p:nvSpPr>
        <p:spPr bwMode="auto">
          <a:xfrm>
            <a:off x="4876800" y="28067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8" name="Line 38"/>
          <p:cNvSpPr>
            <a:spLocks noChangeShapeType="1"/>
          </p:cNvSpPr>
          <p:nvPr/>
        </p:nvSpPr>
        <p:spPr bwMode="auto">
          <a:xfrm>
            <a:off x="4419600" y="5854700"/>
            <a:ext cx="0" cy="12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9" name="Line 49"/>
          <p:cNvSpPr>
            <a:spLocks noChangeShapeType="1"/>
          </p:cNvSpPr>
          <p:nvPr/>
        </p:nvSpPr>
        <p:spPr bwMode="auto">
          <a:xfrm>
            <a:off x="2286000" y="4965700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0" name="Line 58"/>
          <p:cNvSpPr>
            <a:spLocks noChangeShapeType="1"/>
          </p:cNvSpPr>
          <p:nvPr/>
        </p:nvSpPr>
        <p:spPr bwMode="auto">
          <a:xfrm flipH="1">
            <a:off x="3295650" y="3076575"/>
            <a:ext cx="2936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11" name="Line 59"/>
          <p:cNvSpPr>
            <a:spLocks noChangeShapeType="1"/>
          </p:cNvSpPr>
          <p:nvPr/>
        </p:nvSpPr>
        <p:spPr bwMode="auto">
          <a:xfrm flipH="1" flipV="1">
            <a:off x="4256088" y="3505200"/>
            <a:ext cx="11112" cy="1206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2" name="Line 60"/>
          <p:cNvSpPr>
            <a:spLocks noChangeShapeType="1"/>
          </p:cNvSpPr>
          <p:nvPr/>
        </p:nvSpPr>
        <p:spPr bwMode="auto">
          <a:xfrm flipV="1">
            <a:off x="4267200" y="2933700"/>
            <a:ext cx="0" cy="571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3" name="Rectangle 67"/>
          <p:cNvSpPr>
            <a:spLocks noChangeArrowheads="1"/>
          </p:cNvSpPr>
          <p:nvPr/>
        </p:nvSpPr>
        <p:spPr bwMode="auto">
          <a:xfrm>
            <a:off x="6319838" y="2236788"/>
            <a:ext cx="160496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de-DE" altLang="en-US" sz="1400"/>
              <a:t>HPC Resource Pool</a:t>
            </a:r>
          </a:p>
          <a:p>
            <a:r>
              <a:rPr lang="de-DE" altLang="en-US" sz="1100">
                <a:solidFill>
                  <a:srgbClr val="FF0000"/>
                </a:solidFill>
              </a:rPr>
              <a:t>NextScale</a:t>
            </a:r>
            <a:endParaRPr lang="de-DE" altLang="en-US" sz="1400">
              <a:solidFill>
                <a:srgbClr val="FF0000"/>
              </a:solidFill>
            </a:endParaRPr>
          </a:p>
        </p:txBody>
      </p:sp>
      <p:sp>
        <p:nvSpPr>
          <p:cNvPr id="16414" name="Rectangle 69"/>
          <p:cNvSpPr>
            <a:spLocks noChangeArrowheads="1"/>
          </p:cNvSpPr>
          <p:nvPr/>
        </p:nvSpPr>
        <p:spPr bwMode="auto">
          <a:xfrm>
            <a:off x="2286000" y="5810250"/>
            <a:ext cx="685800" cy="254000"/>
          </a:xfrm>
          <a:prstGeom prst="rect">
            <a:avLst/>
          </a:prstGeom>
          <a:solidFill>
            <a:srgbClr val="7889F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altLang="en-US" sz="800">
                <a:cs typeface="Arial" pitchFamily="34" charset="0"/>
              </a:rPr>
              <a:t>Compute</a:t>
            </a:r>
          </a:p>
          <a:p>
            <a:pPr algn="ctr"/>
            <a:r>
              <a:rPr lang="de-DE" altLang="en-US" sz="800">
                <a:cs typeface="Arial" pitchFamily="34" charset="0"/>
              </a:rPr>
              <a:t>Node</a:t>
            </a:r>
          </a:p>
        </p:txBody>
      </p:sp>
      <p:sp>
        <p:nvSpPr>
          <p:cNvPr id="16415" name="Rectangle 70"/>
          <p:cNvSpPr>
            <a:spLocks noChangeArrowheads="1"/>
          </p:cNvSpPr>
          <p:nvPr/>
        </p:nvSpPr>
        <p:spPr bwMode="auto">
          <a:xfrm>
            <a:off x="2286000" y="6078538"/>
            <a:ext cx="685800" cy="254000"/>
          </a:xfrm>
          <a:prstGeom prst="rect">
            <a:avLst/>
          </a:prstGeom>
          <a:solidFill>
            <a:srgbClr val="7889F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altLang="en-US" sz="800">
                <a:cs typeface="Arial" pitchFamily="34" charset="0"/>
              </a:rPr>
              <a:t>Backup </a:t>
            </a:r>
          </a:p>
          <a:p>
            <a:pPr algn="ctr"/>
            <a:r>
              <a:rPr lang="de-DE" altLang="en-US" sz="800">
                <a:cs typeface="Arial" pitchFamily="34" charset="0"/>
              </a:rPr>
              <a:t>Node</a:t>
            </a:r>
          </a:p>
        </p:txBody>
      </p:sp>
      <p:sp>
        <p:nvSpPr>
          <p:cNvPr id="16416" name="Rectangle 71"/>
          <p:cNvSpPr>
            <a:spLocks noChangeArrowheads="1"/>
          </p:cNvSpPr>
          <p:nvPr/>
        </p:nvSpPr>
        <p:spPr bwMode="auto">
          <a:xfrm>
            <a:off x="2286000" y="5275263"/>
            <a:ext cx="685800" cy="254000"/>
          </a:xfrm>
          <a:prstGeom prst="rect">
            <a:avLst/>
          </a:prstGeom>
          <a:solidFill>
            <a:srgbClr val="7889F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altLang="en-US" sz="800">
                <a:cs typeface="Arial" pitchFamily="34" charset="0"/>
              </a:rPr>
              <a:t>Compute</a:t>
            </a:r>
          </a:p>
          <a:p>
            <a:pPr algn="ctr"/>
            <a:r>
              <a:rPr lang="de-DE" altLang="en-US" sz="800">
                <a:cs typeface="Arial" pitchFamily="34" charset="0"/>
              </a:rPr>
              <a:t>Node</a:t>
            </a:r>
          </a:p>
        </p:txBody>
      </p:sp>
      <p:sp>
        <p:nvSpPr>
          <p:cNvPr id="16417" name="Rectangle 72"/>
          <p:cNvSpPr>
            <a:spLocks noChangeArrowheads="1"/>
          </p:cNvSpPr>
          <p:nvPr/>
        </p:nvSpPr>
        <p:spPr bwMode="auto">
          <a:xfrm>
            <a:off x="2286000" y="5003800"/>
            <a:ext cx="685800" cy="254000"/>
          </a:xfrm>
          <a:prstGeom prst="rect">
            <a:avLst/>
          </a:prstGeom>
          <a:solidFill>
            <a:srgbClr val="7889F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altLang="en-US" sz="800">
                <a:cs typeface="Arial" pitchFamily="34" charset="0"/>
              </a:rPr>
              <a:t>Management</a:t>
            </a:r>
          </a:p>
          <a:p>
            <a:pPr algn="ctr"/>
            <a:r>
              <a:rPr lang="de-DE" altLang="en-US" sz="800">
                <a:cs typeface="Arial" pitchFamily="34" charset="0"/>
              </a:rPr>
              <a:t>Node</a:t>
            </a:r>
          </a:p>
        </p:txBody>
      </p:sp>
      <p:sp>
        <p:nvSpPr>
          <p:cNvPr id="16418" name="Rectangle 73"/>
          <p:cNvSpPr>
            <a:spLocks noChangeArrowheads="1"/>
          </p:cNvSpPr>
          <p:nvPr/>
        </p:nvSpPr>
        <p:spPr bwMode="auto">
          <a:xfrm>
            <a:off x="3048000" y="5534025"/>
            <a:ext cx="685800" cy="254000"/>
          </a:xfrm>
          <a:prstGeom prst="rect">
            <a:avLst/>
          </a:prstGeom>
          <a:solidFill>
            <a:srgbClr val="7889F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altLang="en-US" sz="800">
                <a:cs typeface="Arial" pitchFamily="34" charset="0"/>
              </a:rPr>
              <a:t>Compute</a:t>
            </a:r>
          </a:p>
          <a:p>
            <a:pPr algn="ctr"/>
            <a:r>
              <a:rPr lang="de-DE" altLang="en-US" sz="800">
                <a:cs typeface="Arial" pitchFamily="34" charset="0"/>
              </a:rPr>
              <a:t>Node</a:t>
            </a:r>
          </a:p>
        </p:txBody>
      </p:sp>
      <p:sp>
        <p:nvSpPr>
          <p:cNvPr id="16419" name="Rectangle 74"/>
          <p:cNvSpPr>
            <a:spLocks noChangeArrowheads="1"/>
          </p:cNvSpPr>
          <p:nvPr/>
        </p:nvSpPr>
        <p:spPr bwMode="auto">
          <a:xfrm>
            <a:off x="3048000" y="5802313"/>
            <a:ext cx="685800" cy="254000"/>
          </a:xfrm>
          <a:prstGeom prst="rect">
            <a:avLst/>
          </a:prstGeom>
          <a:solidFill>
            <a:srgbClr val="7889F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altLang="en-US" sz="800">
                <a:cs typeface="Arial" pitchFamily="34" charset="0"/>
              </a:rPr>
              <a:t>Compute</a:t>
            </a:r>
          </a:p>
          <a:p>
            <a:pPr algn="ctr"/>
            <a:r>
              <a:rPr lang="de-DE" altLang="en-US" sz="800">
                <a:cs typeface="Arial" pitchFamily="34" charset="0"/>
              </a:rPr>
              <a:t>Node</a:t>
            </a:r>
          </a:p>
        </p:txBody>
      </p:sp>
      <p:sp>
        <p:nvSpPr>
          <p:cNvPr id="16420" name="Rectangle 75"/>
          <p:cNvSpPr>
            <a:spLocks noChangeArrowheads="1"/>
          </p:cNvSpPr>
          <p:nvPr/>
        </p:nvSpPr>
        <p:spPr bwMode="auto">
          <a:xfrm>
            <a:off x="3048000" y="6070600"/>
            <a:ext cx="685800" cy="254000"/>
          </a:xfrm>
          <a:prstGeom prst="rect">
            <a:avLst/>
          </a:prstGeom>
          <a:solidFill>
            <a:srgbClr val="7889F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altLang="en-US" sz="800">
                <a:cs typeface="Arial" pitchFamily="34" charset="0"/>
              </a:rPr>
              <a:t>Compute</a:t>
            </a:r>
          </a:p>
          <a:p>
            <a:pPr algn="ctr"/>
            <a:r>
              <a:rPr lang="de-DE" altLang="en-US" sz="800">
                <a:cs typeface="Arial" pitchFamily="34" charset="0"/>
              </a:rPr>
              <a:t>Node</a:t>
            </a:r>
          </a:p>
        </p:txBody>
      </p:sp>
      <p:sp>
        <p:nvSpPr>
          <p:cNvPr id="16421" name="Rectangle 76"/>
          <p:cNvSpPr>
            <a:spLocks noChangeArrowheads="1"/>
          </p:cNvSpPr>
          <p:nvPr/>
        </p:nvSpPr>
        <p:spPr bwMode="auto">
          <a:xfrm>
            <a:off x="3048000" y="5267325"/>
            <a:ext cx="685800" cy="254000"/>
          </a:xfrm>
          <a:prstGeom prst="rect">
            <a:avLst/>
          </a:prstGeom>
          <a:solidFill>
            <a:srgbClr val="7889F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altLang="en-US" sz="800">
                <a:cs typeface="Arial" pitchFamily="34" charset="0"/>
              </a:rPr>
              <a:t>Compute</a:t>
            </a:r>
          </a:p>
          <a:p>
            <a:pPr algn="ctr"/>
            <a:r>
              <a:rPr lang="de-DE" altLang="en-US" sz="800">
                <a:cs typeface="Arial" pitchFamily="34" charset="0"/>
              </a:rPr>
              <a:t>Node</a:t>
            </a:r>
          </a:p>
        </p:txBody>
      </p:sp>
      <p:sp>
        <p:nvSpPr>
          <p:cNvPr id="16422" name="Rectangle 77"/>
          <p:cNvSpPr>
            <a:spLocks noChangeArrowheads="1"/>
          </p:cNvSpPr>
          <p:nvPr/>
        </p:nvSpPr>
        <p:spPr bwMode="auto">
          <a:xfrm>
            <a:off x="3048000" y="4995863"/>
            <a:ext cx="685800" cy="254000"/>
          </a:xfrm>
          <a:prstGeom prst="rect">
            <a:avLst/>
          </a:prstGeom>
          <a:solidFill>
            <a:srgbClr val="7889F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altLang="en-US" sz="800">
                <a:cs typeface="Arial" pitchFamily="34" charset="0"/>
              </a:rPr>
              <a:t>Management</a:t>
            </a:r>
          </a:p>
          <a:p>
            <a:pPr algn="ctr"/>
            <a:r>
              <a:rPr lang="de-DE" altLang="en-US" sz="800">
                <a:cs typeface="Arial" pitchFamily="34" charset="0"/>
              </a:rPr>
              <a:t>Node</a:t>
            </a:r>
          </a:p>
        </p:txBody>
      </p:sp>
      <p:sp>
        <p:nvSpPr>
          <p:cNvPr id="84" name="Rectangle 83"/>
          <p:cNvSpPr>
            <a:spLocks noChangeArrowheads="1"/>
          </p:cNvSpPr>
          <p:nvPr/>
        </p:nvSpPr>
        <p:spPr bwMode="auto">
          <a:xfrm>
            <a:off x="3884613" y="5157788"/>
            <a:ext cx="923925" cy="2524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>
            <a:defPPr>
              <a:defRPr lang="de-DE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>
              <a:defRPr/>
            </a:pPr>
            <a:r>
              <a:rPr lang="de-DE" sz="800" dirty="0" smtClean="0">
                <a:cs typeface="Arial" panose="020B0604020202020204" pitchFamily="34" charset="0"/>
              </a:rPr>
              <a:t>10GE Network</a:t>
            </a:r>
            <a:endParaRPr lang="de-DE" sz="800" dirty="0">
              <a:cs typeface="Arial" panose="020B0604020202020204" pitchFamily="34" charset="0"/>
            </a:endParaRPr>
          </a:p>
        </p:txBody>
      </p:sp>
      <p:sp>
        <p:nvSpPr>
          <p:cNvPr id="16424" name="Line 49"/>
          <p:cNvSpPr>
            <a:spLocks noChangeShapeType="1"/>
          </p:cNvSpPr>
          <p:nvPr/>
        </p:nvSpPr>
        <p:spPr bwMode="auto">
          <a:xfrm>
            <a:off x="5486400" y="5029200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25" name="Rectangle 85"/>
          <p:cNvSpPr>
            <a:spLocks noChangeArrowheads="1"/>
          </p:cNvSpPr>
          <p:nvPr/>
        </p:nvSpPr>
        <p:spPr bwMode="auto">
          <a:xfrm>
            <a:off x="5486400" y="5249863"/>
            <a:ext cx="685800" cy="254000"/>
          </a:xfrm>
          <a:prstGeom prst="rect">
            <a:avLst/>
          </a:prstGeom>
          <a:solidFill>
            <a:srgbClr val="7889F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altLang="en-US" sz="800">
                <a:cs typeface="Arial" pitchFamily="34" charset="0"/>
              </a:rPr>
              <a:t>Compute</a:t>
            </a:r>
          </a:p>
          <a:p>
            <a:pPr algn="ctr"/>
            <a:r>
              <a:rPr lang="de-DE" altLang="en-US" sz="800">
                <a:cs typeface="Arial" pitchFamily="34" charset="0"/>
              </a:rPr>
              <a:t>Node</a:t>
            </a:r>
          </a:p>
        </p:txBody>
      </p:sp>
      <p:sp>
        <p:nvSpPr>
          <p:cNvPr id="16426" name="Rectangle 86"/>
          <p:cNvSpPr>
            <a:spLocks noChangeArrowheads="1"/>
          </p:cNvSpPr>
          <p:nvPr/>
        </p:nvSpPr>
        <p:spPr bwMode="auto">
          <a:xfrm>
            <a:off x="5486400" y="5999163"/>
            <a:ext cx="685800" cy="254000"/>
          </a:xfrm>
          <a:prstGeom prst="rect">
            <a:avLst/>
          </a:prstGeom>
          <a:solidFill>
            <a:srgbClr val="7889F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altLang="en-US" sz="800">
                <a:cs typeface="Arial" pitchFamily="34" charset="0"/>
              </a:rPr>
              <a:t>Compute</a:t>
            </a:r>
          </a:p>
          <a:p>
            <a:pPr algn="ctr"/>
            <a:r>
              <a:rPr lang="de-DE" altLang="en-US" sz="800">
                <a:cs typeface="Arial" pitchFamily="34" charset="0"/>
              </a:rPr>
              <a:t>Node</a:t>
            </a:r>
          </a:p>
        </p:txBody>
      </p:sp>
      <p:sp>
        <p:nvSpPr>
          <p:cNvPr id="16427" name="Rectangle 87"/>
          <p:cNvSpPr>
            <a:spLocks noChangeArrowheads="1"/>
          </p:cNvSpPr>
          <p:nvPr/>
        </p:nvSpPr>
        <p:spPr bwMode="auto">
          <a:xfrm>
            <a:off x="6378575" y="5249863"/>
            <a:ext cx="1012825" cy="254000"/>
          </a:xfrm>
          <a:prstGeom prst="rect">
            <a:avLst/>
          </a:prstGeom>
          <a:solidFill>
            <a:srgbClr val="7889F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altLang="en-US" sz="800">
                <a:cs typeface="Arial" pitchFamily="34" charset="0"/>
              </a:rPr>
              <a:t>Compute</a:t>
            </a:r>
          </a:p>
          <a:p>
            <a:pPr algn="ctr"/>
            <a:r>
              <a:rPr lang="de-DE" altLang="en-US" sz="800">
                <a:cs typeface="Arial" pitchFamily="34" charset="0"/>
              </a:rPr>
              <a:t>Node with GPU</a:t>
            </a:r>
          </a:p>
        </p:txBody>
      </p:sp>
      <p:sp>
        <p:nvSpPr>
          <p:cNvPr id="16428" name="Rectangle 89"/>
          <p:cNvSpPr>
            <a:spLocks noChangeArrowheads="1"/>
          </p:cNvSpPr>
          <p:nvPr/>
        </p:nvSpPr>
        <p:spPr bwMode="auto">
          <a:xfrm>
            <a:off x="6378575" y="5999163"/>
            <a:ext cx="1012825" cy="254000"/>
          </a:xfrm>
          <a:prstGeom prst="rect">
            <a:avLst/>
          </a:prstGeom>
          <a:solidFill>
            <a:srgbClr val="7889F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altLang="en-US" sz="800">
                <a:cs typeface="Arial" pitchFamily="34" charset="0"/>
              </a:rPr>
              <a:t>Compute</a:t>
            </a:r>
          </a:p>
          <a:p>
            <a:pPr algn="ctr"/>
            <a:r>
              <a:rPr lang="de-DE" altLang="en-US" sz="800">
                <a:cs typeface="Arial" pitchFamily="34" charset="0"/>
              </a:rPr>
              <a:t>Node with GPU</a:t>
            </a:r>
          </a:p>
        </p:txBody>
      </p:sp>
      <p:sp>
        <p:nvSpPr>
          <p:cNvPr id="16429" name="Rectangle 90"/>
          <p:cNvSpPr>
            <a:spLocks noChangeArrowheads="1"/>
          </p:cNvSpPr>
          <p:nvPr/>
        </p:nvSpPr>
        <p:spPr bwMode="auto">
          <a:xfrm>
            <a:off x="7524750" y="5249863"/>
            <a:ext cx="1011238" cy="254000"/>
          </a:xfrm>
          <a:prstGeom prst="rect">
            <a:avLst/>
          </a:prstGeom>
          <a:solidFill>
            <a:srgbClr val="7889F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altLang="en-US" sz="800">
                <a:cs typeface="Arial" pitchFamily="34" charset="0"/>
              </a:rPr>
              <a:t>Compute</a:t>
            </a:r>
          </a:p>
          <a:p>
            <a:pPr algn="ctr"/>
            <a:r>
              <a:rPr lang="de-DE" altLang="en-US" sz="800">
                <a:cs typeface="Arial" pitchFamily="34" charset="0"/>
              </a:rPr>
              <a:t>Node with Phi</a:t>
            </a:r>
          </a:p>
        </p:txBody>
      </p:sp>
      <p:sp>
        <p:nvSpPr>
          <p:cNvPr id="16430" name="Rectangle 91"/>
          <p:cNvSpPr>
            <a:spLocks noChangeArrowheads="1"/>
          </p:cNvSpPr>
          <p:nvPr/>
        </p:nvSpPr>
        <p:spPr bwMode="auto">
          <a:xfrm>
            <a:off x="7543800" y="5997575"/>
            <a:ext cx="1012825" cy="254000"/>
          </a:xfrm>
          <a:prstGeom prst="rect">
            <a:avLst/>
          </a:prstGeom>
          <a:solidFill>
            <a:srgbClr val="7889F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altLang="en-US" sz="800">
                <a:cs typeface="Arial" pitchFamily="34" charset="0"/>
              </a:rPr>
              <a:t>Compute</a:t>
            </a:r>
          </a:p>
          <a:p>
            <a:pPr algn="ctr"/>
            <a:r>
              <a:rPr lang="de-DE" altLang="en-US" sz="800">
                <a:cs typeface="Arial" pitchFamily="34" charset="0"/>
              </a:rPr>
              <a:t>Node with Phi</a:t>
            </a:r>
          </a:p>
        </p:txBody>
      </p:sp>
      <p:sp>
        <p:nvSpPr>
          <p:cNvPr id="16431" name="Rectangle 92"/>
          <p:cNvSpPr>
            <a:spLocks noChangeArrowheads="1"/>
          </p:cNvSpPr>
          <p:nvPr/>
        </p:nvSpPr>
        <p:spPr bwMode="auto">
          <a:xfrm>
            <a:off x="608013" y="1966913"/>
            <a:ext cx="627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altLang="en-US" sz="1400"/>
              <a:t>Storage</a:t>
            </a:r>
          </a:p>
          <a:p>
            <a:pPr algn="ctr"/>
            <a:r>
              <a:rPr lang="de-DE" altLang="en-US" sz="1000">
                <a:solidFill>
                  <a:srgbClr val="FF0000"/>
                </a:solidFill>
              </a:rPr>
              <a:t>DCS3700</a:t>
            </a:r>
            <a:endParaRPr lang="de-DE" altLang="en-US" sz="1100">
              <a:solidFill>
                <a:srgbClr val="FF0000"/>
              </a:solidFill>
            </a:endParaRPr>
          </a:p>
        </p:txBody>
      </p:sp>
      <p:sp>
        <p:nvSpPr>
          <p:cNvPr id="16432" name="Rectangle 94"/>
          <p:cNvSpPr>
            <a:spLocks noChangeArrowheads="1"/>
          </p:cNvSpPr>
          <p:nvPr/>
        </p:nvSpPr>
        <p:spPr bwMode="auto">
          <a:xfrm>
            <a:off x="3581400" y="2654300"/>
            <a:ext cx="1281113" cy="814388"/>
          </a:xfrm>
          <a:prstGeom prst="rect">
            <a:avLst/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de-DE" altLang="en-US" sz="1100" b="1">
                <a:cs typeface="Arial" pitchFamily="34" charset="0"/>
              </a:rPr>
              <a:t>vCenter</a:t>
            </a:r>
            <a:endParaRPr lang="de-DE" altLang="en-US" sz="1000" b="1">
              <a:cs typeface="Arial" pitchFamily="34" charset="0"/>
            </a:endParaRPr>
          </a:p>
          <a:p>
            <a:r>
              <a:rPr lang="de-DE" altLang="en-US" sz="700">
                <a:cs typeface="Arial" pitchFamily="34" charset="0"/>
              </a:rPr>
              <a:t>Cluster Manager</a:t>
            </a:r>
          </a:p>
          <a:p>
            <a:r>
              <a:rPr lang="de-DE" altLang="en-US" sz="700">
                <a:cs typeface="Arial" pitchFamily="34" charset="0"/>
              </a:rPr>
              <a:t>Cloning</a:t>
            </a:r>
          </a:p>
          <a:p>
            <a:r>
              <a:rPr lang="de-DE" altLang="en-US" sz="700">
                <a:cs typeface="Arial" pitchFamily="34" charset="0"/>
              </a:rPr>
              <a:t>Provisioninig</a:t>
            </a:r>
          </a:p>
          <a:p>
            <a:r>
              <a:rPr lang="de-DE" altLang="en-US" sz="700">
                <a:cs typeface="Arial" pitchFamily="34" charset="0"/>
              </a:rPr>
              <a:t>Syslog</a:t>
            </a:r>
          </a:p>
          <a:p>
            <a:r>
              <a:rPr lang="de-DE" altLang="en-US" sz="700">
                <a:cs typeface="Arial" pitchFamily="34" charset="0"/>
              </a:rPr>
              <a:t>vSphere Management</a:t>
            </a:r>
          </a:p>
        </p:txBody>
      </p:sp>
      <p:sp>
        <p:nvSpPr>
          <p:cNvPr id="16433" name="Rectangle 95"/>
          <p:cNvSpPr>
            <a:spLocks noChangeArrowheads="1"/>
          </p:cNvSpPr>
          <p:nvPr/>
        </p:nvSpPr>
        <p:spPr bwMode="auto">
          <a:xfrm>
            <a:off x="5410200" y="3705225"/>
            <a:ext cx="1752600" cy="4857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endParaRPr lang="de-DE" altLang="en-US" sz="1000">
              <a:cs typeface="Arial" pitchFamily="34" charset="0"/>
            </a:endParaRPr>
          </a:p>
          <a:p>
            <a:endParaRPr lang="de-DE" altLang="en-US" sz="1000">
              <a:cs typeface="Arial" pitchFamily="34" charset="0"/>
            </a:endParaRPr>
          </a:p>
          <a:p>
            <a:endParaRPr lang="de-DE" altLang="en-US" sz="1000">
              <a:cs typeface="Arial" pitchFamily="34" charset="0"/>
            </a:endParaRPr>
          </a:p>
          <a:p>
            <a:endParaRPr lang="de-DE" altLang="en-US" sz="1000">
              <a:cs typeface="Arial" pitchFamily="34" charset="0"/>
            </a:endParaRPr>
          </a:p>
          <a:p>
            <a:endParaRPr lang="de-DE" altLang="en-US" sz="1000">
              <a:cs typeface="Arial" pitchFamily="34" charset="0"/>
            </a:endParaRPr>
          </a:p>
          <a:p>
            <a:endParaRPr lang="de-DE" altLang="en-US" sz="1000">
              <a:cs typeface="Arial" pitchFamily="34" charset="0"/>
            </a:endParaRPr>
          </a:p>
          <a:p>
            <a:endParaRPr lang="de-DE" altLang="en-US" sz="1000">
              <a:cs typeface="Arial" pitchFamily="34" charset="0"/>
            </a:endParaRPr>
          </a:p>
          <a:p>
            <a:endParaRPr lang="de-DE" altLang="en-US" sz="1000">
              <a:cs typeface="Arial" pitchFamily="34" charset="0"/>
            </a:endParaRPr>
          </a:p>
        </p:txBody>
      </p:sp>
      <p:sp>
        <p:nvSpPr>
          <p:cNvPr id="16434" name="Rectangle 96"/>
          <p:cNvSpPr>
            <a:spLocks noChangeArrowheads="1"/>
          </p:cNvSpPr>
          <p:nvPr/>
        </p:nvSpPr>
        <p:spPr bwMode="auto">
          <a:xfrm>
            <a:off x="5413375" y="2868613"/>
            <a:ext cx="1752600" cy="69532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endParaRPr lang="de-DE" altLang="en-US" sz="1000">
              <a:cs typeface="Arial" pitchFamily="34" charset="0"/>
            </a:endParaRPr>
          </a:p>
          <a:p>
            <a:endParaRPr lang="de-DE" altLang="en-US" sz="1000">
              <a:cs typeface="Arial" pitchFamily="34" charset="0"/>
            </a:endParaRPr>
          </a:p>
          <a:p>
            <a:endParaRPr lang="de-DE" altLang="en-US" sz="1000">
              <a:cs typeface="Arial" pitchFamily="34" charset="0"/>
            </a:endParaRPr>
          </a:p>
          <a:p>
            <a:endParaRPr lang="de-DE" altLang="en-US" sz="1000">
              <a:cs typeface="Arial" pitchFamily="34" charset="0"/>
            </a:endParaRPr>
          </a:p>
          <a:p>
            <a:endParaRPr lang="de-DE" altLang="en-US" sz="1000">
              <a:cs typeface="Arial" pitchFamily="34" charset="0"/>
            </a:endParaRPr>
          </a:p>
          <a:p>
            <a:endParaRPr lang="de-DE" altLang="en-US" sz="1000">
              <a:cs typeface="Arial" pitchFamily="34" charset="0"/>
            </a:endParaRPr>
          </a:p>
          <a:p>
            <a:endParaRPr lang="de-DE" altLang="en-US" sz="1000">
              <a:cs typeface="Arial" pitchFamily="34" charset="0"/>
            </a:endParaRPr>
          </a:p>
          <a:p>
            <a:endParaRPr lang="de-DE" altLang="en-US" sz="1000">
              <a:cs typeface="Arial" pitchFamily="34" charset="0"/>
            </a:endParaRPr>
          </a:p>
        </p:txBody>
      </p:sp>
      <p:sp>
        <p:nvSpPr>
          <p:cNvPr id="16435" name="Line 34"/>
          <p:cNvSpPr>
            <a:spLocks noChangeShapeType="1"/>
          </p:cNvSpPr>
          <p:nvPr/>
        </p:nvSpPr>
        <p:spPr bwMode="auto">
          <a:xfrm flipV="1">
            <a:off x="1377950" y="4038600"/>
            <a:ext cx="403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36" name="Rectangle 98"/>
          <p:cNvSpPr>
            <a:spLocks noChangeArrowheads="1"/>
          </p:cNvSpPr>
          <p:nvPr/>
        </p:nvSpPr>
        <p:spPr bwMode="auto">
          <a:xfrm>
            <a:off x="230188" y="5529263"/>
            <a:ext cx="1295400" cy="89693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endParaRPr lang="en-US" altLang="en-US" sz="1600">
              <a:cs typeface="Arial" pitchFamily="34" charset="0"/>
            </a:endParaRPr>
          </a:p>
        </p:txBody>
      </p:sp>
      <p:sp>
        <p:nvSpPr>
          <p:cNvPr id="16437" name="Rectangle 99"/>
          <p:cNvSpPr>
            <a:spLocks noChangeArrowheads="1"/>
          </p:cNvSpPr>
          <p:nvPr/>
        </p:nvSpPr>
        <p:spPr bwMode="auto">
          <a:xfrm>
            <a:off x="609600" y="5791200"/>
            <a:ext cx="598488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altLang="en-US" sz="1400"/>
              <a:t>Backup</a:t>
            </a:r>
          </a:p>
          <a:p>
            <a:pPr algn="ctr"/>
            <a:r>
              <a:rPr lang="de-DE" altLang="en-US" sz="1400"/>
              <a:t>Tape</a:t>
            </a:r>
            <a:endParaRPr lang="de-DE" altLang="en-US"/>
          </a:p>
        </p:txBody>
      </p:sp>
      <p:sp>
        <p:nvSpPr>
          <p:cNvPr id="16438" name="Line 34"/>
          <p:cNvSpPr>
            <a:spLocks noChangeShapeType="1"/>
          </p:cNvSpPr>
          <p:nvPr/>
        </p:nvSpPr>
        <p:spPr bwMode="auto">
          <a:xfrm flipV="1">
            <a:off x="1524000" y="6172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39" name="Rectangle 101"/>
          <p:cNvSpPr>
            <a:spLocks noChangeArrowheads="1"/>
          </p:cNvSpPr>
          <p:nvPr/>
        </p:nvSpPr>
        <p:spPr bwMode="auto">
          <a:xfrm>
            <a:off x="5334000" y="1347788"/>
            <a:ext cx="3581400" cy="5080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altLang="en-US" sz="1400" b="1">
                <a:cs typeface="Arial" pitchFamily="34" charset="0"/>
              </a:rPr>
              <a:t>HPC Portal  - Enduser</a:t>
            </a:r>
          </a:p>
          <a:p>
            <a:pPr algn="ctr"/>
            <a:r>
              <a:rPr lang="de-DE" altLang="en-US" sz="1100" b="1">
                <a:cs typeface="Arial" pitchFamily="34" charset="0"/>
              </a:rPr>
              <a:t>(job submision, files upload and reporting)</a:t>
            </a:r>
          </a:p>
        </p:txBody>
      </p:sp>
      <p:sp>
        <p:nvSpPr>
          <p:cNvPr id="16440" name="Line 55"/>
          <p:cNvSpPr>
            <a:spLocks noChangeShapeType="1"/>
          </p:cNvSpPr>
          <p:nvPr/>
        </p:nvSpPr>
        <p:spPr bwMode="auto">
          <a:xfrm flipH="1">
            <a:off x="5791200" y="557847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41" name="Line 55"/>
          <p:cNvSpPr>
            <a:spLocks noChangeShapeType="1"/>
          </p:cNvSpPr>
          <p:nvPr/>
        </p:nvSpPr>
        <p:spPr bwMode="auto">
          <a:xfrm flipH="1">
            <a:off x="6858000" y="557847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42" name="Line 55"/>
          <p:cNvSpPr>
            <a:spLocks noChangeShapeType="1"/>
          </p:cNvSpPr>
          <p:nvPr/>
        </p:nvSpPr>
        <p:spPr bwMode="auto">
          <a:xfrm flipH="1">
            <a:off x="8001000" y="557847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5578475" y="3721100"/>
            <a:ext cx="1339850" cy="4699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485297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de-DE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>
              <a:defRPr/>
            </a:pPr>
            <a:r>
              <a:rPr lang="de-DE" sz="1400" b="1" dirty="0" smtClean="0">
                <a:cs typeface="Arial" panose="020B0604020202020204" pitchFamily="34" charset="0"/>
              </a:rPr>
              <a:t>GPFS Cluster</a:t>
            </a:r>
          </a:p>
          <a:p>
            <a:pPr algn="ctr">
              <a:defRPr/>
            </a:pPr>
            <a:r>
              <a:rPr lang="de-DE" sz="1000" b="1" dirty="0" smtClean="0">
                <a:cs typeface="Arial" panose="020B0604020202020204" pitchFamily="34" charset="0"/>
              </a:rPr>
              <a:t>(NSD)</a:t>
            </a:r>
            <a:endParaRPr lang="de-DE" sz="1000" b="1" dirty="0">
              <a:cs typeface="Arial" panose="020B0604020202020204" pitchFamily="34" charset="0"/>
            </a:endParaRPr>
          </a:p>
        </p:txBody>
      </p:sp>
      <p:sp>
        <p:nvSpPr>
          <p:cNvPr id="106" name="Rectangle 105"/>
          <p:cNvSpPr>
            <a:spLocks noChangeArrowheads="1"/>
          </p:cNvSpPr>
          <p:nvPr/>
        </p:nvSpPr>
        <p:spPr bwMode="auto">
          <a:xfrm>
            <a:off x="5478463" y="2971800"/>
            <a:ext cx="1616075" cy="61595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485297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de-DE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>
              <a:defRPr/>
            </a:pPr>
            <a:r>
              <a:rPr lang="de-DE" sz="1400" b="1" dirty="0" smtClean="0">
                <a:cs typeface="Arial" panose="020B0604020202020204" pitchFamily="34" charset="0"/>
              </a:rPr>
              <a:t>Head Nodes </a:t>
            </a:r>
          </a:p>
          <a:p>
            <a:pPr algn="ctr">
              <a:defRPr/>
            </a:pPr>
            <a:r>
              <a:rPr lang="de-DE" sz="1000" b="1" dirty="0" smtClean="0">
                <a:cs typeface="Arial" panose="020B0604020202020204" pitchFamily="34" charset="0"/>
              </a:rPr>
              <a:t>(HPC Management and </a:t>
            </a:r>
          </a:p>
          <a:p>
            <a:pPr algn="ctr">
              <a:defRPr/>
            </a:pPr>
            <a:r>
              <a:rPr lang="de-DE" sz="1000" b="1" dirty="0" smtClean="0">
                <a:cs typeface="Arial" panose="020B0604020202020204" pitchFamily="34" charset="0"/>
              </a:rPr>
              <a:t>LSF)</a:t>
            </a:r>
            <a:endParaRPr lang="de-DE" sz="1000" b="1" dirty="0">
              <a:cs typeface="Arial" panose="020B0604020202020204" pitchFamily="34" charset="0"/>
            </a:endParaRPr>
          </a:p>
        </p:txBody>
      </p:sp>
      <p:sp>
        <p:nvSpPr>
          <p:cNvPr id="16445" name="Rectangle 106"/>
          <p:cNvSpPr>
            <a:spLocks noChangeArrowheads="1"/>
          </p:cNvSpPr>
          <p:nvPr/>
        </p:nvSpPr>
        <p:spPr bwMode="auto">
          <a:xfrm>
            <a:off x="7464425" y="2881313"/>
            <a:ext cx="1069975" cy="674687"/>
          </a:xfrm>
          <a:prstGeom prst="rect">
            <a:avLst/>
          </a:prstGeom>
          <a:solidFill>
            <a:srgbClr val="7030A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endParaRPr lang="de-DE" altLang="en-US" sz="1000"/>
          </a:p>
          <a:p>
            <a:endParaRPr lang="de-DE" altLang="en-US" sz="1000"/>
          </a:p>
          <a:p>
            <a:endParaRPr lang="de-DE" altLang="en-US" sz="1000"/>
          </a:p>
          <a:p>
            <a:endParaRPr lang="de-DE" altLang="en-US" sz="1000"/>
          </a:p>
          <a:p>
            <a:endParaRPr lang="de-DE" altLang="en-US" sz="1000"/>
          </a:p>
          <a:p>
            <a:endParaRPr lang="de-DE" altLang="en-US" sz="1000"/>
          </a:p>
          <a:p>
            <a:endParaRPr lang="de-DE" altLang="en-US" sz="1000"/>
          </a:p>
          <a:p>
            <a:endParaRPr lang="de-DE" altLang="en-US" sz="1000"/>
          </a:p>
        </p:txBody>
      </p:sp>
      <p:sp>
        <p:nvSpPr>
          <p:cNvPr id="16446" name="Rectangle 107"/>
          <p:cNvSpPr>
            <a:spLocks noChangeArrowheads="1"/>
          </p:cNvSpPr>
          <p:nvPr/>
        </p:nvSpPr>
        <p:spPr bwMode="auto">
          <a:xfrm>
            <a:off x="7473950" y="3705225"/>
            <a:ext cx="1069975" cy="866775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endParaRPr lang="de-DE" altLang="en-US" sz="1000"/>
          </a:p>
          <a:p>
            <a:endParaRPr lang="de-DE" altLang="en-US" sz="1000"/>
          </a:p>
          <a:p>
            <a:endParaRPr lang="de-DE" altLang="en-US" sz="1000"/>
          </a:p>
          <a:p>
            <a:endParaRPr lang="de-DE" altLang="en-US" sz="1000"/>
          </a:p>
          <a:p>
            <a:endParaRPr lang="de-DE" altLang="en-US" sz="1000"/>
          </a:p>
          <a:p>
            <a:endParaRPr lang="de-DE" altLang="en-US" sz="1000"/>
          </a:p>
          <a:p>
            <a:endParaRPr lang="de-DE" altLang="en-US" sz="1000"/>
          </a:p>
          <a:p>
            <a:endParaRPr lang="de-DE" altLang="en-US" sz="1000"/>
          </a:p>
        </p:txBody>
      </p:sp>
      <p:sp>
        <p:nvSpPr>
          <p:cNvPr id="109" name="Rectangle 108"/>
          <p:cNvSpPr>
            <a:spLocks noChangeArrowheads="1"/>
          </p:cNvSpPr>
          <p:nvPr/>
        </p:nvSpPr>
        <p:spPr bwMode="auto">
          <a:xfrm>
            <a:off x="7569200" y="3941763"/>
            <a:ext cx="889000" cy="414337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485297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indent="-163513" defTabSz="457200">
              <a:buClr>
                <a:schemeClr val="tx1"/>
              </a:buClr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indent="-173038" defTabSz="457200"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indent="-173038" defTabSz="457200">
              <a:spcBef>
                <a:spcPct val="20000"/>
              </a:spcBef>
              <a:buClr>
                <a:schemeClr val="bg1"/>
              </a:buClr>
              <a:buChar char="–"/>
              <a:defRPr sz="16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4pPr>
            <a:lvl5pPr indent="-163513" defTabSz="457200">
              <a:spcBef>
                <a:spcPct val="20000"/>
              </a:spcBef>
              <a:buClr>
                <a:schemeClr val="bg1"/>
              </a:buClr>
              <a:buChar char="»"/>
              <a:defRPr sz="16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5pPr>
            <a:lvl6pPr indent="-163513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6pPr>
            <a:lvl7pPr indent="-163513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7pPr>
            <a:lvl8pPr indent="-163513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8pPr>
            <a:lvl9pPr indent="-163513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de-DE" altLang="en-US" sz="1000" b="1">
                <a:cs typeface="Arial" pitchFamily="34" charset="0"/>
              </a:rPr>
              <a:t>MPI/RMA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de-DE" altLang="en-US" sz="1000" b="1">
                <a:cs typeface="Arial" pitchFamily="34" charset="0"/>
              </a:rPr>
              <a:t>IB Network</a:t>
            </a:r>
            <a:endParaRPr lang="de-DE" altLang="en-US" sz="700" b="1">
              <a:cs typeface="Arial" pitchFamily="34" charset="0"/>
            </a:endParaRPr>
          </a:p>
        </p:txBody>
      </p:sp>
      <p:sp>
        <p:nvSpPr>
          <p:cNvPr id="110" name="Rectangle 109"/>
          <p:cNvSpPr>
            <a:spLocks noChangeArrowheads="1"/>
          </p:cNvSpPr>
          <p:nvPr/>
        </p:nvSpPr>
        <p:spPr bwMode="auto">
          <a:xfrm>
            <a:off x="7477125" y="2927350"/>
            <a:ext cx="1044575" cy="57785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485297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indent="-163513" defTabSz="457200">
              <a:buClr>
                <a:schemeClr val="tx1"/>
              </a:buClr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indent="-173038" defTabSz="457200"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indent="-173038" defTabSz="457200">
              <a:spcBef>
                <a:spcPct val="20000"/>
              </a:spcBef>
              <a:buClr>
                <a:schemeClr val="bg1"/>
              </a:buClr>
              <a:buChar char="–"/>
              <a:defRPr sz="16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4pPr>
            <a:lvl5pPr indent="-163513" defTabSz="457200">
              <a:spcBef>
                <a:spcPct val="20000"/>
              </a:spcBef>
              <a:buClr>
                <a:schemeClr val="bg1"/>
              </a:buClr>
              <a:buChar char="»"/>
              <a:defRPr sz="16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5pPr>
            <a:lvl6pPr indent="-163513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6pPr>
            <a:lvl7pPr indent="-163513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7pPr>
            <a:lvl8pPr indent="-163513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8pPr>
            <a:lvl9pPr indent="-163513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de-DE" altLang="en-US" sz="1000" b="1">
                <a:cs typeface="Arial" pitchFamily="34" charset="0"/>
              </a:rPr>
              <a:t>Management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de-DE" altLang="en-US" sz="1000" b="1">
                <a:cs typeface="Arial" pitchFamily="34" charset="0"/>
              </a:rPr>
              <a:t>Ethernet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de-DE" altLang="en-US" sz="1000" b="1">
                <a:cs typeface="Arial" pitchFamily="34" charset="0"/>
              </a:rPr>
              <a:t>Network</a:t>
            </a:r>
            <a:endParaRPr lang="de-DE" altLang="en-US" sz="700" b="1">
              <a:cs typeface="Arial" pitchFamily="34" charset="0"/>
            </a:endParaRPr>
          </a:p>
        </p:txBody>
      </p:sp>
      <p:sp>
        <p:nvSpPr>
          <p:cNvPr id="16449" name="Line 35"/>
          <p:cNvSpPr>
            <a:spLocks noChangeShapeType="1"/>
          </p:cNvSpPr>
          <p:nvPr/>
        </p:nvSpPr>
        <p:spPr bwMode="auto">
          <a:xfrm>
            <a:off x="5791200" y="1854200"/>
            <a:ext cx="0" cy="1014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50" name="Line 55"/>
          <p:cNvSpPr>
            <a:spLocks noChangeShapeType="1"/>
          </p:cNvSpPr>
          <p:nvPr/>
        </p:nvSpPr>
        <p:spPr bwMode="auto">
          <a:xfrm flipH="1">
            <a:off x="7543800" y="3563938"/>
            <a:ext cx="0" cy="11731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51" name="Line 55"/>
          <p:cNvSpPr>
            <a:spLocks noChangeShapeType="1"/>
          </p:cNvSpPr>
          <p:nvPr/>
        </p:nvSpPr>
        <p:spPr bwMode="auto">
          <a:xfrm flipH="1">
            <a:off x="8439150" y="4572000"/>
            <a:ext cx="0" cy="1841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52" name="Line 55"/>
          <p:cNvSpPr>
            <a:spLocks noChangeShapeType="1"/>
          </p:cNvSpPr>
          <p:nvPr/>
        </p:nvSpPr>
        <p:spPr bwMode="auto">
          <a:xfrm flipH="1">
            <a:off x="7620000" y="3581400"/>
            <a:ext cx="0" cy="11747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53" name="Line 55"/>
          <p:cNvSpPr>
            <a:spLocks noChangeShapeType="1"/>
          </p:cNvSpPr>
          <p:nvPr/>
        </p:nvSpPr>
        <p:spPr bwMode="auto">
          <a:xfrm>
            <a:off x="7159625" y="3989388"/>
            <a:ext cx="304800" cy="9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54" name="Line 55"/>
          <p:cNvSpPr>
            <a:spLocks noChangeShapeType="1"/>
          </p:cNvSpPr>
          <p:nvPr/>
        </p:nvSpPr>
        <p:spPr bwMode="auto">
          <a:xfrm>
            <a:off x="7172325" y="3216275"/>
            <a:ext cx="2921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55" name="Line 35"/>
          <p:cNvSpPr>
            <a:spLocks noChangeShapeType="1"/>
          </p:cNvSpPr>
          <p:nvPr/>
        </p:nvSpPr>
        <p:spPr bwMode="auto">
          <a:xfrm>
            <a:off x="8610600" y="1854200"/>
            <a:ext cx="0" cy="285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56" name="Rectangle 119"/>
          <p:cNvSpPr>
            <a:spLocks noChangeArrowheads="1"/>
          </p:cNvSpPr>
          <p:nvPr/>
        </p:nvSpPr>
        <p:spPr bwMode="auto">
          <a:xfrm>
            <a:off x="2079625" y="4102100"/>
            <a:ext cx="1509713" cy="444500"/>
          </a:xfrm>
          <a:prstGeom prst="rect">
            <a:avLst/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de-DE" altLang="en-US" sz="1100" b="1">
                <a:cs typeface="Arial" pitchFamily="34" charset="0"/>
              </a:rPr>
              <a:t>Backup Software</a:t>
            </a:r>
          </a:p>
          <a:p>
            <a:r>
              <a:rPr lang="de-DE" altLang="en-US" sz="700">
                <a:cs typeface="Arial" pitchFamily="34" charset="0"/>
              </a:rPr>
              <a:t>Tape Library Management</a:t>
            </a:r>
          </a:p>
        </p:txBody>
      </p:sp>
      <p:sp>
        <p:nvSpPr>
          <p:cNvPr id="16457" name="Line 14"/>
          <p:cNvSpPr>
            <a:spLocks noChangeShapeType="1"/>
          </p:cNvSpPr>
          <p:nvPr/>
        </p:nvSpPr>
        <p:spPr bwMode="auto">
          <a:xfrm flipH="1">
            <a:off x="5105400" y="4100513"/>
            <a:ext cx="0" cy="2593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58" name="Line 14"/>
          <p:cNvSpPr>
            <a:spLocks noChangeShapeType="1"/>
          </p:cNvSpPr>
          <p:nvPr/>
        </p:nvSpPr>
        <p:spPr bwMode="auto">
          <a:xfrm flipV="1">
            <a:off x="1066800" y="6694488"/>
            <a:ext cx="4049713" cy="7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59" name="Line 58"/>
          <p:cNvSpPr>
            <a:spLocks noChangeShapeType="1"/>
          </p:cNvSpPr>
          <p:nvPr/>
        </p:nvSpPr>
        <p:spPr bwMode="auto">
          <a:xfrm flipH="1">
            <a:off x="5116513" y="4100513"/>
            <a:ext cx="2936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60" name="Line 58"/>
          <p:cNvSpPr>
            <a:spLocks noChangeShapeType="1"/>
          </p:cNvSpPr>
          <p:nvPr/>
        </p:nvSpPr>
        <p:spPr bwMode="auto">
          <a:xfrm flipH="1">
            <a:off x="1066800" y="6426200"/>
            <a:ext cx="0" cy="276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61" name="Rectangle 124"/>
          <p:cNvSpPr>
            <a:spLocks noChangeArrowheads="1"/>
          </p:cNvSpPr>
          <p:nvPr/>
        </p:nvSpPr>
        <p:spPr bwMode="auto">
          <a:xfrm>
            <a:off x="2079625" y="3530600"/>
            <a:ext cx="1947863" cy="444500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de-DE" altLang="en-US" sz="1100" b="1"/>
              <a:t>Various VM‘s and vApp‘s</a:t>
            </a:r>
            <a:endParaRPr lang="de-DE" altLang="en-US" sz="700"/>
          </a:p>
        </p:txBody>
      </p:sp>
      <p:sp>
        <p:nvSpPr>
          <p:cNvPr id="16462" name="Line 14"/>
          <p:cNvSpPr>
            <a:spLocks noChangeShapeType="1"/>
          </p:cNvSpPr>
          <p:nvPr/>
        </p:nvSpPr>
        <p:spPr bwMode="auto">
          <a:xfrm>
            <a:off x="4027488" y="3721100"/>
            <a:ext cx="1162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63" name="Line 36"/>
          <p:cNvSpPr>
            <a:spLocks noChangeShapeType="1"/>
          </p:cNvSpPr>
          <p:nvPr/>
        </p:nvSpPr>
        <p:spPr bwMode="auto">
          <a:xfrm>
            <a:off x="5189538" y="3449638"/>
            <a:ext cx="922337" cy="11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64" name="Line 14"/>
          <p:cNvSpPr>
            <a:spLocks noChangeShapeType="1"/>
          </p:cNvSpPr>
          <p:nvPr/>
        </p:nvSpPr>
        <p:spPr bwMode="auto">
          <a:xfrm>
            <a:off x="5183188" y="3438525"/>
            <a:ext cx="6350" cy="282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65" name="Rectangle 130"/>
          <p:cNvSpPr>
            <a:spLocks noChangeArrowheads="1"/>
          </p:cNvSpPr>
          <p:nvPr/>
        </p:nvSpPr>
        <p:spPr bwMode="auto">
          <a:xfrm>
            <a:off x="7781925" y="1963738"/>
            <a:ext cx="1057275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de-DE" altLang="en-US" sz="1100">
                <a:solidFill>
                  <a:srgbClr val="FF0000"/>
                </a:solidFill>
              </a:rPr>
              <a:t>Inteligent Cluster</a:t>
            </a:r>
            <a:endParaRPr lang="de-DE" altLang="en-US" sz="1400">
              <a:solidFill>
                <a:srgbClr val="FF0000"/>
              </a:solidFill>
            </a:endParaRPr>
          </a:p>
        </p:txBody>
      </p:sp>
      <p:sp>
        <p:nvSpPr>
          <p:cNvPr id="16466" name="Rectangle 131"/>
          <p:cNvSpPr>
            <a:spLocks noChangeArrowheads="1"/>
          </p:cNvSpPr>
          <p:nvPr/>
        </p:nvSpPr>
        <p:spPr bwMode="auto">
          <a:xfrm>
            <a:off x="685800" y="6230938"/>
            <a:ext cx="495300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de-DE" altLang="en-US" sz="1100">
                <a:solidFill>
                  <a:srgbClr val="FF0000"/>
                </a:solidFill>
              </a:rPr>
              <a:t>TS3100</a:t>
            </a:r>
            <a:endParaRPr lang="de-DE" altLang="en-US" sz="1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1030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19200"/>
            <a:ext cx="6172200" cy="362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4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3550" y="1219200"/>
            <a:ext cx="2025650" cy="360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4876800"/>
            <a:ext cx="4002088" cy="185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152400" y="609600"/>
            <a:ext cx="8763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339933"/>
                </a:solidFill>
              </a:rPr>
              <a:t>IBM Intelligent Cluster  - Rack and floor view</a:t>
            </a:r>
          </a:p>
        </p:txBody>
      </p:sp>
    </p:spTree>
    <p:extLst>
      <p:ext uri="{BB962C8B-B14F-4D97-AF65-F5344CB8AC3E}">
        <p14:creationId xmlns:p14="http://schemas.microsoft.com/office/powerpoint/2010/main" val="3976737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</TotalTime>
  <Words>1108</Words>
  <Application>Microsoft Office PowerPoint</Application>
  <PresentationFormat>On-screen Show (4:3)</PresentationFormat>
  <Paragraphs>218</Paragraphs>
  <Slides>22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Operating Systems for Computer Clusters</vt:lpstr>
      <vt:lpstr>Functions of the OS of a HPC Cluster</vt:lpstr>
      <vt:lpstr>HPC Cluster layered architecture</vt:lpstr>
      <vt:lpstr>IBM PCM – Platform Cluster Manager</vt:lpstr>
      <vt:lpstr>IBM PCM component architecture</vt:lpstr>
      <vt:lpstr>xCAT – Extreme Cloud Administration Toolkit</vt:lpstr>
      <vt:lpstr>xCAT usages</vt:lpstr>
      <vt:lpstr>xCAT architecture</vt:lpstr>
      <vt:lpstr>xCAT architecture (cont.)</vt:lpstr>
      <vt:lpstr>Start/stop the xcatd service</vt:lpstr>
      <vt:lpstr>Platform LSF</vt:lpstr>
      <vt:lpstr>Job Processing with LSF</vt:lpstr>
      <vt:lpstr>LSF Architecture</vt:lpstr>
      <vt:lpstr>LSF – view daemon parameters</vt:lpstr>
      <vt:lpstr>IBM GPFS - General Parallel File System</vt:lpstr>
      <vt:lpstr>UBB’s IBM Intelligent Cluster (2016)</vt:lpstr>
      <vt:lpstr>UBB’s IBM NextScale (HPC Cluster)</vt:lpstr>
      <vt:lpstr>UBB’s IBM Flex System (Cloud System)</vt:lpstr>
      <vt:lpstr>Cluster application software </vt:lpstr>
      <vt:lpstr>Cluster physical view</vt:lpstr>
      <vt:lpstr>IT Architecture for HPC and Private Cloud Computing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 for Computer Clusters</dc:title>
  <dc:creator>Windows User</dc:creator>
  <cp:lastModifiedBy>Forest</cp:lastModifiedBy>
  <cp:revision>46</cp:revision>
  <dcterms:created xsi:type="dcterms:W3CDTF">2019-12-03T03:47:32Z</dcterms:created>
  <dcterms:modified xsi:type="dcterms:W3CDTF">2021-01-05T16:11:24Z</dcterms:modified>
</cp:coreProperties>
</file>