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78" r:id="rId4"/>
    <p:sldId id="275" r:id="rId5"/>
    <p:sldId id="272" r:id="rId6"/>
    <p:sldId id="276" r:id="rId7"/>
    <p:sldId id="277" r:id="rId8"/>
    <p:sldId id="273" r:id="rId9"/>
    <p:sldId id="296" r:id="rId10"/>
    <p:sldId id="297" r:id="rId11"/>
    <p:sldId id="280" r:id="rId12"/>
    <p:sldId id="281" r:id="rId13"/>
    <p:sldId id="282" r:id="rId14"/>
    <p:sldId id="283" r:id="rId15"/>
    <p:sldId id="284" r:id="rId16"/>
    <p:sldId id="285" r:id="rId17"/>
    <p:sldId id="286" r:id="rId18"/>
    <p:sldId id="287" r:id="rId19"/>
    <p:sldId id="288" r:id="rId20"/>
    <p:sldId id="289" r:id="rId21"/>
    <p:sldId id="290" r:id="rId22"/>
    <p:sldId id="291" r:id="rId23"/>
    <p:sldId id="292" r:id="rId24"/>
    <p:sldId id="293" r:id="rId25"/>
    <p:sldId id="294" r:id="rId26"/>
    <p:sldId id="295" r:id="rId27"/>
    <p:sldId id="274" r:id="rId28"/>
    <p:sldId id="266" r:id="rId29"/>
    <p:sldId id="267" r:id="rId30"/>
    <p:sldId id="264" r:id="rId31"/>
    <p:sldId id="257" r:id="rId32"/>
    <p:sldId id="303" r:id="rId33"/>
    <p:sldId id="268" r:id="rId34"/>
    <p:sldId id="258" r:id="rId35"/>
    <p:sldId id="269" r:id="rId36"/>
    <p:sldId id="270" r:id="rId37"/>
    <p:sldId id="271" r:id="rId38"/>
    <p:sldId id="318" r:id="rId39"/>
    <p:sldId id="259" r:id="rId40"/>
    <p:sldId id="260" r:id="rId41"/>
    <p:sldId id="261" r:id="rId42"/>
    <p:sldId id="302" r:id="rId43"/>
    <p:sldId id="262" r:id="rId44"/>
    <p:sldId id="263" r:id="rId45"/>
    <p:sldId id="306" r:id="rId46"/>
    <p:sldId id="307" r:id="rId47"/>
    <p:sldId id="298" r:id="rId48"/>
    <p:sldId id="299" r:id="rId49"/>
    <p:sldId id="300" r:id="rId50"/>
    <p:sldId id="308" r:id="rId51"/>
    <p:sldId id="310" r:id="rId52"/>
    <p:sldId id="301" r:id="rId53"/>
    <p:sldId id="309" r:id="rId54"/>
    <p:sldId id="304" r:id="rId55"/>
    <p:sldId id="305" r:id="rId56"/>
    <p:sldId id="311" r:id="rId57"/>
    <p:sldId id="312" r:id="rId58"/>
    <p:sldId id="313" r:id="rId59"/>
    <p:sldId id="314" r:id="rId60"/>
    <p:sldId id="315" r:id="rId61"/>
    <p:sldId id="316" r:id="rId62"/>
    <p:sldId id="317" r:id="rId6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893" autoAdjust="0"/>
    <p:restoredTop sz="90929"/>
  </p:normalViewPr>
  <p:slideViewPr>
    <p:cSldViewPr>
      <p:cViewPr varScale="1">
        <p:scale>
          <a:sx n="63" d="100"/>
          <a:sy n="63" d="100"/>
        </p:scale>
        <p:origin x="-1278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png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png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ng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png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image" Target="../media/image15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png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5BE232-44EB-44F1-B5C1-0567232ED13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03664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F42C8B-5524-4886-B68F-D9828E7DA18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6401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FFA605-DE22-4C51-AE02-AE21299D828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53646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6B8DD4-3699-4E6A-BB22-31023DDBF81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40247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5C723B-E65B-45F4-A8C2-1DE20FFC919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60514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FEC854-E92A-48B3-B16D-1D3C7ACC420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11819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EB478B-9544-424F-B06E-F69B33ABC47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0060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E585CD-468A-47FA-B789-308CAFCFEF9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39060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AE5686-BB4C-4048-9A3F-252F4E84CD6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79365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6410D9-F5CF-41FD-AB63-0A15C206D3C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60526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2029D4-13FA-4C30-9E97-FE4478D3090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83526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7E140462-32C8-4092-9127-B02347D4BD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7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9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1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12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4.png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6.png"/><Relationship Id="rId5" Type="http://schemas.openxmlformats.org/officeDocument/2006/relationships/oleObject" Target="../embeddings/oleObject13.bin"/><Relationship Id="rId4" Type="http://schemas.openxmlformats.org/officeDocument/2006/relationships/image" Target="../media/image15.w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17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mtClean="0"/>
              <a:t>Digital communication principles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 smtClean="0"/>
              <a:t>Digital communication systems</a:t>
            </a:r>
          </a:p>
        </p:txBody>
      </p:sp>
      <p:graphicFrame>
        <p:nvGraphicFramePr>
          <p:cNvPr id="3075" name="Object 4"/>
          <p:cNvGraphicFramePr>
            <a:graphicFrameLocks noChangeAspect="1"/>
          </p:cNvGraphicFramePr>
          <p:nvPr/>
        </p:nvGraphicFramePr>
        <p:xfrm>
          <a:off x="1219200" y="2514600"/>
          <a:ext cx="6243638" cy="327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" name="Bitmap Image" r:id="rId3" imgW="0" imgH="0" progId="Paint.Picture">
                  <p:embed/>
                </p:oleObj>
              </mc:Choice>
              <mc:Fallback>
                <p:oleObj name="Bitmap Image" r:id="rId3" imgW="0" imgH="0" progId="Paint.Pictur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2514600"/>
                        <a:ext cx="6243638" cy="327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solidFill>
                  <a:srgbClr val="FF0000"/>
                </a:solidFill>
              </a:rPr>
              <a:t>The source encoder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smtClean="0"/>
              <a:t>The source encoder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685800" y="1981200"/>
            <a:ext cx="8229600" cy="4495800"/>
          </a:xfrm>
        </p:spPr>
        <p:txBody>
          <a:bodyPr/>
          <a:lstStyle/>
          <a:p>
            <a:r>
              <a:rPr lang="en-US" altLang="en-US" sz="2400" smtClean="0"/>
              <a:t>Source encoder can be </a:t>
            </a:r>
            <a:r>
              <a:rPr lang="en-US" altLang="en-US" sz="2400" u="sng" smtClean="0"/>
              <a:t>discrete</a:t>
            </a:r>
            <a:r>
              <a:rPr lang="en-US" altLang="en-US" sz="2400" smtClean="0"/>
              <a:t> (encoder’s input is a sequence of symbols from a discrete alphabet like the latin alphabet; e.g. email message, web page) or </a:t>
            </a:r>
            <a:r>
              <a:rPr lang="en-US" altLang="en-US" sz="2400" u="sng" smtClean="0"/>
              <a:t>analog</a:t>
            </a:r>
            <a:r>
              <a:rPr lang="en-US" altLang="en-US" sz="2400" smtClean="0"/>
              <a:t> (encoder’s input is a waveform like a speech waveform; e.g. speech, video)</a:t>
            </a:r>
          </a:p>
          <a:p>
            <a:r>
              <a:rPr lang="en-US" altLang="en-US" sz="2400" smtClean="0"/>
              <a:t>Input: sequence of symbols or waveform</a:t>
            </a:r>
          </a:p>
          <a:p>
            <a:r>
              <a:rPr lang="en-US" altLang="en-US" sz="2400" smtClean="0"/>
              <a:t>Output: sequence of bits (which will be the input of the channel encoder/modulator)</a:t>
            </a:r>
          </a:p>
          <a:p>
            <a:r>
              <a:rPr lang="en-US" altLang="en-US" sz="2400" smtClean="0"/>
              <a:t>Goals of the encoder:</a:t>
            </a:r>
          </a:p>
          <a:p>
            <a:pPr lvl="1"/>
            <a:r>
              <a:rPr lang="en-US" altLang="en-US" sz="2000" smtClean="0"/>
              <a:t>represent data as binary sequence</a:t>
            </a:r>
          </a:p>
          <a:p>
            <a:pPr lvl="1"/>
            <a:r>
              <a:rPr lang="en-US" altLang="en-US" sz="2000" smtClean="0"/>
              <a:t>compress data</a:t>
            </a:r>
          </a:p>
          <a:p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smtClean="0"/>
              <a:t>Detailed view of the source encoder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685800" y="1981200"/>
            <a:ext cx="8153400" cy="4572000"/>
          </a:xfrm>
        </p:spPr>
        <p:txBody>
          <a:bodyPr/>
          <a:lstStyle/>
          <a:p>
            <a:pPr eaLnBrk="1" hangingPunct="1"/>
            <a:r>
              <a:rPr lang="en-US" altLang="en-US" sz="2400" smtClean="0"/>
              <a:t>discrete source encoders require only the inner layer above</a:t>
            </a:r>
          </a:p>
          <a:p>
            <a:pPr eaLnBrk="1" hangingPunct="1"/>
            <a:r>
              <a:rPr lang="en-US" altLang="en-US" sz="2400" smtClean="0"/>
              <a:t>analog source encoders use all three layers</a:t>
            </a:r>
          </a:p>
        </p:txBody>
      </p:sp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3429000"/>
            <a:ext cx="6353175" cy="231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1)+2) Sampling &amp; quantization</a:t>
            </a:r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>
          <a:xfrm>
            <a:off x="762000" y="4648200"/>
            <a:ext cx="8001000" cy="1676400"/>
          </a:xfrm>
        </p:spPr>
        <p:txBody>
          <a:bodyPr/>
          <a:lstStyle/>
          <a:p>
            <a:r>
              <a:rPr lang="en-US" altLang="en-US" sz="2400" smtClean="0"/>
              <a:t>a) the input waveform </a:t>
            </a:r>
          </a:p>
          <a:p>
            <a:r>
              <a:rPr lang="en-US" altLang="en-US" sz="2400" smtClean="0"/>
              <a:t>b) sampling the waveform</a:t>
            </a:r>
          </a:p>
          <a:p>
            <a:r>
              <a:rPr lang="en-US" altLang="en-US" sz="2400" smtClean="0"/>
              <a:t>c) quantizing the samples to 3 bits (i.e. 2^3 = 8 quantization levels) </a:t>
            </a:r>
          </a:p>
        </p:txBody>
      </p:sp>
      <p:pic>
        <p:nvPicPr>
          <p:cNvPr id="717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676400"/>
            <a:ext cx="7620000" cy="275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1)+2)Sampling and quantization examples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smtClean="0"/>
              <a:t>Telephone</a:t>
            </a:r>
          </a:p>
          <a:p>
            <a:pPr lvl="1"/>
            <a:r>
              <a:rPr lang="en-US" altLang="en-US" sz="2000" smtClean="0">
                <a:solidFill>
                  <a:srgbClr val="000000"/>
                </a:solidFill>
              </a:rPr>
              <a:t>8.000 samples /sec (up to 4 KHz)</a:t>
            </a:r>
          </a:p>
          <a:p>
            <a:pPr lvl="1"/>
            <a:r>
              <a:rPr lang="en-US" altLang="en-US" sz="2000" smtClean="0">
                <a:solidFill>
                  <a:srgbClr val="000000"/>
                </a:solidFill>
              </a:rPr>
              <a:t>Needs 64 Kb/s (Pulse code modulation, PCM, 8-bit samples in Europe), or 56 Kb/s (USA, Japan – 7 bits)</a:t>
            </a:r>
          </a:p>
          <a:p>
            <a:pPr lvl="1"/>
            <a:r>
              <a:rPr lang="en-US" altLang="en-US" sz="2000" smtClean="0">
                <a:solidFill>
                  <a:srgbClr val="000000"/>
                </a:solidFill>
              </a:rPr>
              <a:t>Enhancements: Differential PCM, Adaptive DPCM</a:t>
            </a:r>
          </a:p>
          <a:p>
            <a:r>
              <a:rPr lang="en-US" altLang="en-US" sz="2400" smtClean="0"/>
              <a:t>Audio CDs</a:t>
            </a:r>
          </a:p>
          <a:p>
            <a:pPr lvl="1"/>
            <a:r>
              <a:rPr lang="en-US" altLang="en-US" sz="2000" smtClean="0">
                <a:solidFill>
                  <a:srgbClr val="000000"/>
                </a:solidFill>
              </a:rPr>
              <a:t>44.100 samples /sec (up to 20 KHz)</a:t>
            </a:r>
          </a:p>
          <a:p>
            <a:pPr lvl="1"/>
            <a:r>
              <a:rPr lang="en-US" altLang="en-US" sz="2000" smtClean="0">
                <a:solidFill>
                  <a:srgbClr val="000000"/>
                </a:solidFill>
              </a:rPr>
              <a:t>16-bit samples: quantization error is small but audible (the dynamic range of the ear is ca. 1 million)</a:t>
            </a:r>
          </a:p>
          <a:p>
            <a:pPr lvl="1"/>
            <a:r>
              <a:rPr lang="en-US" altLang="en-US" sz="2000" smtClean="0">
                <a:solidFill>
                  <a:srgbClr val="000000"/>
                </a:solidFill>
              </a:rPr>
              <a:t>Needs 705.6 Kb/s for mono, 1.411 Mb/s for stereo</a:t>
            </a:r>
            <a:endParaRPr lang="en-US" altLang="en-US" sz="2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dirty="0" smtClean="0"/>
              <a:t>3) Discrete Source encoding algorithms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685800" y="1981200"/>
            <a:ext cx="8458200" cy="47244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main goal: compression</a:t>
            </a:r>
          </a:p>
          <a:p>
            <a:pPr eaLnBrk="1" hangingPunct="1"/>
            <a:r>
              <a:rPr lang="en-US" altLang="en-US" dirty="0" smtClean="0"/>
              <a:t>input: sequence of symbols from a finite alphabet (e.g. </a:t>
            </a:r>
            <a:r>
              <a:rPr lang="en-US" altLang="en-US" dirty="0" err="1" smtClean="0"/>
              <a:t>latin</a:t>
            </a:r>
            <a:r>
              <a:rPr lang="en-US" altLang="en-US" dirty="0" smtClean="0"/>
              <a:t> alphabet)</a:t>
            </a:r>
          </a:p>
          <a:p>
            <a:pPr eaLnBrk="1" hangingPunct="1"/>
            <a:r>
              <a:rPr lang="en-US" altLang="en-US" dirty="0" smtClean="0"/>
              <a:t>output: sequence of binary digits</a:t>
            </a:r>
          </a:p>
          <a:p>
            <a:pPr eaLnBrk="1" hangingPunct="1"/>
            <a:r>
              <a:rPr lang="en-US" altLang="en-US" dirty="0" smtClean="0"/>
              <a:t>must be uniquely decodable</a:t>
            </a:r>
          </a:p>
          <a:p>
            <a:pPr eaLnBrk="1" hangingPunct="1"/>
            <a:r>
              <a:rPr lang="en-US" altLang="en-US" dirty="0" smtClean="0"/>
              <a:t>two types of encoding algorithms:</a:t>
            </a:r>
          </a:p>
          <a:p>
            <a:pPr lvl="1" eaLnBrk="1" hangingPunct="1"/>
            <a:r>
              <a:rPr lang="en-US" altLang="en-US" dirty="0" smtClean="0"/>
              <a:t>fixed code length algorithms: ASCII</a:t>
            </a:r>
          </a:p>
          <a:p>
            <a:pPr lvl="1" eaLnBrk="1" hangingPunct="1"/>
            <a:r>
              <a:rPr lang="en-US" altLang="en-US" dirty="0" smtClean="0"/>
              <a:t>variable code length algorithms: Huffman, LZW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8077200" cy="1143000"/>
          </a:xfrm>
        </p:spPr>
        <p:txBody>
          <a:bodyPr/>
          <a:lstStyle/>
          <a:p>
            <a:r>
              <a:rPr lang="en-US" sz="3600" dirty="0" smtClean="0"/>
              <a:t>Variable length codes for discrete sources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A </a:t>
            </a:r>
            <a:r>
              <a:rPr lang="en-US" sz="2400" i="1" dirty="0"/>
              <a:t>variable-length code C </a:t>
            </a:r>
            <a:r>
              <a:rPr lang="en-US" sz="2400" dirty="0"/>
              <a:t>maps each source symbol </a:t>
            </a:r>
            <a:r>
              <a:rPr lang="en-US" sz="2400" i="1" dirty="0" err="1"/>
              <a:t>a</a:t>
            </a:r>
            <a:r>
              <a:rPr lang="en-US" sz="2400" i="1" baseline="-25000" dirty="0" err="1"/>
              <a:t>j</a:t>
            </a:r>
            <a:r>
              <a:rPr lang="en-US" sz="2400" i="1" dirty="0"/>
              <a:t> </a:t>
            </a:r>
            <a:r>
              <a:rPr lang="en-US" sz="2400" dirty="0"/>
              <a:t>in a source alphabet </a:t>
            </a:r>
            <a:r>
              <a:rPr lang="en-US" sz="2400" i="1" dirty="0"/>
              <a:t>X </a:t>
            </a:r>
            <a:r>
              <a:rPr lang="en-US" sz="2400" dirty="0"/>
              <a:t>= </a:t>
            </a:r>
            <a:r>
              <a:rPr lang="en-US" sz="2400" i="1" dirty="0"/>
              <a:t>{a</a:t>
            </a:r>
            <a:r>
              <a:rPr lang="en-US" sz="2400" baseline="-25000" dirty="0"/>
              <a:t>1</a:t>
            </a:r>
            <a:r>
              <a:rPr lang="en-US" sz="2400" i="1" dirty="0"/>
              <a:t>, . . . , </a:t>
            </a:r>
            <a:r>
              <a:rPr lang="en-US" sz="2400" i="1" dirty="0" err="1"/>
              <a:t>a</a:t>
            </a:r>
            <a:r>
              <a:rPr lang="en-US" sz="2400" i="1" baseline="-25000" dirty="0" err="1"/>
              <a:t>M</a:t>
            </a:r>
            <a:r>
              <a:rPr lang="en-US" sz="2400" i="1" dirty="0"/>
              <a:t>} </a:t>
            </a:r>
            <a:r>
              <a:rPr lang="en-US" sz="2400" dirty="0" smtClean="0"/>
              <a:t>to a </a:t>
            </a:r>
            <a:r>
              <a:rPr lang="en-US" sz="2400" dirty="0"/>
              <a:t>binary string </a:t>
            </a:r>
            <a:r>
              <a:rPr lang="en-US" sz="2400" i="1" dirty="0" smtClean="0"/>
              <a:t>C</a:t>
            </a:r>
            <a:r>
              <a:rPr lang="en-US" sz="2400" dirty="0" smtClean="0"/>
              <a:t>(</a:t>
            </a:r>
            <a:r>
              <a:rPr lang="en-US" sz="2400" i="1" dirty="0" err="1"/>
              <a:t>a</a:t>
            </a:r>
            <a:r>
              <a:rPr lang="en-US" sz="2400" i="1" baseline="-25000" dirty="0" err="1"/>
              <a:t>j</a:t>
            </a:r>
            <a:r>
              <a:rPr lang="en-US" sz="2400" dirty="0" smtClean="0"/>
              <a:t>), </a:t>
            </a:r>
            <a:r>
              <a:rPr lang="en-US" sz="2400" dirty="0"/>
              <a:t>called a </a:t>
            </a:r>
            <a:r>
              <a:rPr lang="en-US" sz="2400" i="1" dirty="0" err="1"/>
              <a:t>codeword</a:t>
            </a:r>
            <a:r>
              <a:rPr lang="en-US" sz="2400" dirty="0"/>
              <a:t>. The number of bits in </a:t>
            </a:r>
            <a:r>
              <a:rPr lang="en-US" sz="2400" i="1" dirty="0" smtClean="0"/>
              <a:t>C</a:t>
            </a:r>
            <a:r>
              <a:rPr lang="en-US" sz="2400" dirty="0" smtClean="0"/>
              <a:t>(</a:t>
            </a:r>
            <a:r>
              <a:rPr lang="en-US" sz="2400" i="1" dirty="0" err="1"/>
              <a:t>a</a:t>
            </a:r>
            <a:r>
              <a:rPr lang="en-US" sz="2400" i="1" baseline="-25000" dirty="0" err="1"/>
              <a:t>j</a:t>
            </a:r>
            <a:r>
              <a:rPr lang="en-US" sz="2400" dirty="0" smtClean="0"/>
              <a:t>) </a:t>
            </a:r>
            <a:r>
              <a:rPr lang="en-US" sz="2400" dirty="0"/>
              <a:t>is called the </a:t>
            </a:r>
            <a:r>
              <a:rPr lang="en-US" sz="2400" i="1" dirty="0"/>
              <a:t>length </a:t>
            </a:r>
            <a:r>
              <a:rPr lang="en-US" sz="2400" i="1" dirty="0" smtClean="0"/>
              <a:t>l</a:t>
            </a:r>
            <a:r>
              <a:rPr lang="en-US" sz="2400" dirty="0" smtClean="0"/>
              <a:t>(</a:t>
            </a:r>
            <a:r>
              <a:rPr lang="en-US" sz="2400" i="1" dirty="0" err="1"/>
              <a:t>a</a:t>
            </a:r>
            <a:r>
              <a:rPr lang="en-US" sz="2400" i="1" baseline="-25000" dirty="0" err="1"/>
              <a:t>j</a:t>
            </a:r>
            <a:r>
              <a:rPr lang="en-US" sz="2400" dirty="0" smtClean="0"/>
              <a:t>) of </a:t>
            </a:r>
            <a:r>
              <a:rPr lang="en-US" sz="2400" i="1" dirty="0" smtClean="0"/>
              <a:t>C</a:t>
            </a:r>
            <a:r>
              <a:rPr lang="en-US" sz="2400" dirty="0" smtClean="0"/>
              <a:t>(</a:t>
            </a:r>
            <a:r>
              <a:rPr lang="en-US" sz="2400" i="1" dirty="0" err="1"/>
              <a:t>a</a:t>
            </a:r>
            <a:r>
              <a:rPr lang="en-US" sz="2400" i="1" baseline="-25000" dirty="0" err="1"/>
              <a:t>j</a:t>
            </a:r>
            <a:r>
              <a:rPr lang="en-US" sz="2400" dirty="0" smtClean="0"/>
              <a:t>). </a:t>
            </a:r>
          </a:p>
          <a:p>
            <a:r>
              <a:rPr lang="en-US" sz="2400" dirty="0" smtClean="0"/>
              <a:t>For </a:t>
            </a:r>
            <a:r>
              <a:rPr lang="en-US" sz="2400" dirty="0"/>
              <a:t>example, a variable-length code for the alphabet </a:t>
            </a:r>
            <a:r>
              <a:rPr lang="en-US" sz="2400" i="1" dirty="0"/>
              <a:t>X </a:t>
            </a:r>
            <a:r>
              <a:rPr lang="en-US" sz="2400" dirty="0"/>
              <a:t>= </a:t>
            </a:r>
            <a:r>
              <a:rPr lang="en-US" sz="2400" i="1" dirty="0"/>
              <a:t>{a, b, c} </a:t>
            </a:r>
            <a:r>
              <a:rPr lang="en-US" sz="2400" dirty="0"/>
              <a:t>and its lengths </a:t>
            </a:r>
            <a:r>
              <a:rPr lang="en-US" sz="2400" dirty="0" smtClean="0"/>
              <a:t>might be </a:t>
            </a:r>
            <a:r>
              <a:rPr lang="en-US" sz="2400" dirty="0"/>
              <a:t>given by</a:t>
            </a:r>
            <a:br>
              <a:rPr lang="en-US" sz="2400" dirty="0"/>
            </a:br>
            <a:r>
              <a:rPr lang="en-US" sz="2400" i="1" dirty="0"/>
              <a:t>C</a:t>
            </a:r>
            <a:r>
              <a:rPr lang="en-US" sz="2400" dirty="0"/>
              <a:t>(</a:t>
            </a:r>
            <a:r>
              <a:rPr lang="en-US" sz="2400" i="1" dirty="0"/>
              <a:t>a</a:t>
            </a:r>
            <a:r>
              <a:rPr lang="en-US" sz="2400" dirty="0"/>
              <a:t>) = 0 </a:t>
            </a:r>
            <a:r>
              <a:rPr lang="en-US" sz="2400" dirty="0" smtClean="0"/>
              <a:t>      </a:t>
            </a:r>
            <a:r>
              <a:rPr lang="en-US" sz="2400" i="1" dirty="0" smtClean="0"/>
              <a:t>l</a:t>
            </a:r>
            <a:r>
              <a:rPr lang="en-US" sz="2400" dirty="0" smtClean="0"/>
              <a:t>(</a:t>
            </a:r>
            <a:r>
              <a:rPr lang="en-US" sz="2400" i="1" dirty="0" smtClean="0"/>
              <a:t>a</a:t>
            </a:r>
            <a:r>
              <a:rPr lang="en-US" sz="2400" dirty="0"/>
              <a:t>) = 1</a:t>
            </a:r>
            <a:br>
              <a:rPr lang="en-US" sz="2400" dirty="0"/>
            </a:br>
            <a:r>
              <a:rPr lang="en-US" sz="2400" i="1" dirty="0"/>
              <a:t>C</a:t>
            </a:r>
            <a:r>
              <a:rPr lang="en-US" sz="2400" dirty="0"/>
              <a:t>(</a:t>
            </a:r>
            <a:r>
              <a:rPr lang="en-US" sz="2400" i="1" dirty="0"/>
              <a:t>b</a:t>
            </a:r>
            <a:r>
              <a:rPr lang="en-US" sz="2400" dirty="0"/>
              <a:t>) = 10 </a:t>
            </a:r>
            <a:r>
              <a:rPr lang="en-US" sz="2400" dirty="0" smtClean="0"/>
              <a:t>    </a:t>
            </a:r>
            <a:r>
              <a:rPr lang="en-US" sz="2400" i="1" dirty="0" smtClean="0"/>
              <a:t>l</a:t>
            </a:r>
            <a:r>
              <a:rPr lang="en-US" sz="2400" dirty="0" smtClean="0"/>
              <a:t>(</a:t>
            </a:r>
            <a:r>
              <a:rPr lang="en-US" sz="2400" i="1" dirty="0" smtClean="0"/>
              <a:t>b</a:t>
            </a:r>
            <a:r>
              <a:rPr lang="en-US" sz="2400" dirty="0"/>
              <a:t>) = 2</a:t>
            </a:r>
            <a:br>
              <a:rPr lang="en-US" sz="2400" dirty="0"/>
            </a:br>
            <a:r>
              <a:rPr lang="en-US" sz="2400" i="1" dirty="0"/>
              <a:t>C</a:t>
            </a:r>
            <a:r>
              <a:rPr lang="en-US" sz="2400" dirty="0"/>
              <a:t>(</a:t>
            </a:r>
            <a:r>
              <a:rPr lang="en-US" sz="2400" i="1" dirty="0"/>
              <a:t>c</a:t>
            </a:r>
            <a:r>
              <a:rPr lang="en-US" sz="2400" dirty="0"/>
              <a:t>) = 11 </a:t>
            </a:r>
            <a:r>
              <a:rPr lang="en-US" sz="2400" dirty="0" smtClean="0"/>
              <a:t>    </a:t>
            </a:r>
            <a:r>
              <a:rPr lang="en-US" sz="2400" i="1" dirty="0" smtClean="0"/>
              <a:t>l</a:t>
            </a:r>
            <a:r>
              <a:rPr lang="en-US" sz="2400" dirty="0" smtClean="0"/>
              <a:t>(</a:t>
            </a:r>
            <a:r>
              <a:rPr lang="en-US" sz="2400" i="1" dirty="0" smtClean="0"/>
              <a:t>c</a:t>
            </a:r>
            <a:r>
              <a:rPr lang="en-US" sz="2400" dirty="0"/>
              <a:t>) = 2 </a:t>
            </a:r>
            <a:br>
              <a:rPr lang="en-US" sz="2400" dirty="0"/>
            </a:b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75666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696200" cy="1143000"/>
          </a:xfrm>
        </p:spPr>
        <p:txBody>
          <a:bodyPr/>
          <a:lstStyle/>
          <a:p>
            <a:r>
              <a:rPr lang="en-US" sz="3600" dirty="0"/>
              <a:t>Variable length codes for discrete </a:t>
            </a:r>
            <a:r>
              <a:rPr lang="en-US" sz="3600" dirty="0" smtClean="0"/>
              <a:t>sources (1)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A code </a:t>
            </a:r>
            <a:r>
              <a:rPr lang="en-US" sz="2400" i="1" dirty="0"/>
              <a:t>C </a:t>
            </a:r>
            <a:r>
              <a:rPr lang="en-US" sz="2400" dirty="0"/>
              <a:t>for a discrete source is </a:t>
            </a:r>
            <a:r>
              <a:rPr lang="en-US" sz="2400" i="1" dirty="0"/>
              <a:t>uniquely decodable</a:t>
            </a:r>
            <a:r>
              <a:rPr lang="en-US" sz="2400" dirty="0"/>
              <a:t> if, for any </a:t>
            </a:r>
            <a:r>
              <a:rPr lang="en-US" sz="2400" dirty="0" smtClean="0"/>
              <a:t>string of </a:t>
            </a:r>
            <a:r>
              <a:rPr lang="en-US" sz="2400" dirty="0"/>
              <a:t>source symbols, say </a:t>
            </a:r>
            <a:r>
              <a:rPr lang="en-US" sz="2400" i="1" dirty="0"/>
              <a:t>x</a:t>
            </a:r>
            <a:r>
              <a:rPr lang="en-US" sz="2400" baseline="-25000" dirty="0"/>
              <a:t>1</a:t>
            </a:r>
            <a:r>
              <a:rPr lang="en-US" sz="2400" i="1" dirty="0"/>
              <a:t>, x</a:t>
            </a:r>
            <a:r>
              <a:rPr lang="en-US" sz="2400" baseline="-25000" dirty="0"/>
              <a:t>2</a:t>
            </a:r>
            <a:r>
              <a:rPr lang="en-US" sz="2400" i="1" dirty="0"/>
              <a:t>, . . . , </a:t>
            </a:r>
            <a:r>
              <a:rPr lang="en-US" sz="2400" i="1" dirty="0" err="1"/>
              <a:t>x</a:t>
            </a:r>
            <a:r>
              <a:rPr lang="en-US" sz="2400" i="1" baseline="-25000" dirty="0" err="1"/>
              <a:t>n</a:t>
            </a:r>
            <a:r>
              <a:rPr lang="en-US" sz="2400" dirty="0"/>
              <a:t>, the </a:t>
            </a:r>
            <a:r>
              <a:rPr lang="en-US" sz="2400" dirty="0" smtClean="0"/>
              <a:t>concatenation </a:t>
            </a:r>
            <a:r>
              <a:rPr lang="en-US" sz="2400" dirty="0"/>
              <a:t>of the corresponding </a:t>
            </a:r>
            <a:r>
              <a:rPr lang="en-US" sz="2400" dirty="0" err="1"/>
              <a:t>codewords</a:t>
            </a:r>
            <a:r>
              <a:rPr lang="en-US" sz="2400" dirty="0" smtClean="0"/>
              <a:t>, </a:t>
            </a:r>
            <a:r>
              <a:rPr lang="en-US" sz="2400" i="1" dirty="0" smtClean="0"/>
              <a:t>C</a:t>
            </a:r>
            <a:r>
              <a:rPr lang="en-US" sz="2400" dirty="0" smtClean="0"/>
              <a:t>(</a:t>
            </a:r>
            <a:r>
              <a:rPr lang="en-US" sz="2400" i="1" dirty="0" smtClean="0"/>
              <a:t>x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)</a:t>
            </a:r>
            <a:r>
              <a:rPr lang="en-US" sz="2400" i="1" dirty="0" smtClean="0"/>
              <a:t>C</a:t>
            </a:r>
            <a:r>
              <a:rPr lang="en-US" sz="2400" dirty="0" smtClean="0"/>
              <a:t>(</a:t>
            </a:r>
            <a:r>
              <a:rPr lang="en-US" sz="2400" i="1" dirty="0" smtClean="0"/>
              <a:t>x</a:t>
            </a:r>
            <a:r>
              <a:rPr lang="en-US" sz="2400" baseline="-25000" dirty="0" smtClean="0"/>
              <a:t>2</a:t>
            </a:r>
            <a:r>
              <a:rPr lang="en-US" sz="2400" dirty="0"/>
              <a:t>) </a:t>
            </a:r>
            <a:r>
              <a:rPr lang="en-US" sz="2400" i="1" dirty="0"/>
              <a:t>· · · C</a:t>
            </a:r>
            <a:r>
              <a:rPr lang="en-US" sz="2400" dirty="0"/>
              <a:t>(</a:t>
            </a:r>
            <a:r>
              <a:rPr lang="en-US" sz="2400" i="1" dirty="0" err="1"/>
              <a:t>x</a:t>
            </a:r>
            <a:r>
              <a:rPr lang="en-US" sz="2400" i="1" baseline="-25000" dirty="0" err="1"/>
              <a:t>n</a:t>
            </a:r>
            <a:r>
              <a:rPr lang="en-US" sz="2400" dirty="0"/>
              <a:t>), differs from the concatenation of the </a:t>
            </a:r>
            <a:r>
              <a:rPr lang="en-US" sz="2400" dirty="0" err="1"/>
              <a:t>codewords</a:t>
            </a:r>
            <a:r>
              <a:rPr lang="en-US" sz="2400" dirty="0"/>
              <a:t> </a:t>
            </a:r>
            <a:r>
              <a:rPr lang="en-US" sz="2400" i="1" dirty="0"/>
              <a:t>C</a:t>
            </a:r>
            <a:r>
              <a:rPr lang="en-US" sz="2400" dirty="0"/>
              <a:t>(</a:t>
            </a:r>
            <a:r>
              <a:rPr lang="en-US" sz="2400" i="1" dirty="0"/>
              <a:t>x</a:t>
            </a:r>
            <a:r>
              <a:rPr lang="en-US" sz="2400" baseline="-25000" dirty="0"/>
              <a:t>1</a:t>
            </a:r>
            <a:r>
              <a:rPr lang="en-US" sz="2400" dirty="0"/>
              <a:t>)</a:t>
            </a:r>
            <a:r>
              <a:rPr lang="en-US" sz="2400" i="1" dirty="0"/>
              <a:t>C</a:t>
            </a:r>
            <a:r>
              <a:rPr lang="en-US" sz="2400" dirty="0"/>
              <a:t>(</a:t>
            </a:r>
            <a:r>
              <a:rPr lang="en-US" sz="2400" i="1" dirty="0"/>
              <a:t>x</a:t>
            </a:r>
            <a:r>
              <a:rPr lang="en-US" sz="2400" baseline="-25000" dirty="0"/>
              <a:t>2</a:t>
            </a:r>
            <a:r>
              <a:rPr lang="en-US" sz="2400" dirty="0"/>
              <a:t>) </a:t>
            </a:r>
            <a:r>
              <a:rPr lang="en-US" sz="2400" i="1" dirty="0"/>
              <a:t>· · · </a:t>
            </a:r>
            <a:r>
              <a:rPr lang="en-US" sz="2400" i="1" dirty="0" smtClean="0"/>
              <a:t>C</a:t>
            </a:r>
            <a:r>
              <a:rPr lang="en-US" sz="2400" dirty="0" smtClean="0"/>
              <a:t>(</a:t>
            </a:r>
            <a:r>
              <a:rPr lang="en-US" sz="2400" i="1" dirty="0" err="1" smtClean="0"/>
              <a:t>x</a:t>
            </a:r>
            <a:r>
              <a:rPr lang="en-US" sz="2400" i="1" baseline="-25000" dirty="0" err="1" smtClean="0"/>
              <a:t>m</a:t>
            </a:r>
            <a:r>
              <a:rPr lang="en-US" sz="2400" dirty="0"/>
              <a:t>) </a:t>
            </a:r>
            <a:r>
              <a:rPr lang="en-US" sz="2400" dirty="0" smtClean="0"/>
              <a:t>for any </a:t>
            </a:r>
            <a:r>
              <a:rPr lang="en-US" sz="2400" dirty="0"/>
              <a:t>other string </a:t>
            </a:r>
            <a:r>
              <a:rPr lang="en-US" sz="2400" i="1" dirty="0"/>
              <a:t>x</a:t>
            </a:r>
            <a:r>
              <a:rPr lang="en-US" sz="2400" baseline="-25000" dirty="0"/>
              <a:t>1</a:t>
            </a:r>
            <a:r>
              <a:rPr lang="en-US" sz="2400" i="1" dirty="0"/>
              <a:t>, x</a:t>
            </a:r>
            <a:r>
              <a:rPr lang="en-US" sz="2400" baseline="-25000" dirty="0"/>
              <a:t>2</a:t>
            </a:r>
            <a:r>
              <a:rPr lang="en-US" sz="2400" i="1" dirty="0"/>
              <a:t>, . . . , </a:t>
            </a:r>
            <a:r>
              <a:rPr lang="en-US" sz="2400" i="1" dirty="0" err="1" smtClean="0"/>
              <a:t>x</a:t>
            </a:r>
            <a:r>
              <a:rPr lang="en-US" sz="2400" i="1" baseline="-25000" dirty="0" err="1" smtClean="0"/>
              <a:t>m</a:t>
            </a:r>
            <a:r>
              <a:rPr lang="en-US" sz="2400" i="1" dirty="0" smtClean="0"/>
              <a:t> </a:t>
            </a:r>
            <a:r>
              <a:rPr lang="en-US" sz="2400" dirty="0"/>
              <a:t>of source symbols</a:t>
            </a:r>
            <a:r>
              <a:rPr lang="en-US" sz="2400" dirty="0" smtClean="0"/>
              <a:t>.</a:t>
            </a:r>
          </a:p>
          <a:p>
            <a:r>
              <a:rPr lang="en-US" sz="2400" dirty="0"/>
              <a:t>A </a:t>
            </a:r>
            <a:r>
              <a:rPr lang="en-US" sz="2400" i="1" dirty="0"/>
              <a:t>prefix </a:t>
            </a:r>
            <a:r>
              <a:rPr lang="en-US" sz="2400" dirty="0"/>
              <a:t>of a string </a:t>
            </a:r>
            <a:r>
              <a:rPr lang="en-US" sz="2400" i="1" dirty="0"/>
              <a:t>y</a:t>
            </a:r>
            <a:r>
              <a:rPr lang="en-US" sz="2400" dirty="0"/>
              <a:t>1 </a:t>
            </a:r>
            <a:r>
              <a:rPr lang="en-US" sz="2400" i="1" dirty="0"/>
              <a:t>· · · </a:t>
            </a:r>
            <a:r>
              <a:rPr lang="en-US" sz="2400" i="1" dirty="0" err="1"/>
              <a:t>yl</a:t>
            </a:r>
            <a:r>
              <a:rPr lang="en-US" sz="2400" i="1" dirty="0"/>
              <a:t> </a:t>
            </a:r>
            <a:r>
              <a:rPr lang="en-US" sz="2400" dirty="0"/>
              <a:t>is any initial substring </a:t>
            </a:r>
            <a:r>
              <a:rPr lang="en-US" sz="2400" i="1" dirty="0"/>
              <a:t>y</a:t>
            </a:r>
            <a:r>
              <a:rPr lang="en-US" sz="2400" dirty="0"/>
              <a:t>1 </a:t>
            </a:r>
            <a:r>
              <a:rPr lang="en-US" sz="2400" i="1" dirty="0"/>
              <a:t>· · · </a:t>
            </a:r>
            <a:r>
              <a:rPr lang="en-US" sz="2400" i="1" dirty="0" err="1" smtClean="0"/>
              <a:t>ym</a:t>
            </a:r>
            <a:r>
              <a:rPr lang="en-US" sz="2400" i="1" dirty="0" smtClean="0"/>
              <a:t>,</a:t>
            </a:r>
            <a:r>
              <a:rPr lang="en-US" sz="2400" dirty="0" smtClean="0"/>
              <a:t> </a:t>
            </a:r>
            <a:r>
              <a:rPr lang="en-US" sz="2400" i="1" dirty="0"/>
              <a:t>m</a:t>
            </a:r>
            <a:r>
              <a:rPr lang="en-US" sz="2400" i="1" dirty="0" smtClean="0"/>
              <a:t> </a:t>
            </a:r>
            <a:r>
              <a:rPr lang="en-US" sz="2400" i="1" dirty="0"/>
              <a:t>≤ l </a:t>
            </a:r>
            <a:r>
              <a:rPr lang="en-US" sz="2400" dirty="0"/>
              <a:t>of </a:t>
            </a:r>
            <a:r>
              <a:rPr lang="en-US" sz="2400" dirty="0" smtClean="0"/>
              <a:t>that string</a:t>
            </a:r>
            <a:r>
              <a:rPr lang="en-US" sz="2400" dirty="0"/>
              <a:t>. The prefix is </a:t>
            </a:r>
            <a:r>
              <a:rPr lang="en-US" sz="2400" i="1" dirty="0"/>
              <a:t>proper </a:t>
            </a:r>
            <a:r>
              <a:rPr lang="en-US" sz="2400" dirty="0"/>
              <a:t>if </a:t>
            </a:r>
            <a:r>
              <a:rPr lang="en-US" sz="2400" i="1" dirty="0"/>
              <a:t>m</a:t>
            </a:r>
            <a:r>
              <a:rPr lang="en-US" sz="2400" i="1" dirty="0" smtClean="0"/>
              <a:t> </a:t>
            </a:r>
            <a:r>
              <a:rPr lang="en-US" sz="2400" i="1" dirty="0"/>
              <a:t>&lt; l</a:t>
            </a:r>
            <a:r>
              <a:rPr lang="en-US" sz="2400" dirty="0"/>
              <a:t>. A code is </a:t>
            </a:r>
            <a:r>
              <a:rPr lang="en-US" sz="2400" i="1" dirty="0"/>
              <a:t>prefix-free </a:t>
            </a:r>
            <a:r>
              <a:rPr lang="en-US" sz="2400" dirty="0"/>
              <a:t>if no </a:t>
            </a:r>
            <a:r>
              <a:rPr lang="en-US" sz="2400" dirty="0" err="1"/>
              <a:t>codeword</a:t>
            </a:r>
            <a:r>
              <a:rPr lang="en-US" sz="2400" dirty="0"/>
              <a:t> is a prefix of any other</a:t>
            </a:r>
            <a:br>
              <a:rPr lang="en-US" sz="2400" dirty="0"/>
            </a:br>
            <a:r>
              <a:rPr lang="en-US" sz="2400" dirty="0" err="1"/>
              <a:t>codeword</a:t>
            </a:r>
            <a:r>
              <a:rPr lang="en-US" sz="2400" dirty="0"/>
              <a:t>. </a:t>
            </a:r>
            <a:r>
              <a:rPr lang="en-US" sz="2400" dirty="0" smtClean="0"/>
              <a:t>A </a:t>
            </a:r>
            <a:r>
              <a:rPr lang="en-US" sz="2400" i="1" dirty="0" smtClean="0"/>
              <a:t>prefix-free code</a:t>
            </a:r>
            <a:r>
              <a:rPr lang="en-US" sz="2400" dirty="0" smtClean="0"/>
              <a:t> is uniquely decodable.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 </a:t>
            </a:r>
            <a:br>
              <a:rPr lang="en-US" sz="2400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5252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 sz="4000" smtClean="0"/>
              <a:t>Huffman encoding example</a:t>
            </a:r>
            <a:endParaRPr lang="en-GB" altLang="en-US" sz="4000" smtClean="0"/>
          </a:p>
        </p:txBody>
      </p:sp>
      <p:graphicFrame>
        <p:nvGraphicFramePr>
          <p:cNvPr id="10243" name="Object 3"/>
          <p:cNvGraphicFramePr>
            <a:graphicFrameLocks noChangeAspect="1"/>
          </p:cNvGraphicFramePr>
          <p:nvPr/>
        </p:nvGraphicFramePr>
        <p:xfrm>
          <a:off x="762000" y="1401763"/>
          <a:ext cx="7924800" cy="545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3" name="Bitmap Image" r:id="rId3" imgW="6792273" imgH="4676190" progId="Paint.Picture">
                  <p:embed/>
                </p:oleObj>
              </mc:Choice>
              <mc:Fallback>
                <p:oleObj name="Bitmap Image" r:id="rId3" imgW="6792273" imgH="4676190" progId="Paint.Picture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1401763"/>
                        <a:ext cx="7924800" cy="5456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 sz="4000" smtClean="0"/>
              <a:t>Huffman encoding example (2)</a:t>
            </a:r>
            <a:endParaRPr lang="en-GB" altLang="en-US" sz="4000" smtClean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05000"/>
            <a:ext cx="8458200" cy="4953000"/>
          </a:xfrm>
        </p:spPr>
        <p:txBody>
          <a:bodyPr/>
          <a:lstStyle/>
          <a:p>
            <a:pPr eaLnBrk="1" hangingPunct="1"/>
            <a:r>
              <a:rPr lang="en-US" altLang="en-US" sz="2400" smtClean="0"/>
              <a:t>Huffman enc</a:t>
            </a:r>
            <a:r>
              <a:rPr lang="en-GB" altLang="en-US" sz="2400" smtClean="0"/>
              <a:t>ode the sequence of symbols {3,2,2,0,1,1,2,3,2,2} using the</a:t>
            </a:r>
            <a:r>
              <a:rPr lang="en-US" altLang="en-US" sz="2400" smtClean="0"/>
              <a:t> codes from previous slide</a:t>
            </a:r>
          </a:p>
          <a:p>
            <a:pPr eaLnBrk="1" hangingPunct="1"/>
            <a:r>
              <a:rPr lang="en-US" altLang="en-US" sz="2400" smtClean="0"/>
              <a:t>Code table:</a:t>
            </a:r>
          </a:p>
          <a:p>
            <a:pPr eaLnBrk="1" hangingPunct="1"/>
            <a:endParaRPr lang="en-US" altLang="en-US" sz="2400" smtClean="0"/>
          </a:p>
          <a:p>
            <a:pPr eaLnBrk="1" hangingPunct="1"/>
            <a:endParaRPr lang="en-US" altLang="en-US" sz="2400" smtClean="0"/>
          </a:p>
          <a:p>
            <a:pPr eaLnBrk="1" hangingPunct="1"/>
            <a:r>
              <a:rPr lang="en-US" altLang="en-US" sz="2400" smtClean="0"/>
              <a:t>C</a:t>
            </a:r>
            <a:r>
              <a:rPr lang="en-GB" altLang="en-US" sz="2400" smtClean="0"/>
              <a:t>oded sequence: {01,1,1,000,001,001,1,01,1,1}</a:t>
            </a:r>
          </a:p>
          <a:p>
            <a:pPr lvl="1" eaLnBrk="1" hangingPunct="1"/>
            <a:r>
              <a:rPr lang="en-GB" altLang="en-US" sz="2000" smtClean="0"/>
              <a:t>Average bit rate: 18 bits/10=1.8 bits/symbol </a:t>
            </a:r>
          </a:p>
          <a:p>
            <a:pPr lvl="1" eaLnBrk="1" hangingPunct="1"/>
            <a:r>
              <a:rPr lang="en-GB" altLang="en-US" sz="2000" smtClean="0"/>
              <a:t>Fixed length coding rate: 2 bits/symbol</a:t>
            </a:r>
          </a:p>
          <a:p>
            <a:pPr lvl="1" eaLnBrk="1" hangingPunct="1"/>
            <a:r>
              <a:rPr lang="en-GB" altLang="en-US" sz="2000" smtClean="0"/>
              <a:t>Saving is more obvious for a longer sequence of symbol</a:t>
            </a:r>
            <a:endParaRPr lang="en-US" altLang="en-US" sz="2000" smtClean="0"/>
          </a:p>
          <a:p>
            <a:pPr eaLnBrk="1" hangingPunct="1"/>
            <a:r>
              <a:rPr lang="en-US" altLang="en-US" sz="2400" smtClean="0"/>
              <a:t>Decoding: table lookup</a:t>
            </a:r>
            <a:endParaRPr lang="en-GB" altLang="en-US" sz="2400" smtClean="0"/>
          </a:p>
        </p:txBody>
      </p:sp>
      <p:graphicFrame>
        <p:nvGraphicFramePr>
          <p:cNvPr id="9247" name="Group 31"/>
          <p:cNvGraphicFramePr>
            <a:graphicFrameLocks noGrp="1"/>
          </p:cNvGraphicFramePr>
          <p:nvPr/>
        </p:nvGraphicFramePr>
        <p:xfrm>
          <a:off x="2667000" y="2743200"/>
          <a:ext cx="1981200" cy="1371600"/>
        </p:xfrm>
        <a:graphic>
          <a:graphicData uri="http://schemas.openxmlformats.org/drawingml/2006/table">
            <a:tbl>
              <a:tblPr/>
              <a:tblGrid>
                <a:gridCol w="990600"/>
                <a:gridCol w="990600"/>
              </a:tblGrid>
              <a:tr h="2127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Symbol</a:t>
                      </a:r>
                      <a:endParaRPr kumimoji="0" lang="en-GB" alt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Codeword</a:t>
                      </a:r>
                      <a:endParaRPr kumimoji="0" lang="en-GB" alt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43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alt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000</a:t>
                      </a:r>
                      <a:endParaRPr kumimoji="0" lang="en-GB" alt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27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alt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001</a:t>
                      </a:r>
                      <a:endParaRPr kumimoji="0" lang="en-GB" alt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43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GB" alt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alt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27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kumimoji="0" lang="en-GB" alt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01</a:t>
                      </a:r>
                      <a:endParaRPr kumimoji="0" lang="en-GB" alt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 sz="4000" smtClean="0"/>
              <a:t>Huffman encoding algorithm</a:t>
            </a:r>
            <a:endParaRPr lang="en-GB" altLang="en-US" sz="4000" smtClean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752600"/>
            <a:ext cx="8458200" cy="5105400"/>
          </a:xfrm>
        </p:spPr>
        <p:txBody>
          <a:bodyPr/>
          <a:lstStyle/>
          <a:p>
            <a:pPr eaLnBrk="1" hangingPunct="1"/>
            <a:r>
              <a:rPr lang="en-GB" altLang="en-US" sz="2400" b="1" smtClean="0"/>
              <a:t>Step 1</a:t>
            </a:r>
            <a:r>
              <a:rPr lang="en-GB" altLang="en-US" sz="2400" smtClean="0"/>
              <a:t>: arrange the symbol probabilities in a decreasing order and consider them as leaf nodes of a tree</a:t>
            </a:r>
          </a:p>
          <a:p>
            <a:pPr eaLnBrk="1" hangingPunct="1"/>
            <a:r>
              <a:rPr lang="en-GB" altLang="en-US" sz="2400" b="1" smtClean="0"/>
              <a:t>Step 2</a:t>
            </a:r>
            <a:r>
              <a:rPr lang="en-GB" altLang="en-US" sz="2400" smtClean="0"/>
              <a:t>: while there are more than one node: </a:t>
            </a:r>
          </a:p>
          <a:p>
            <a:pPr lvl="1" eaLnBrk="1" hangingPunct="1"/>
            <a:r>
              <a:rPr lang="en-GB" altLang="en-US" sz="2000" smtClean="0"/>
              <a:t>Find the two nodes with the smallest probability and assign the one with the lowest probability a “0”, and the other one a “1” (or the other way, but be consistent)</a:t>
            </a:r>
            <a:endParaRPr lang="en-US" altLang="en-US" sz="2000" smtClean="0"/>
          </a:p>
          <a:p>
            <a:pPr lvl="1" eaLnBrk="1" hangingPunct="1"/>
            <a:r>
              <a:rPr lang="en-GB" altLang="en-US" sz="2000" smtClean="0"/>
              <a:t>Merge the two nodes to form a new node whose probability is the sum of the two merged nodes.</a:t>
            </a:r>
            <a:endParaRPr lang="en-US" altLang="en-US" sz="2000" smtClean="0"/>
          </a:p>
          <a:p>
            <a:pPr lvl="1" eaLnBrk="1" hangingPunct="1"/>
            <a:r>
              <a:rPr lang="en-GB" altLang="en-US" sz="2000" smtClean="0"/>
              <a:t>Go back to Step</a:t>
            </a:r>
            <a:r>
              <a:rPr lang="en-US" altLang="en-US" sz="2000" smtClean="0"/>
              <a:t> </a:t>
            </a:r>
            <a:r>
              <a:rPr lang="en-GB" altLang="en-US" sz="2000" smtClean="0"/>
              <a:t>1</a:t>
            </a:r>
          </a:p>
          <a:p>
            <a:pPr eaLnBrk="1" hangingPunct="1"/>
            <a:r>
              <a:rPr lang="en-GB" altLang="en-US" sz="2400" b="1" smtClean="0"/>
              <a:t>Step 3</a:t>
            </a:r>
            <a:r>
              <a:rPr lang="en-GB" altLang="en-US" sz="2400" smtClean="0"/>
              <a:t>: For each symbol, determine its codeword by tracing the assigned bits from the corresponding leaf node to the top of the</a:t>
            </a:r>
            <a:r>
              <a:rPr lang="en-US" altLang="en-US" sz="2400" smtClean="0"/>
              <a:t> </a:t>
            </a:r>
            <a:r>
              <a:rPr lang="en-GB" altLang="en-US" sz="2400" smtClean="0"/>
              <a:t>tree. The bit at the leaf node is the last bit of the codewor</a:t>
            </a:r>
            <a:r>
              <a:rPr lang="en-US" altLang="en-US" sz="2400" smtClean="0"/>
              <a:t>d</a:t>
            </a:r>
            <a:endParaRPr lang="en-GB" altLang="en-US" sz="2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 sz="4000" smtClean="0"/>
              <a:t>More on Huffman encoding</a:t>
            </a:r>
            <a:endParaRPr lang="en-GB" altLang="en-US" sz="4000" smtClean="0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828800"/>
            <a:ext cx="8458200" cy="4876800"/>
          </a:xfrm>
        </p:spPr>
        <p:txBody>
          <a:bodyPr/>
          <a:lstStyle/>
          <a:p>
            <a:pPr eaLnBrk="1" hangingPunct="1"/>
            <a:r>
              <a:rPr lang="en-GB" altLang="en-US" sz="2400" smtClean="0"/>
              <a:t>Huffman coding achieves the upper entropy bound</a:t>
            </a:r>
          </a:p>
          <a:p>
            <a:pPr eaLnBrk="1" hangingPunct="1"/>
            <a:r>
              <a:rPr lang="en-GB" altLang="en-US" sz="2400" smtClean="0"/>
              <a:t>One can code one symbol at a time (scalar coding) or a group of symbols at a time (vector coding)</a:t>
            </a:r>
          </a:p>
          <a:p>
            <a:pPr eaLnBrk="1" hangingPunct="1"/>
            <a:r>
              <a:rPr lang="en-GB" altLang="en-US" sz="2400" smtClean="0"/>
              <a:t>If the probability distribution is known and accurate, Huffman coding is very good (off from the entropy by 1 bit at most). </a:t>
            </a:r>
            <a:endParaRPr lang="en-US" altLang="en-US" sz="2400" smtClean="0"/>
          </a:p>
          <a:p>
            <a:pPr eaLnBrk="1" hangingPunct="1"/>
            <a:endParaRPr lang="en-GB" altLang="en-US" sz="2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 smtClean="0"/>
              <a:t>The LZW encoding algorithm</a:t>
            </a:r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>
          <a:xfrm>
            <a:off x="685800" y="1752600"/>
            <a:ext cx="8229600" cy="4800600"/>
          </a:xfrm>
        </p:spPr>
        <p:txBody>
          <a:bodyPr/>
          <a:lstStyle/>
          <a:p>
            <a:r>
              <a:rPr lang="en-US" altLang="en-US" sz="2400" smtClean="0"/>
              <a:t>The encoder and decoder dynamically build a dictionary of (symbol-code) pairs. </a:t>
            </a:r>
            <a:r>
              <a:rPr lang="en-US" altLang="en-US" sz="2400" dirty="0" smtClean="0"/>
              <a:t>This dictionary is initialized with the ASCII codes set (codes 1-255 are already occupied).</a:t>
            </a:r>
          </a:p>
          <a:p>
            <a:r>
              <a:rPr lang="en-US" altLang="en-US" sz="2400" dirty="0" smtClean="0"/>
              <a:t>The encoder always tries to add an unknown, long, symbol sequence to this dictionary and sends only the code for this sequence to the decoder (not the actual sequence)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 smtClean="0"/>
              <a:t>The LZW encoding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981200"/>
            <a:ext cx="8001000" cy="4572000"/>
          </a:xfrm>
        </p:spPr>
        <p:txBody>
          <a:bodyPr/>
          <a:lstStyle/>
          <a:p>
            <a:pPr marL="0" indent="0">
              <a:buFontTx/>
              <a:buNone/>
              <a:defRPr/>
            </a:pPr>
            <a:r>
              <a:rPr lang="en-US" sz="2000" dirty="0" smtClean="0"/>
              <a:t>Initialize dictionary with </a:t>
            </a:r>
            <a:r>
              <a:rPr lang="en-US" sz="2000" dirty="0"/>
              <a:t>single character strings </a:t>
            </a:r>
          </a:p>
          <a:p>
            <a:pPr marL="0" indent="0">
              <a:buFontTx/>
              <a:buNone/>
              <a:defRPr/>
            </a:pPr>
            <a:r>
              <a:rPr lang="en-US" sz="2000" dirty="0" smtClean="0"/>
              <a:t>P </a:t>
            </a:r>
            <a:r>
              <a:rPr lang="en-US" sz="2000" dirty="0"/>
              <a:t>= first input character </a:t>
            </a:r>
          </a:p>
          <a:p>
            <a:pPr marL="0" indent="0">
              <a:buFontTx/>
              <a:buNone/>
              <a:defRPr/>
            </a:pPr>
            <a:r>
              <a:rPr lang="en-US" sz="2000" dirty="0" smtClean="0"/>
              <a:t>WHILE </a:t>
            </a:r>
            <a:r>
              <a:rPr lang="en-US" sz="2000" dirty="0"/>
              <a:t>not end of input stream </a:t>
            </a:r>
          </a:p>
          <a:p>
            <a:pPr marL="0" indent="0">
              <a:buFontTx/>
              <a:buNone/>
              <a:defRPr/>
            </a:pPr>
            <a:r>
              <a:rPr lang="en-US" sz="2000" dirty="0"/>
              <a:t>	C = next input character </a:t>
            </a:r>
          </a:p>
          <a:p>
            <a:pPr marL="0" indent="0">
              <a:buFontTx/>
              <a:buNone/>
              <a:defRPr/>
            </a:pPr>
            <a:r>
              <a:rPr lang="en-US" sz="2000" dirty="0"/>
              <a:t>	IF P + C is in the string table </a:t>
            </a:r>
          </a:p>
          <a:p>
            <a:pPr marL="0" indent="0">
              <a:buFontTx/>
              <a:buNone/>
              <a:defRPr/>
            </a:pPr>
            <a:r>
              <a:rPr lang="en-US" sz="2000" dirty="0"/>
              <a:t>		P = P + C </a:t>
            </a:r>
          </a:p>
          <a:p>
            <a:pPr marL="0" indent="0">
              <a:buFontTx/>
              <a:buNone/>
              <a:defRPr/>
            </a:pPr>
            <a:r>
              <a:rPr lang="en-US" sz="2000" dirty="0" smtClean="0"/>
              <a:t> </a:t>
            </a:r>
            <a:r>
              <a:rPr lang="en-US" sz="2000" dirty="0"/>
              <a:t>	ELSE </a:t>
            </a:r>
          </a:p>
          <a:p>
            <a:pPr marL="0" indent="0">
              <a:buFontTx/>
              <a:buNone/>
              <a:defRPr/>
            </a:pPr>
            <a:r>
              <a:rPr lang="en-US" sz="2000" dirty="0" smtClean="0"/>
              <a:t> </a:t>
            </a:r>
            <a:r>
              <a:rPr lang="en-US" sz="2000" dirty="0"/>
              <a:t>  		output the code for P </a:t>
            </a:r>
          </a:p>
          <a:p>
            <a:pPr marL="0" indent="0">
              <a:buFontTx/>
              <a:buNone/>
              <a:defRPr/>
            </a:pPr>
            <a:r>
              <a:rPr lang="en-US" sz="2000" dirty="0" smtClean="0"/>
              <a:t> </a:t>
            </a:r>
            <a:r>
              <a:rPr lang="en-US" sz="2000" dirty="0"/>
              <a:t>	</a:t>
            </a:r>
            <a:r>
              <a:rPr lang="en-US" sz="2000" dirty="0" smtClean="0"/>
              <a:t>	add </a:t>
            </a:r>
            <a:r>
              <a:rPr lang="en-US" sz="2000" dirty="0"/>
              <a:t>P + C to the string table </a:t>
            </a:r>
          </a:p>
          <a:p>
            <a:pPr marL="0" indent="0">
              <a:buFontTx/>
              <a:buNone/>
              <a:defRPr/>
            </a:pPr>
            <a:r>
              <a:rPr lang="en-US" sz="2000" dirty="0" smtClean="0"/>
              <a:t> </a:t>
            </a:r>
            <a:r>
              <a:rPr lang="en-US" sz="2000" dirty="0"/>
              <a:t>	</a:t>
            </a:r>
            <a:r>
              <a:rPr lang="en-US" sz="2000" dirty="0" smtClean="0"/>
              <a:t>	P </a:t>
            </a:r>
            <a:r>
              <a:rPr lang="en-US" sz="2000" dirty="0"/>
              <a:t>= C </a:t>
            </a:r>
          </a:p>
          <a:p>
            <a:pPr marL="0" indent="0">
              <a:buFontTx/>
              <a:buNone/>
              <a:defRPr/>
            </a:pPr>
            <a:r>
              <a:rPr lang="en-US" sz="2000" dirty="0" smtClean="0"/>
              <a:t>END </a:t>
            </a:r>
            <a:r>
              <a:rPr lang="en-US" sz="2000" dirty="0"/>
              <a:t>WHILE </a:t>
            </a:r>
          </a:p>
          <a:p>
            <a:pPr marL="0" indent="0">
              <a:buFontTx/>
              <a:buNone/>
              <a:defRPr/>
            </a:pPr>
            <a:r>
              <a:rPr lang="en-US" sz="2000" dirty="0" smtClean="0"/>
              <a:t>output </a:t>
            </a:r>
            <a:r>
              <a:rPr lang="en-US" sz="2000" dirty="0"/>
              <a:t>code for P </a:t>
            </a:r>
            <a:endParaRPr lang="en-US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The LZW decoding algorithm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76400"/>
            <a:ext cx="7924800" cy="4953000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 smtClean="0"/>
              <a:t>Initialize dictionary with single character strings</a:t>
            </a:r>
          </a:p>
          <a:p>
            <a:pPr marL="0" indent="0">
              <a:buNone/>
            </a:pPr>
            <a:r>
              <a:rPr lang="en-US" sz="1800" dirty="0" smtClean="0"/>
              <a:t>OLD = first input code</a:t>
            </a:r>
          </a:p>
          <a:p>
            <a:pPr marL="0" indent="0">
              <a:buNone/>
            </a:pPr>
            <a:r>
              <a:rPr lang="en-US" sz="1800" dirty="0" smtClean="0"/>
              <a:t>output translation of OLD</a:t>
            </a:r>
          </a:p>
          <a:p>
            <a:pPr marL="0" indent="0">
              <a:buNone/>
            </a:pPr>
            <a:r>
              <a:rPr lang="en-US" sz="1800" dirty="0" smtClean="0"/>
              <a:t>WHILE not end of input stream</a:t>
            </a:r>
          </a:p>
          <a:p>
            <a:pPr marL="0" indent="0">
              <a:buNone/>
            </a:pPr>
            <a:r>
              <a:rPr lang="en-US" sz="1800" dirty="0" smtClean="0"/>
              <a:t>	NEW = next input code</a:t>
            </a:r>
          </a:p>
          <a:p>
            <a:pPr marL="0" indent="0">
              <a:buNone/>
            </a:pPr>
            <a:r>
              <a:rPr lang="en-US" sz="1800" dirty="0" smtClean="0"/>
              <a:t>	IF NEW is not in the string table</a:t>
            </a:r>
          </a:p>
          <a:p>
            <a:pPr marL="0" indent="0">
              <a:buNone/>
            </a:pPr>
            <a:r>
              <a:rPr lang="en-US" sz="1800" dirty="0" smtClean="0"/>
              <a:t>               		S = translation of OLD</a:t>
            </a:r>
          </a:p>
          <a:p>
            <a:pPr marL="0" indent="0">
              <a:buNone/>
            </a:pPr>
            <a:r>
              <a:rPr lang="en-US" sz="1800" dirty="0" smtClean="0"/>
              <a:t>               		S = S + C</a:t>
            </a:r>
          </a:p>
          <a:p>
            <a:pPr marL="0" indent="0">
              <a:buNone/>
            </a:pPr>
            <a:r>
              <a:rPr lang="en-US" sz="1800" dirty="0" smtClean="0"/>
              <a:t>       	ELSE</a:t>
            </a:r>
          </a:p>
          <a:p>
            <a:pPr marL="0" indent="0">
              <a:buNone/>
            </a:pPr>
            <a:r>
              <a:rPr lang="en-US" sz="1800" dirty="0" smtClean="0"/>
              <a:t>               		S = translation of NEW</a:t>
            </a:r>
          </a:p>
          <a:p>
            <a:pPr marL="0" indent="0">
              <a:buNone/>
            </a:pPr>
            <a:r>
              <a:rPr lang="en-US" sz="1800" dirty="0" smtClean="0"/>
              <a:t>       	output S</a:t>
            </a:r>
          </a:p>
          <a:p>
            <a:pPr marL="0" indent="0">
              <a:buNone/>
            </a:pPr>
            <a:r>
              <a:rPr lang="en-US" sz="1800" dirty="0" smtClean="0"/>
              <a:t>       	C = first character of S</a:t>
            </a:r>
          </a:p>
          <a:p>
            <a:pPr marL="0" indent="0">
              <a:buNone/>
            </a:pPr>
            <a:r>
              <a:rPr lang="en-US" sz="1800" dirty="0" smtClean="0"/>
              <a:t>       	OLD + C to the string table</a:t>
            </a:r>
          </a:p>
          <a:p>
            <a:pPr marL="0" indent="0">
              <a:buNone/>
            </a:pPr>
            <a:r>
              <a:rPr lang="en-US" sz="1800" dirty="0" smtClean="0"/>
              <a:t>       	OLD = NEW</a:t>
            </a:r>
          </a:p>
          <a:p>
            <a:pPr marL="0" indent="0">
              <a:buNone/>
            </a:pPr>
            <a:r>
              <a:rPr lang="en-US" sz="1800" dirty="0" smtClean="0"/>
              <a:t>END WHILE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837465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LZW encoding example (1)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Input: </a:t>
            </a:r>
            <a:r>
              <a:rPr lang="en-US" sz="2000" strike="sngStrike" dirty="0" smtClean="0"/>
              <a:t>BA</a:t>
            </a:r>
            <a:r>
              <a:rPr lang="en-US" sz="2000" dirty="0" smtClean="0"/>
              <a:t>BAAB				Output: 66</a:t>
            </a:r>
          </a:p>
          <a:p>
            <a:pPr marL="0" indent="0">
              <a:buNone/>
            </a:pPr>
            <a:r>
              <a:rPr lang="en-US" sz="2000" dirty="0" smtClean="0"/>
              <a:t>P = </a:t>
            </a:r>
            <a:r>
              <a:rPr lang="en-US" sz="2000" strike="sngStrike" dirty="0" smtClean="0"/>
              <a:t>B</a:t>
            </a:r>
            <a:r>
              <a:rPr lang="en-US" sz="2000" dirty="0" smtClean="0"/>
              <a:t> A</a:t>
            </a:r>
          </a:p>
          <a:p>
            <a:pPr marL="0" indent="0">
              <a:buNone/>
            </a:pPr>
            <a:r>
              <a:rPr lang="en-US" sz="2000" dirty="0" smtClean="0"/>
              <a:t>C = A</a:t>
            </a:r>
          </a:p>
          <a:p>
            <a:pPr marL="0" indent="0">
              <a:buNone/>
            </a:pPr>
            <a:r>
              <a:rPr lang="en-US" sz="2000" dirty="0" smtClean="0"/>
              <a:t>				</a:t>
            </a: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Dictionary:</a:t>
            </a:r>
          </a:p>
          <a:p>
            <a:pPr marL="0" indent="0">
              <a:buNone/>
            </a:pPr>
            <a:r>
              <a:rPr lang="en-US" sz="2000" dirty="0" smtClean="0"/>
              <a:t>255 </a:t>
            </a:r>
          </a:p>
          <a:p>
            <a:pPr marL="0" indent="0">
              <a:buNone/>
            </a:pPr>
            <a:r>
              <a:rPr lang="en-US" sz="2000" dirty="0" smtClean="0"/>
              <a:t>256   BA</a:t>
            </a:r>
          </a:p>
          <a:p>
            <a:pPr marL="0" indent="0">
              <a:buNone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691092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LZW encoding example (2)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Input: </a:t>
            </a:r>
            <a:r>
              <a:rPr lang="en-US" sz="2000" strike="sngStrike" dirty="0" smtClean="0"/>
              <a:t>BAB</a:t>
            </a:r>
            <a:r>
              <a:rPr lang="en-US" sz="2000" dirty="0" smtClean="0"/>
              <a:t>AAB				Output: 66, 65</a:t>
            </a:r>
          </a:p>
          <a:p>
            <a:pPr marL="0" indent="0">
              <a:buNone/>
            </a:pPr>
            <a:r>
              <a:rPr lang="en-US" sz="2000" dirty="0" smtClean="0"/>
              <a:t>P = </a:t>
            </a:r>
            <a:r>
              <a:rPr lang="en-US" sz="2000" strike="sngStrike" dirty="0" smtClean="0"/>
              <a:t>A</a:t>
            </a:r>
            <a:r>
              <a:rPr lang="en-US" sz="2000" dirty="0" smtClean="0"/>
              <a:t> B</a:t>
            </a:r>
          </a:p>
          <a:p>
            <a:pPr marL="0" indent="0">
              <a:buNone/>
            </a:pPr>
            <a:r>
              <a:rPr lang="en-US" sz="2000" dirty="0" smtClean="0"/>
              <a:t>C = B</a:t>
            </a:r>
          </a:p>
          <a:p>
            <a:pPr marL="0" indent="0">
              <a:buNone/>
            </a:pPr>
            <a:r>
              <a:rPr lang="en-US" sz="2000" dirty="0" smtClean="0"/>
              <a:t>				</a:t>
            </a: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Dictionary:</a:t>
            </a:r>
          </a:p>
          <a:p>
            <a:pPr marL="0" indent="0">
              <a:buNone/>
            </a:pPr>
            <a:r>
              <a:rPr lang="en-US" sz="2000" dirty="0" smtClean="0"/>
              <a:t>255 </a:t>
            </a:r>
          </a:p>
          <a:p>
            <a:pPr marL="457200" indent="-457200">
              <a:buAutoNum type="arabicPlain" startAt="256"/>
            </a:pPr>
            <a:r>
              <a:rPr lang="en-US" sz="2000" dirty="0" smtClean="0"/>
              <a:t> BA</a:t>
            </a:r>
          </a:p>
          <a:p>
            <a:pPr marL="457200" indent="-457200">
              <a:buAutoNum type="arabicPlain" startAt="256"/>
            </a:pPr>
            <a:r>
              <a:rPr lang="en-US" sz="2000" dirty="0" smtClean="0"/>
              <a:t> AB</a:t>
            </a:r>
          </a:p>
          <a:p>
            <a:pPr marL="0" indent="0">
              <a:buNone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2485778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LZW encoding example (3)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Input: </a:t>
            </a:r>
            <a:r>
              <a:rPr lang="en-US" sz="2000" strike="sngStrike" dirty="0" smtClean="0"/>
              <a:t>BABA</a:t>
            </a:r>
            <a:r>
              <a:rPr lang="en-US" sz="2000" dirty="0" smtClean="0"/>
              <a:t>AB				Output: 66, 65</a:t>
            </a:r>
          </a:p>
          <a:p>
            <a:pPr marL="0" indent="0">
              <a:buNone/>
            </a:pPr>
            <a:r>
              <a:rPr lang="en-US" sz="2000" dirty="0" smtClean="0"/>
              <a:t>P = </a:t>
            </a:r>
            <a:r>
              <a:rPr lang="en-US" sz="2000" strike="sngStrike" dirty="0" smtClean="0"/>
              <a:t>B</a:t>
            </a:r>
            <a:r>
              <a:rPr lang="en-US" sz="2000" dirty="0" smtClean="0"/>
              <a:t> BA</a:t>
            </a:r>
          </a:p>
          <a:p>
            <a:pPr marL="0" indent="0">
              <a:buNone/>
            </a:pPr>
            <a:r>
              <a:rPr lang="en-US" sz="2000" dirty="0" smtClean="0"/>
              <a:t>C = A</a:t>
            </a:r>
          </a:p>
          <a:p>
            <a:pPr marL="0" indent="0">
              <a:buNone/>
            </a:pPr>
            <a:r>
              <a:rPr lang="en-US" sz="2000" dirty="0" smtClean="0"/>
              <a:t>				</a:t>
            </a: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Dictionary:</a:t>
            </a:r>
          </a:p>
          <a:p>
            <a:pPr marL="0" indent="0">
              <a:buNone/>
            </a:pPr>
            <a:r>
              <a:rPr lang="en-US" sz="2000" dirty="0" smtClean="0"/>
              <a:t>255 </a:t>
            </a:r>
          </a:p>
          <a:p>
            <a:pPr marL="457200" indent="-457200">
              <a:buAutoNum type="arabicPlain" startAt="256"/>
            </a:pPr>
            <a:r>
              <a:rPr lang="en-US" sz="2000" dirty="0" smtClean="0"/>
              <a:t> BA</a:t>
            </a:r>
          </a:p>
          <a:p>
            <a:pPr marL="457200" indent="-457200">
              <a:buAutoNum type="arabicPlain" startAt="256"/>
            </a:pPr>
            <a:r>
              <a:rPr lang="en-US" sz="2000" dirty="0" smtClean="0"/>
              <a:t> AB</a:t>
            </a:r>
          </a:p>
          <a:p>
            <a:pPr marL="0" indent="0">
              <a:buNone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2663308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LZW encoding example (4)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Input: </a:t>
            </a:r>
            <a:r>
              <a:rPr lang="en-US" sz="2000" strike="sngStrike" dirty="0" smtClean="0"/>
              <a:t>BABAA</a:t>
            </a:r>
            <a:r>
              <a:rPr lang="en-US" sz="2000" dirty="0" smtClean="0"/>
              <a:t>B				Output: 66, 65,256</a:t>
            </a:r>
          </a:p>
          <a:p>
            <a:pPr marL="0" indent="0">
              <a:buNone/>
            </a:pPr>
            <a:r>
              <a:rPr lang="en-US" sz="2000" dirty="0" smtClean="0"/>
              <a:t>P = </a:t>
            </a:r>
            <a:r>
              <a:rPr lang="en-US" sz="2000" strike="sngStrike" dirty="0" smtClean="0"/>
              <a:t>BA</a:t>
            </a:r>
            <a:r>
              <a:rPr lang="en-US" sz="2000" dirty="0" smtClean="0"/>
              <a:t> A</a:t>
            </a:r>
          </a:p>
          <a:p>
            <a:pPr marL="0" indent="0">
              <a:buNone/>
            </a:pPr>
            <a:r>
              <a:rPr lang="en-US" sz="2000" dirty="0" smtClean="0"/>
              <a:t>C = A</a:t>
            </a:r>
          </a:p>
          <a:p>
            <a:pPr marL="0" indent="0">
              <a:buNone/>
            </a:pPr>
            <a:r>
              <a:rPr lang="en-US" sz="2000" dirty="0" smtClean="0"/>
              <a:t>				</a:t>
            </a: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Dictionary:</a:t>
            </a:r>
          </a:p>
          <a:p>
            <a:pPr marL="0" indent="0">
              <a:buNone/>
            </a:pPr>
            <a:r>
              <a:rPr lang="en-US" sz="2000" dirty="0" smtClean="0"/>
              <a:t>255 </a:t>
            </a:r>
          </a:p>
          <a:p>
            <a:pPr marL="457200" indent="-457200">
              <a:buAutoNum type="arabicPlain" startAt="256"/>
            </a:pPr>
            <a:r>
              <a:rPr lang="en-US" sz="2000" dirty="0" smtClean="0"/>
              <a:t> BA</a:t>
            </a:r>
          </a:p>
          <a:p>
            <a:pPr marL="457200" indent="-457200">
              <a:buAutoNum type="arabicPlain" startAt="256"/>
            </a:pPr>
            <a:r>
              <a:rPr lang="en-US" sz="2000" dirty="0" smtClean="0"/>
              <a:t> AB</a:t>
            </a:r>
          </a:p>
          <a:p>
            <a:pPr marL="457200" indent="-457200">
              <a:buAutoNum type="arabicPlain" startAt="256"/>
            </a:pPr>
            <a:r>
              <a:rPr lang="en-US" sz="2000" dirty="0"/>
              <a:t> </a:t>
            </a:r>
            <a:r>
              <a:rPr lang="en-US" sz="2000" dirty="0" smtClean="0"/>
              <a:t>BAA</a:t>
            </a:r>
          </a:p>
          <a:p>
            <a:pPr marL="0" indent="0">
              <a:buNone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3339402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LZW encoding example (5)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Input: </a:t>
            </a:r>
            <a:r>
              <a:rPr lang="en-US" sz="2000" strike="sngStrike" dirty="0" smtClean="0"/>
              <a:t>BABAAB</a:t>
            </a:r>
            <a:r>
              <a:rPr lang="en-US" sz="2000" dirty="0" smtClean="0"/>
              <a:t>				Output: 66, 65,256</a:t>
            </a:r>
          </a:p>
          <a:p>
            <a:pPr marL="0" indent="0">
              <a:buNone/>
            </a:pPr>
            <a:r>
              <a:rPr lang="en-US" sz="2000" dirty="0" smtClean="0"/>
              <a:t>P = </a:t>
            </a:r>
            <a:r>
              <a:rPr lang="en-US" sz="2000" strike="sngStrike" dirty="0" smtClean="0"/>
              <a:t>A</a:t>
            </a:r>
            <a:r>
              <a:rPr lang="en-US" sz="2000" dirty="0" smtClean="0"/>
              <a:t> AB</a:t>
            </a:r>
          </a:p>
          <a:p>
            <a:pPr marL="0" indent="0">
              <a:buNone/>
            </a:pPr>
            <a:r>
              <a:rPr lang="en-US" sz="2000" dirty="0" smtClean="0"/>
              <a:t>C = B</a:t>
            </a:r>
          </a:p>
          <a:p>
            <a:pPr marL="0" indent="0">
              <a:buNone/>
            </a:pPr>
            <a:r>
              <a:rPr lang="en-US" sz="2000" dirty="0" smtClean="0"/>
              <a:t>				</a:t>
            </a: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Dictionary:</a:t>
            </a:r>
          </a:p>
          <a:p>
            <a:pPr marL="0" indent="0">
              <a:buNone/>
            </a:pPr>
            <a:r>
              <a:rPr lang="en-US" sz="2000" dirty="0" smtClean="0"/>
              <a:t>255 </a:t>
            </a:r>
          </a:p>
          <a:p>
            <a:pPr marL="457200" indent="-457200">
              <a:buAutoNum type="arabicPlain" startAt="256"/>
            </a:pPr>
            <a:r>
              <a:rPr lang="en-US" sz="2000" dirty="0" smtClean="0"/>
              <a:t> BA</a:t>
            </a:r>
          </a:p>
          <a:p>
            <a:pPr marL="457200" indent="-457200">
              <a:buAutoNum type="arabicPlain" startAt="256"/>
            </a:pPr>
            <a:r>
              <a:rPr lang="en-US" sz="2000" dirty="0" smtClean="0"/>
              <a:t> AB</a:t>
            </a:r>
          </a:p>
          <a:p>
            <a:pPr marL="457200" indent="-457200">
              <a:buAutoNum type="arabicPlain" startAt="256"/>
            </a:pPr>
            <a:r>
              <a:rPr lang="en-US" sz="2000" dirty="0"/>
              <a:t> </a:t>
            </a:r>
            <a:r>
              <a:rPr lang="en-US" sz="2000" dirty="0" smtClean="0"/>
              <a:t>BAA</a:t>
            </a:r>
          </a:p>
          <a:p>
            <a:pPr marL="0" indent="0">
              <a:buNone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2143698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LZW encoding example (6)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Input: </a:t>
            </a:r>
            <a:r>
              <a:rPr lang="en-US" sz="2000" strike="sngStrike" dirty="0" smtClean="0"/>
              <a:t>BABAAB</a:t>
            </a:r>
            <a:r>
              <a:rPr lang="en-US" sz="2000" dirty="0" smtClean="0"/>
              <a:t>				Final Output: 66, 65,256,257</a:t>
            </a:r>
          </a:p>
          <a:p>
            <a:pPr marL="0" indent="0">
              <a:buNone/>
            </a:pPr>
            <a:r>
              <a:rPr lang="en-US" sz="2000" dirty="0" smtClean="0"/>
              <a:t>P = AB</a:t>
            </a:r>
          </a:p>
          <a:p>
            <a:pPr marL="0" indent="0">
              <a:buNone/>
            </a:pPr>
            <a:r>
              <a:rPr lang="en-US" sz="2000" dirty="0" smtClean="0"/>
              <a:t>C = </a:t>
            </a:r>
          </a:p>
          <a:p>
            <a:pPr marL="0" indent="0">
              <a:buNone/>
            </a:pPr>
            <a:r>
              <a:rPr lang="en-US" sz="2000" dirty="0" smtClean="0"/>
              <a:t>				</a:t>
            </a: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Dictionary:</a:t>
            </a:r>
          </a:p>
          <a:p>
            <a:pPr marL="0" indent="0">
              <a:buNone/>
            </a:pPr>
            <a:r>
              <a:rPr lang="en-US" sz="2000" dirty="0" smtClean="0"/>
              <a:t>255 </a:t>
            </a:r>
          </a:p>
          <a:p>
            <a:pPr marL="457200" indent="-457200">
              <a:buAutoNum type="arabicPlain" startAt="256"/>
            </a:pPr>
            <a:r>
              <a:rPr lang="en-US" sz="2000" dirty="0" smtClean="0"/>
              <a:t> BA</a:t>
            </a:r>
          </a:p>
          <a:p>
            <a:pPr marL="457200" indent="-457200">
              <a:buAutoNum type="arabicPlain" startAt="256"/>
            </a:pPr>
            <a:r>
              <a:rPr lang="en-US" sz="2000" dirty="0" smtClean="0"/>
              <a:t> AB</a:t>
            </a:r>
          </a:p>
          <a:p>
            <a:pPr marL="457200" indent="-457200">
              <a:buAutoNum type="arabicPlain" startAt="256"/>
            </a:pPr>
            <a:r>
              <a:rPr lang="en-US" sz="2000" dirty="0"/>
              <a:t> </a:t>
            </a:r>
            <a:r>
              <a:rPr lang="en-US" sz="2000" dirty="0" smtClean="0"/>
              <a:t>BAA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3566525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LZW decoding example (1)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Input: </a:t>
            </a:r>
            <a:r>
              <a:rPr lang="en-US" sz="2000" strike="sngStrike" dirty="0" smtClean="0"/>
              <a:t>66, 65</a:t>
            </a:r>
            <a:r>
              <a:rPr lang="en-US" sz="2000" dirty="0" smtClean="0"/>
              <a:t>,256,257 				</a:t>
            </a:r>
            <a:r>
              <a:rPr lang="en-US" sz="2000" dirty="0" err="1" smtClean="0"/>
              <a:t>Output:BA</a:t>
            </a: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Old= </a:t>
            </a:r>
            <a:r>
              <a:rPr lang="en-US" sz="2000" strike="sngStrike" dirty="0" smtClean="0"/>
              <a:t>66</a:t>
            </a:r>
            <a:r>
              <a:rPr lang="en-US" sz="2000" dirty="0" smtClean="0"/>
              <a:t> 65</a:t>
            </a:r>
          </a:p>
          <a:p>
            <a:pPr marL="0" indent="0">
              <a:buNone/>
            </a:pPr>
            <a:r>
              <a:rPr lang="en-US" sz="2000" dirty="0" smtClean="0"/>
              <a:t>New=65</a:t>
            </a:r>
          </a:p>
          <a:p>
            <a:pPr marL="0" indent="0">
              <a:buNone/>
            </a:pPr>
            <a:r>
              <a:rPr lang="en-US" sz="2000" dirty="0" smtClean="0"/>
              <a:t>S=A				</a:t>
            </a:r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C=A</a:t>
            </a:r>
          </a:p>
          <a:p>
            <a:pPr marL="0" indent="0">
              <a:buNone/>
            </a:pPr>
            <a:r>
              <a:rPr lang="en-US" sz="2000" dirty="0" smtClean="0"/>
              <a:t>Dictionary:</a:t>
            </a:r>
          </a:p>
          <a:p>
            <a:pPr marL="0" indent="0">
              <a:buNone/>
            </a:pPr>
            <a:r>
              <a:rPr lang="en-US" sz="2000" dirty="0" smtClean="0"/>
              <a:t>255 </a:t>
            </a:r>
          </a:p>
          <a:p>
            <a:pPr marL="0" indent="0">
              <a:buNone/>
            </a:pPr>
            <a:r>
              <a:rPr lang="en-US" sz="2000" dirty="0" smtClean="0"/>
              <a:t>256  BA</a:t>
            </a:r>
          </a:p>
          <a:p>
            <a:pPr marL="0" indent="0">
              <a:buNone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2625649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LZW decoding example (2)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Input: </a:t>
            </a:r>
            <a:r>
              <a:rPr lang="en-US" sz="2000" strike="sngStrike" dirty="0" smtClean="0"/>
              <a:t>66, 65,256</a:t>
            </a:r>
            <a:r>
              <a:rPr lang="en-US" sz="2000" dirty="0" smtClean="0"/>
              <a:t>,257 				</a:t>
            </a:r>
            <a:r>
              <a:rPr lang="en-US" sz="2000" dirty="0" err="1" smtClean="0"/>
              <a:t>Output:BABA</a:t>
            </a: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Old= </a:t>
            </a:r>
            <a:r>
              <a:rPr lang="en-US" sz="2000" strike="sngStrike" dirty="0" smtClean="0"/>
              <a:t>65</a:t>
            </a:r>
            <a:r>
              <a:rPr lang="en-US" sz="2000" dirty="0" smtClean="0"/>
              <a:t> 256</a:t>
            </a:r>
          </a:p>
          <a:p>
            <a:pPr marL="0" indent="0">
              <a:buNone/>
            </a:pPr>
            <a:r>
              <a:rPr lang="en-US" sz="2000" dirty="0" smtClean="0"/>
              <a:t>New=256</a:t>
            </a:r>
          </a:p>
          <a:p>
            <a:pPr marL="0" indent="0">
              <a:buNone/>
            </a:pPr>
            <a:r>
              <a:rPr lang="en-US" sz="2000" dirty="0" smtClean="0"/>
              <a:t>S=BA				</a:t>
            </a:r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C=B</a:t>
            </a:r>
          </a:p>
          <a:p>
            <a:pPr marL="0" indent="0">
              <a:buNone/>
            </a:pPr>
            <a:r>
              <a:rPr lang="en-US" sz="2000" dirty="0" smtClean="0"/>
              <a:t>Dictionary:</a:t>
            </a:r>
          </a:p>
          <a:p>
            <a:pPr marL="0" indent="0">
              <a:buNone/>
            </a:pPr>
            <a:r>
              <a:rPr lang="en-US" sz="2000" dirty="0" smtClean="0"/>
              <a:t>255 </a:t>
            </a:r>
          </a:p>
          <a:p>
            <a:pPr marL="457200" indent="-457200">
              <a:buAutoNum type="arabicPlain" startAt="256"/>
            </a:pPr>
            <a:r>
              <a:rPr lang="en-US" sz="2000" dirty="0" smtClean="0"/>
              <a:t> BA</a:t>
            </a:r>
          </a:p>
          <a:p>
            <a:pPr marL="457200" indent="-457200">
              <a:buAutoNum type="arabicPlain" startAt="256"/>
            </a:pPr>
            <a:r>
              <a:rPr lang="en-US" sz="2000" dirty="0"/>
              <a:t> </a:t>
            </a:r>
            <a:r>
              <a:rPr lang="en-US" sz="2000" dirty="0" smtClean="0"/>
              <a:t>AB</a:t>
            </a:r>
          </a:p>
          <a:p>
            <a:pPr marL="0" indent="0">
              <a:buNone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1146095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LZW decoding example (3)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Input: </a:t>
            </a:r>
            <a:r>
              <a:rPr lang="en-US" sz="2000" strike="sngStrike" dirty="0" smtClean="0"/>
              <a:t>66, 65,256,257</a:t>
            </a:r>
            <a:r>
              <a:rPr lang="en-US" sz="2000" dirty="0" smtClean="0"/>
              <a:t> 			</a:t>
            </a:r>
            <a:r>
              <a:rPr lang="en-US" sz="2000" dirty="0"/>
              <a:t> </a:t>
            </a:r>
            <a:r>
              <a:rPr lang="en-US" sz="2000" dirty="0" smtClean="0"/>
              <a:t>   Final </a:t>
            </a:r>
            <a:r>
              <a:rPr lang="en-US" sz="2000" dirty="0" err="1" smtClean="0"/>
              <a:t>Output:BABAAB</a:t>
            </a: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Old= </a:t>
            </a:r>
            <a:r>
              <a:rPr lang="en-US" sz="2000" strike="sngStrike" dirty="0" smtClean="0"/>
              <a:t>256</a:t>
            </a:r>
            <a:r>
              <a:rPr lang="en-US" sz="2000" dirty="0" smtClean="0"/>
              <a:t> 257</a:t>
            </a:r>
          </a:p>
          <a:p>
            <a:pPr marL="0" indent="0">
              <a:buNone/>
            </a:pPr>
            <a:r>
              <a:rPr lang="en-US" sz="2000" dirty="0" smtClean="0"/>
              <a:t>New=257</a:t>
            </a:r>
          </a:p>
          <a:p>
            <a:pPr marL="0" indent="0">
              <a:buNone/>
            </a:pPr>
            <a:r>
              <a:rPr lang="en-US" sz="2000" dirty="0" smtClean="0"/>
              <a:t>S=AB				</a:t>
            </a:r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C=A</a:t>
            </a:r>
          </a:p>
          <a:p>
            <a:pPr marL="0" indent="0">
              <a:buNone/>
            </a:pPr>
            <a:r>
              <a:rPr lang="en-US" sz="2000" dirty="0" smtClean="0"/>
              <a:t>Dictionary:</a:t>
            </a:r>
          </a:p>
          <a:p>
            <a:pPr marL="0" indent="0">
              <a:buNone/>
            </a:pPr>
            <a:r>
              <a:rPr lang="en-US" sz="2000" dirty="0" smtClean="0"/>
              <a:t>255 </a:t>
            </a:r>
          </a:p>
          <a:p>
            <a:pPr marL="457200" indent="-457200">
              <a:buAutoNum type="arabicPlain" startAt="256"/>
            </a:pPr>
            <a:r>
              <a:rPr lang="en-US" sz="2000" dirty="0" smtClean="0"/>
              <a:t> BA</a:t>
            </a:r>
          </a:p>
          <a:p>
            <a:pPr marL="457200" indent="-457200">
              <a:buAutoNum type="arabicPlain" startAt="256"/>
            </a:pPr>
            <a:r>
              <a:rPr lang="en-US" sz="2000" dirty="0"/>
              <a:t> </a:t>
            </a:r>
            <a:r>
              <a:rPr lang="en-US" sz="2000" dirty="0" smtClean="0"/>
              <a:t>AB</a:t>
            </a:r>
          </a:p>
          <a:p>
            <a:pPr marL="457200" indent="-457200">
              <a:buAutoNum type="arabicPlain" startAt="256"/>
            </a:pPr>
            <a:r>
              <a:rPr lang="en-US" sz="2000" dirty="0"/>
              <a:t> </a:t>
            </a:r>
            <a:r>
              <a:rPr lang="en-US" sz="2000" dirty="0" smtClean="0"/>
              <a:t>BAA</a:t>
            </a:r>
          </a:p>
          <a:p>
            <a:pPr marL="0" indent="0">
              <a:buNone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1498800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solidFill>
                  <a:srgbClr val="FF0000"/>
                </a:solidFill>
              </a:rPr>
              <a:t>The channel encoder (Modulator)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990600" y="2057400"/>
            <a:ext cx="7391400" cy="15696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Has as input a binary sequence produced by the source encoder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Produces a waveform signal suitable for being transmitted over a (wireless) channel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 smtClean="0"/>
              <a:t>Channel capacity</a:t>
            </a:r>
          </a:p>
        </p:txBody>
      </p:sp>
      <p:graphicFrame>
        <p:nvGraphicFramePr>
          <p:cNvPr id="17411" name="Object 4"/>
          <p:cNvGraphicFramePr>
            <a:graphicFrameLocks noChangeAspect="1"/>
          </p:cNvGraphicFramePr>
          <p:nvPr/>
        </p:nvGraphicFramePr>
        <p:xfrm>
          <a:off x="762000" y="1676400"/>
          <a:ext cx="7429500" cy="485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11" name="Bitmap Image" r:id="rId3" imgW="9066667" imgH="5923810" progId="Paint.Picture">
                  <p:embed/>
                </p:oleObj>
              </mc:Choice>
              <mc:Fallback>
                <p:oleObj name="Bitmap Image" r:id="rId3" imgW="9066667" imgH="5923810" progId="Paint.Pictur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1676400"/>
                        <a:ext cx="7429500" cy="4854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 smtClean="0"/>
              <a:t>Reasons for choosing encoding techniques</a:t>
            </a:r>
          </a:p>
        </p:txBody>
      </p:sp>
      <p:graphicFrame>
        <p:nvGraphicFramePr>
          <p:cNvPr id="18435" name="Object 3"/>
          <p:cNvGraphicFramePr>
            <a:graphicFrameLocks noChangeAspect="1"/>
          </p:cNvGraphicFramePr>
          <p:nvPr/>
        </p:nvGraphicFramePr>
        <p:xfrm>
          <a:off x="1219200" y="2133600"/>
          <a:ext cx="6096000" cy="3757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35" name="Bitmap Image" r:id="rId3" imgW="9364382" imgH="5772956" progId="Paint.Picture">
                  <p:embed/>
                </p:oleObj>
              </mc:Choice>
              <mc:Fallback>
                <p:oleObj name="Bitmap Image" r:id="rId3" imgW="9364382" imgH="5772956" progId="Paint.Picture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2133600"/>
                        <a:ext cx="6096000" cy="3757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 smtClean="0"/>
              <a:t>What is modulation ?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1219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smtClean="0"/>
              <a:t>Modulation = Adding information to a carrier signal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smtClean="0"/>
              <a:t>The sine wave on which the characteristics of the information signal are modulated is called a carrier signal</a:t>
            </a:r>
          </a:p>
        </p:txBody>
      </p:sp>
      <p:graphicFrame>
        <p:nvGraphicFramePr>
          <p:cNvPr id="19460" name="Object 4"/>
          <p:cNvGraphicFramePr>
            <a:graphicFrameLocks noChangeAspect="1"/>
          </p:cNvGraphicFramePr>
          <p:nvPr/>
        </p:nvGraphicFramePr>
        <p:xfrm>
          <a:off x="1828800" y="3124200"/>
          <a:ext cx="5972175" cy="354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60" name="Bitmap Image" r:id="rId3" imgW="5971429" imgH="3543795" progId="Paint.Picture">
                  <p:embed/>
                </p:oleObj>
              </mc:Choice>
              <mc:Fallback>
                <p:oleObj name="Bitmap Image" r:id="rId3" imgW="5971429" imgH="3543795" progId="Paint.Pictur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3124200"/>
                        <a:ext cx="5972175" cy="354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 smtClean="0"/>
              <a:t>Analog modulation</a:t>
            </a:r>
          </a:p>
        </p:txBody>
      </p:sp>
      <p:pic>
        <p:nvPicPr>
          <p:cNvPr id="20483" name="Picture 4" descr="D:\Forest\didactic\2009-2010\Retele dinamice\AMFM-modulation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2209800"/>
            <a:ext cx="4495800" cy="3513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Simple digital modulation and </a:t>
            </a:r>
            <a:r>
              <a:rPr lang="en-US" altLang="en-US" b="1" dirty="0" smtClean="0">
                <a:solidFill>
                  <a:schemeClr val="accent1">
                    <a:lumMod val="75000"/>
                  </a:schemeClr>
                </a:solidFill>
              </a:rPr>
              <a:t>demodulation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6822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 dirty="0" smtClean="0"/>
              <a:t>Simple digital modulation and demodulation schemes</a:t>
            </a:r>
          </a:p>
        </p:txBody>
      </p:sp>
      <p:graphicFrame>
        <p:nvGraphicFramePr>
          <p:cNvPr id="21507" name="Object 3"/>
          <p:cNvGraphicFramePr>
            <a:graphicFrameLocks noChangeAspect="1"/>
          </p:cNvGraphicFramePr>
          <p:nvPr/>
        </p:nvGraphicFramePr>
        <p:xfrm>
          <a:off x="1524000" y="2438400"/>
          <a:ext cx="6096000" cy="330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07" name="Bitmap Image" r:id="rId3" imgW="9266667" imgH="5028571" progId="Paint.Picture">
                  <p:embed/>
                </p:oleObj>
              </mc:Choice>
              <mc:Fallback>
                <p:oleObj name="Bitmap Image" r:id="rId3" imgW="9266667" imgH="5028571" progId="Paint.Picture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2438400"/>
                        <a:ext cx="6096000" cy="3308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 smtClean="0"/>
              <a:t>Signal characteristics that can be modified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>
              <a:buFontTx/>
              <a:buNone/>
            </a:pPr>
            <a:r>
              <a:rPr lang="en-US" altLang="en-US" sz="2400" dirty="0" smtClean="0"/>
              <a:t>signal x(t) = A cos(2</a:t>
            </a:r>
            <a:r>
              <a:rPr lang="en-US" altLang="en-US" sz="2400" dirty="0" smtClean="0">
                <a:cs typeface="Times New Roman" pitchFamily="18" charset="0"/>
              </a:rPr>
              <a:t>π</a:t>
            </a:r>
            <a:r>
              <a:rPr lang="en-US" altLang="en-US" sz="2400" dirty="0" err="1" smtClean="0">
                <a:cs typeface="Times New Roman" pitchFamily="18" charset="0"/>
              </a:rPr>
              <a:t>ft</a:t>
            </a:r>
            <a:r>
              <a:rPr lang="en-US" altLang="en-US" sz="2400" dirty="0" smtClean="0">
                <a:cs typeface="Times New Roman" pitchFamily="18" charset="0"/>
              </a:rPr>
              <a:t> + Φ)</a:t>
            </a:r>
            <a:endParaRPr lang="en-US" altLang="en-US" sz="2400" dirty="0" smtClean="0"/>
          </a:p>
          <a:p>
            <a:pPr lvl="1" eaLnBrk="1" hangingPunct="1">
              <a:buFontTx/>
              <a:buChar char="•"/>
            </a:pPr>
            <a:r>
              <a:rPr lang="en-US" altLang="en-US" sz="2400" dirty="0" smtClean="0"/>
              <a:t>A – amplitude</a:t>
            </a:r>
          </a:p>
          <a:p>
            <a:pPr lvl="1" eaLnBrk="1" hangingPunct="1">
              <a:buFontTx/>
              <a:buChar char="•"/>
            </a:pPr>
            <a:r>
              <a:rPr lang="en-US" altLang="en-US" sz="2400" dirty="0" smtClean="0"/>
              <a:t>f – frequency</a:t>
            </a:r>
          </a:p>
          <a:p>
            <a:pPr lvl="1" eaLnBrk="1" hangingPunct="1">
              <a:buFontTx/>
              <a:buChar char="•"/>
            </a:pPr>
            <a:r>
              <a:rPr lang="en-US" altLang="en-US" sz="2400" dirty="0" smtClean="0">
                <a:cs typeface="Times New Roman" pitchFamily="18" charset="0"/>
              </a:rPr>
              <a:t>Φ – phase (initial angle of the sinusoidal function at its origin)</a:t>
            </a:r>
            <a:endParaRPr lang="en-US" altLang="en-US" sz="2400" dirty="0">
              <a:cs typeface="Times New Roman" pitchFamily="18" charset="0"/>
            </a:endParaRPr>
          </a:p>
          <a:p>
            <a:pPr marL="457200" lvl="1" indent="0" eaLnBrk="1" hangingPunct="1">
              <a:buNone/>
            </a:pPr>
            <a:endParaRPr lang="en-US" altLang="en-US" sz="2400" dirty="0" smtClean="0"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 smtClean="0"/>
              <a:t>Modulation</a:t>
            </a:r>
          </a:p>
        </p:txBody>
      </p:sp>
      <p:graphicFrame>
        <p:nvGraphicFramePr>
          <p:cNvPr id="23555" name="Object 3"/>
          <p:cNvGraphicFramePr>
            <a:graphicFrameLocks noChangeAspect="1"/>
          </p:cNvGraphicFramePr>
          <p:nvPr/>
        </p:nvGraphicFramePr>
        <p:xfrm>
          <a:off x="914400" y="2057400"/>
          <a:ext cx="6689725" cy="417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55" name="Bitmap Image" r:id="rId3" imgW="8961905" imgH="5590476" progId="Paint.Picture">
                  <p:embed/>
                </p:oleObj>
              </mc:Choice>
              <mc:Fallback>
                <p:oleObj name="Bitmap Image" r:id="rId3" imgW="8961905" imgH="5590476" progId="Paint.Picture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057400"/>
                        <a:ext cx="6689725" cy="4173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 smtClean="0"/>
              <a:t>Modulation (1)</a:t>
            </a:r>
          </a:p>
        </p:txBody>
      </p:sp>
      <p:graphicFrame>
        <p:nvGraphicFramePr>
          <p:cNvPr id="24579" name="Object 3"/>
          <p:cNvGraphicFramePr>
            <a:graphicFrameLocks noChangeAspect="1"/>
          </p:cNvGraphicFramePr>
          <p:nvPr/>
        </p:nvGraphicFramePr>
        <p:xfrm>
          <a:off x="1066800" y="1752600"/>
          <a:ext cx="7105650" cy="434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79" name="Bitmap Image" r:id="rId3" imgW="8573697" imgH="5238095" progId="Paint.Picture">
                  <p:embed/>
                </p:oleObj>
              </mc:Choice>
              <mc:Fallback>
                <p:oleObj name="Bitmap Image" r:id="rId3" imgW="8573697" imgH="5238095" progId="Paint.Picture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1752600"/>
                        <a:ext cx="7105650" cy="434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 dirty="0" smtClean="0"/>
              <a:t>Simple digital modulation techniques</a:t>
            </a:r>
          </a:p>
        </p:txBody>
      </p:sp>
      <p:graphicFrame>
        <p:nvGraphicFramePr>
          <p:cNvPr id="25603" name="Object 3"/>
          <p:cNvGraphicFramePr>
            <a:graphicFrameLocks noChangeAspect="1"/>
          </p:cNvGraphicFramePr>
          <p:nvPr/>
        </p:nvGraphicFramePr>
        <p:xfrm>
          <a:off x="1219200" y="1828800"/>
          <a:ext cx="6642100" cy="461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03" name="Bitmap Image" r:id="rId3" imgW="8714286" imgH="6058746" progId="Paint.Picture">
                  <p:embed/>
                </p:oleObj>
              </mc:Choice>
              <mc:Fallback>
                <p:oleObj name="Bitmap Image" r:id="rId3" imgW="8714286" imgH="6058746" progId="Paint.Picture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1828800"/>
                        <a:ext cx="6642100" cy="461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Simple digital modulation techniques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In the following slides we briefly present binary ASK</a:t>
            </a:r>
            <a:r>
              <a:rPr lang="en-US" sz="2400" dirty="0"/>
              <a:t>/</a:t>
            </a:r>
            <a:r>
              <a:rPr lang="en-US" sz="2400" dirty="0" smtClean="0"/>
              <a:t> FSK/ PSK which are binary digital modulation schemes that encode each bit (0 or 1) into a separate waveform which is transmitted for a finite time interval </a:t>
            </a:r>
            <a:r>
              <a:rPr lang="en-US" sz="2400" i="1" dirty="0" smtClean="0"/>
              <a:t>T</a:t>
            </a:r>
            <a:r>
              <a:rPr lang="en-US" sz="2400" dirty="0" smtClean="0"/>
              <a:t> (i.e. the symbol duration interval)</a:t>
            </a:r>
          </a:p>
          <a:p>
            <a:r>
              <a:rPr lang="en-US" sz="2400" dirty="0" smtClean="0"/>
              <a:t>However these are rather inefficient, usually a block of </a:t>
            </a:r>
            <a:r>
              <a:rPr lang="en-US" sz="2400" i="1" dirty="0" smtClean="0"/>
              <a:t>b</a:t>
            </a:r>
            <a:r>
              <a:rPr lang="en-US" sz="2400" dirty="0" smtClean="0"/>
              <a:t> consecutive bits is mapped onto a symbol (also called a </a:t>
            </a:r>
            <a:r>
              <a:rPr lang="en-US" sz="2400" i="1" dirty="0" smtClean="0"/>
              <a:t>signal</a:t>
            </a:r>
            <a:r>
              <a:rPr lang="en-US" sz="2400" dirty="0" smtClean="0"/>
              <a:t>), all symbols generated are then transformed into a real waveform function which is then shifted up to the passband frequency band and transmitted (to be discussed in the complex modulation techniques slides following)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45339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 dirty="0" smtClean="0"/>
              <a:t>Binary ASK (Amplitude Shift Keying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752600"/>
            <a:ext cx="7620000" cy="1371600"/>
          </a:xfrm>
        </p:spPr>
        <p:txBody>
          <a:bodyPr/>
          <a:lstStyle/>
          <a:p>
            <a:pPr eaLnBrk="1" hangingPunct="1"/>
            <a:r>
              <a:rPr lang="en-US" altLang="en-US" sz="2400" dirty="0" smtClean="0"/>
              <a:t>ASK On-off keying (Amplitude Shift Keying) – frequency is kept constant, amplitude has 2 levels (for bit 1 and for bit 0)</a:t>
            </a:r>
          </a:p>
        </p:txBody>
      </p:sp>
      <p:graphicFrame>
        <p:nvGraphicFramePr>
          <p:cNvPr id="26628" name="Object 4"/>
          <p:cNvGraphicFramePr>
            <a:graphicFrameLocks noChangeAspect="1"/>
          </p:cNvGraphicFramePr>
          <p:nvPr/>
        </p:nvGraphicFramePr>
        <p:xfrm>
          <a:off x="2590800" y="3124200"/>
          <a:ext cx="3352800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32" name="Bitmap Image" r:id="rId3" imgW="8133333" imgH="3019048" progId="PBrush">
                  <p:embed/>
                </p:oleObj>
              </mc:Choice>
              <mc:Fallback>
                <p:oleObj name="Bitmap Image" r:id="rId3" imgW="8133333" imgH="3019048" progId="PBrush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3124200"/>
                        <a:ext cx="3352800" cy="124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2057400" y="6248400"/>
            <a:ext cx="441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dirty="0"/>
              <a:t>The binary sequence 0010110010</a:t>
            </a:r>
          </a:p>
        </p:txBody>
      </p:sp>
      <p:graphicFrame>
        <p:nvGraphicFramePr>
          <p:cNvPr id="2663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1561229"/>
              </p:ext>
            </p:extLst>
          </p:nvPr>
        </p:nvGraphicFramePr>
        <p:xfrm>
          <a:off x="2286000" y="4419600"/>
          <a:ext cx="3505200" cy="179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33" name="Bitmap Image" r:id="rId5" imgW="7380952" imgH="3772427" progId="Paint.Picture">
                  <p:embed/>
                </p:oleObj>
              </mc:Choice>
              <mc:Fallback>
                <p:oleObj name="Bitmap Image" r:id="rId5" imgW="7380952" imgH="3772427" progId="Paint.Picture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4419600"/>
                        <a:ext cx="3505200" cy="179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 dirty="0" smtClean="0"/>
              <a:t>Binary FSK (Frequency shift keyring)</a:t>
            </a:r>
          </a:p>
        </p:txBody>
      </p:sp>
      <p:graphicFrame>
        <p:nvGraphicFramePr>
          <p:cNvPr id="2765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4242956"/>
              </p:ext>
            </p:extLst>
          </p:nvPr>
        </p:nvGraphicFramePr>
        <p:xfrm>
          <a:off x="885825" y="1943100"/>
          <a:ext cx="4067175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55" name="Bitmap Image" r:id="rId3" imgW="4067280" imgH="952560" progId="Paint.Picture">
                  <p:embed/>
                </p:oleObj>
              </mc:Choice>
              <mc:Fallback>
                <p:oleObj name="Bitmap Image" r:id="rId3" imgW="4067280" imgH="952560" progId="Paint.Pictur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5825" y="1943100"/>
                        <a:ext cx="4067175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4015126"/>
              </p:ext>
            </p:extLst>
          </p:nvPr>
        </p:nvGraphicFramePr>
        <p:xfrm>
          <a:off x="838200" y="3581400"/>
          <a:ext cx="7570788" cy="316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56" name="Bitmap Image" r:id="rId5" imgW="7571429" imgH="3161905" progId="Paint.Picture">
                  <p:embed/>
                </p:oleObj>
              </mc:Choice>
              <mc:Fallback>
                <p:oleObj name="Bitmap Image" r:id="rId5" imgW="7571429" imgH="3161905" progId="Paint.Picture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3581400"/>
                        <a:ext cx="7570788" cy="316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838200" y="2819400"/>
            <a:ext cx="7315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Instead of sin() functions, cos() functions can be used in the above formula.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 dirty="0" smtClean="0"/>
              <a:t>Binary PSK (Phase shift keyring)</a:t>
            </a:r>
          </a:p>
        </p:txBody>
      </p:sp>
      <p:graphicFrame>
        <p:nvGraphicFramePr>
          <p:cNvPr id="2867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8359399"/>
              </p:ext>
            </p:extLst>
          </p:nvPr>
        </p:nvGraphicFramePr>
        <p:xfrm>
          <a:off x="1143000" y="1828800"/>
          <a:ext cx="6400800" cy="362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75" name="Bitmap Image" r:id="rId3" imgW="7354327" imgH="4161905" progId="Paint.Picture">
                  <p:embed/>
                </p:oleObj>
              </mc:Choice>
              <mc:Fallback>
                <p:oleObj name="Bitmap Image" r:id="rId3" imgW="7354327" imgH="4161905" progId="Paint.Pictur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1828800"/>
                        <a:ext cx="6400800" cy="3622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90600" y="5867400"/>
            <a:ext cx="7315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Instead of sin() functions, cos() functions can be used in the above formula.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Complex digital modulation and demodulation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2234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Complex digital modulation and demodulation</a:t>
            </a:r>
          </a:p>
        </p:txBody>
      </p:sp>
      <p:pic>
        <p:nvPicPr>
          <p:cNvPr id="2970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209800"/>
            <a:ext cx="8162925" cy="319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 dirty="0" smtClean="0"/>
              <a:t>Complex digital modulation (simplified)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8153400" cy="464820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sz="2400" dirty="0" smtClean="0"/>
              <a:t>1) The binary input (from the source encoder) is converted to </a:t>
            </a:r>
            <a:r>
              <a:rPr lang="en-US" altLang="en-US" sz="2400" u="sng" dirty="0" smtClean="0"/>
              <a:t>signals</a:t>
            </a:r>
            <a:r>
              <a:rPr lang="en-US" altLang="en-US" sz="2400" dirty="0" smtClean="0"/>
              <a:t> (i.e. vectors of real/complex numbers)</a:t>
            </a:r>
          </a:p>
          <a:p>
            <a:pPr marL="0" indent="0" eaLnBrk="1" hangingPunct="1">
              <a:buNone/>
            </a:pPr>
            <a:r>
              <a:rPr lang="en-US" altLang="en-US" sz="2400" dirty="0" smtClean="0"/>
              <a:t>2) The signals are transformed/expanded into a waveform – </a:t>
            </a:r>
            <a:r>
              <a:rPr lang="en-US" altLang="en-US" sz="2400" u="sng" dirty="0" smtClean="0"/>
              <a:t>continuous function of time</a:t>
            </a:r>
            <a:r>
              <a:rPr lang="en-US" altLang="en-US" sz="2400" dirty="0" smtClean="0"/>
              <a:t> (this waveform is computed using an orthonormal/orthogonal expansion, e.g. using values from the signals vector as coefficients of </a:t>
            </a:r>
            <a:r>
              <a:rPr lang="en-US" altLang="en-US" sz="2400" dirty="0"/>
              <a:t>a</a:t>
            </a:r>
            <a:r>
              <a:rPr lang="en-US" altLang="en-US" sz="2400" dirty="0" smtClean="0"/>
              <a:t> Fourier Series waveform (computed using the Discrete Fourier Transform)) </a:t>
            </a:r>
          </a:p>
          <a:p>
            <a:pPr marL="0" indent="0" eaLnBrk="1" hangingPunct="1">
              <a:buNone/>
            </a:pPr>
            <a:r>
              <a:rPr lang="en-US" altLang="en-US" sz="2400" dirty="0" smtClean="0"/>
              <a:t>3) The resulted baseband waveform (i.e. centered around zero frequency) is then transformed into a passband waveform (i.e. a waveform centered around a higher frequency due to national and international regulations) – </a:t>
            </a:r>
            <a:r>
              <a:rPr lang="en-US" altLang="en-US" sz="2400" u="sng" dirty="0" smtClean="0"/>
              <a:t>continuous function of time</a:t>
            </a:r>
            <a:r>
              <a:rPr lang="en-US" altLang="en-US" sz="2400" dirty="0" smtClean="0"/>
              <a:t> .</a:t>
            </a:r>
          </a:p>
          <a:p>
            <a:pPr eaLnBrk="1" hangingPunct="1"/>
            <a:endParaRPr lang="en-US" alt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Step 1. Bits to signal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981200"/>
            <a:ext cx="8610600" cy="4876800"/>
          </a:xfrm>
        </p:spPr>
        <p:txBody>
          <a:bodyPr/>
          <a:lstStyle/>
          <a:p>
            <a:pPr marL="457200" indent="-457200">
              <a:buAutoNum type="arabicParenR"/>
            </a:pPr>
            <a:r>
              <a:rPr lang="en-US" sz="2400" dirty="0"/>
              <a:t>Incoming bits are segmented into b-bit blocks</a:t>
            </a:r>
          </a:p>
          <a:p>
            <a:pPr marL="457200" indent="-457200">
              <a:buAutoNum type="arabicParenR"/>
            </a:pPr>
            <a:r>
              <a:rPr lang="en-US" sz="2400" dirty="0"/>
              <a:t>b-bit blocks are mapped to a </a:t>
            </a:r>
            <a:r>
              <a:rPr lang="en-US" sz="2400" u="sng" dirty="0"/>
              <a:t>signal constellation </a:t>
            </a:r>
            <a:r>
              <a:rPr lang="en-US" sz="2400" dirty="0"/>
              <a:t>A = {a</a:t>
            </a:r>
            <a:r>
              <a:rPr lang="en-US" sz="2400" baseline="-25000" dirty="0"/>
              <a:t>1</a:t>
            </a:r>
            <a:r>
              <a:rPr lang="en-US" sz="2400" dirty="0"/>
              <a:t>, a</a:t>
            </a:r>
            <a:r>
              <a:rPr lang="en-US" sz="2400" baseline="-25000" dirty="0"/>
              <a:t>2</a:t>
            </a:r>
            <a:r>
              <a:rPr lang="en-US" sz="2400" dirty="0"/>
              <a:t>, … </a:t>
            </a:r>
            <a:r>
              <a:rPr lang="en-US" sz="2400" dirty="0" err="1"/>
              <a:t>a</a:t>
            </a:r>
            <a:r>
              <a:rPr lang="en-US" sz="2400" baseline="-25000" dirty="0" err="1"/>
              <a:t>M</a:t>
            </a:r>
            <a:r>
              <a:rPr lang="en-US" sz="2400" dirty="0"/>
              <a:t>} where M=2</a:t>
            </a:r>
            <a:r>
              <a:rPr lang="en-US" sz="2400" baseline="30000" dirty="0"/>
              <a:t>b</a:t>
            </a:r>
            <a:r>
              <a:rPr lang="en-US" sz="2400" dirty="0"/>
              <a:t> possible blocks; each value of the signal constellation is called a </a:t>
            </a:r>
            <a:r>
              <a:rPr lang="en-US" sz="2400" u="sng" dirty="0"/>
              <a:t>signal</a:t>
            </a:r>
            <a:r>
              <a:rPr lang="en-US" sz="2400" dirty="0"/>
              <a:t>(it is just a real/complex number</a:t>
            </a:r>
            <a:r>
              <a:rPr lang="en-US" sz="2400" dirty="0" smtClean="0"/>
              <a:t>)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 smtClean="0"/>
              <a:t>Ex. of 1D signal constellation		Ex. of 2D signal constellation:</a:t>
            </a:r>
            <a:endParaRPr lang="en-US" sz="2400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9698" name="Picture 2" descr="https://encrypted-tbn0.gstatic.com/images?q=tbn:ANd9GcSAPGrnW41wHHK54_BqBgBYgWMgf72GjN0mrQ&amp;usqp=CAU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4770120"/>
            <a:ext cx="4495800" cy="695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700" name="Picture 4" descr="https://upload.wikimedia.org/wikipedia/commons/thumb/1/1e/16QAM_Gray_Coded.svg/200px-16QAM_Gray_Coded.svg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4460541"/>
            <a:ext cx="1905000" cy="2009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https://upload.wikimedia.org/wikipedia/commons/thumb/1/11/8PSK_Gray_Coded.svg/220px-8PSK_Gray_Coded.svg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4343400"/>
            <a:ext cx="2095500" cy="2171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9969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Step 2. Signals to waveform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400" dirty="0"/>
                  <a:t>The obtained sequence of signals u</a:t>
                </a:r>
                <a:r>
                  <a:rPr lang="en-US" sz="2400" baseline="-25000" dirty="0"/>
                  <a:t>1</a:t>
                </a:r>
                <a:r>
                  <a:rPr lang="en-US" sz="2400" dirty="0"/>
                  <a:t>, u</a:t>
                </a:r>
                <a:r>
                  <a:rPr lang="en-US" sz="2400" baseline="-25000" dirty="0"/>
                  <a:t>2</a:t>
                </a:r>
                <a:r>
                  <a:rPr lang="en-US" sz="2400" dirty="0"/>
                  <a:t>, u</a:t>
                </a:r>
                <a:r>
                  <a:rPr lang="en-US" sz="2400" baseline="-25000" dirty="0"/>
                  <a:t>3</a:t>
                </a:r>
                <a:r>
                  <a:rPr lang="en-US" sz="2400" dirty="0"/>
                  <a:t>, … is then mapped to a waveform u(t) (i.e. a continuous time function) </a:t>
                </a:r>
                <a:r>
                  <a:rPr lang="en-US" sz="2400" dirty="0" smtClean="0"/>
                  <a:t>using an orthogonal/orthonormal expansion </a:t>
                </a:r>
                <a:r>
                  <a:rPr lang="en-US" sz="2400" dirty="0"/>
                  <a:t>p(t): </a:t>
                </a:r>
              </a:p>
              <a:p>
                <a:pPr marL="0" indent="0">
                  <a:buNone/>
                </a:pPr>
                <a:r>
                  <a:rPr lang="en-US" sz="2400" dirty="0"/>
                  <a:t>	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𝑢</m:t>
                    </m:r>
                    <m:d>
                      <m:dPr>
                        <m:ctrlPr>
                          <a:rPr lang="en-US" sz="24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en-US" sz="2400" i="1">
                        <a:latin typeface="Cambria Math"/>
                      </a:rPr>
                      <m:t>= </m:t>
                    </m:r>
                    <m:nary>
                      <m:naryPr>
                        <m:chr m:val="∑"/>
                        <m:supHide m:val="on"/>
                        <m:ctrlPr>
                          <a:rPr lang="en-US" sz="2400" i="1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400" i="1">
                            <a:latin typeface="Cambria Math"/>
                          </a:rPr>
                          <m:t>𝑘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4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400" i="1">
                                <a:latin typeface="Cambria Math"/>
                              </a:rPr>
                              <m:t>𝑘</m:t>
                            </m:r>
                          </m:sub>
                        </m:sSub>
                        <m:r>
                          <a:rPr lang="en-US" sz="2400" i="1">
                            <a:latin typeface="Cambria Math"/>
                          </a:rPr>
                          <m:t>𝑝</m:t>
                        </m:r>
                        <m:r>
                          <a:rPr lang="en-US" sz="2400" i="1">
                            <a:latin typeface="Cambria Math"/>
                          </a:rPr>
                          <m:t>(</m:t>
                        </m:r>
                        <m:r>
                          <a:rPr lang="en-US" sz="2400" i="1">
                            <a:latin typeface="Cambria Math"/>
                          </a:rPr>
                          <m:t>𝑡</m:t>
                        </m:r>
                        <m:r>
                          <a:rPr lang="en-US" sz="2400" i="1">
                            <a:latin typeface="Cambria Math"/>
                          </a:rPr>
                          <m:t>−</m:t>
                        </m:r>
                        <m:r>
                          <a:rPr lang="en-US" sz="2400" i="1">
                            <a:latin typeface="Cambria Math"/>
                          </a:rPr>
                          <m:t>𝑘𝑇</m:t>
                        </m:r>
                        <m:r>
                          <a:rPr lang="en-US" sz="2400" i="1">
                            <a:latin typeface="Cambria Math"/>
                          </a:rPr>
                          <m:t>)</m:t>
                        </m:r>
                      </m:e>
                    </m:nary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 </a:t>
                </a:r>
                <a:r>
                  <a:rPr lang="en-US" sz="2400" dirty="0" smtClean="0"/>
                  <a:t>where </a:t>
                </a:r>
                <a:r>
                  <a:rPr lang="en-US" sz="2400" dirty="0"/>
                  <a:t>T is the interval between successive </a:t>
                </a:r>
                <a:r>
                  <a:rPr lang="en-US" sz="2400" dirty="0" smtClean="0"/>
                  <a:t>signals.</a:t>
                </a:r>
                <a:endParaRPr lang="en-US" sz="2400" dirty="0"/>
              </a:p>
              <a:p>
                <a:pPr marL="0" indent="0">
                  <a:buNone/>
                </a:pPr>
                <a:endParaRPr lang="en-US" sz="2400" dirty="0" smtClean="0"/>
              </a:p>
              <a:p>
                <a:pPr marL="0" indent="0">
                  <a:buNone/>
                </a:pPr>
                <a:r>
                  <a:rPr lang="en-US" sz="2400" dirty="0" smtClean="0"/>
                  <a:t>Fourier series are an example of orthonormal/orthogonal expansion and are summarized in the following slides.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255" t="-1185" r="-1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5316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772400" cy="1143000"/>
          </a:xfrm>
        </p:spPr>
        <p:txBody>
          <a:bodyPr/>
          <a:lstStyle/>
          <a:p>
            <a:r>
              <a:rPr lang="en-US" dirty="0" smtClean="0"/>
              <a:t>Fourier Series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85800" y="1143000"/>
                <a:ext cx="8458200" cy="5562600"/>
              </a:xfrm>
            </p:spPr>
            <p:txBody>
              <a:bodyPr/>
              <a:lstStyle/>
              <a:p>
                <a:r>
                  <a:rPr lang="en-US" sz="2400" dirty="0" smtClean="0"/>
                  <a:t>The simplest way of representing a waveform (continuous function of time) as a vector of values (i.e. Fourier coefficients)</a:t>
                </a:r>
              </a:p>
              <a:p>
                <a:r>
                  <a:rPr lang="en-US" sz="2400" dirty="0"/>
                  <a:t>Fourier series represent a real/complex waveform (i.e. </a:t>
                </a:r>
                <a:r>
                  <a:rPr lang="en-US" sz="2400" dirty="0" smtClean="0"/>
                  <a:t>oscillating </a:t>
                </a:r>
                <a:r>
                  <a:rPr lang="en-US" sz="2400" dirty="0"/>
                  <a:t>function of </a:t>
                </a:r>
                <a:r>
                  <a:rPr lang="en-US" sz="2400" dirty="0" smtClean="0"/>
                  <a:t>time) as </a:t>
                </a:r>
                <a:r>
                  <a:rPr lang="en-US" sz="2400" dirty="0"/>
                  <a:t>a weighted sum of sinusoids (sin() and cos() functions). Each weight (i.e. Fourier </a:t>
                </a:r>
                <a:r>
                  <a:rPr lang="en-US" sz="2400" dirty="0" smtClean="0"/>
                  <a:t>coefficient) is </a:t>
                </a:r>
                <a:r>
                  <a:rPr lang="en-US" sz="2400" dirty="0"/>
                  <a:t>determined by the function and the function expression is </a:t>
                </a:r>
                <a:r>
                  <a:rPr lang="en-US" sz="2400" dirty="0" smtClean="0"/>
                  <a:t>determined </a:t>
                </a:r>
                <a:r>
                  <a:rPr lang="en-US" sz="2400" dirty="0"/>
                  <a:t>by the set of </a:t>
                </a:r>
                <a:r>
                  <a:rPr lang="en-US" sz="2400" dirty="0" smtClean="0"/>
                  <a:t>weights (</a:t>
                </a:r>
                <a:r>
                  <a:rPr lang="en-US" sz="2400" u="sng" dirty="0" smtClean="0"/>
                  <a:t>so a continuous math function can be approximated by a computer vector of coefficients</a:t>
                </a:r>
                <a:r>
                  <a:rPr lang="en-US" sz="2400" dirty="0" smtClean="0"/>
                  <a:t>).</a:t>
                </a:r>
              </a:p>
              <a:p>
                <a:r>
                  <a:rPr lang="en-US" sz="2400" dirty="0" smtClean="0"/>
                  <a:t>Let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/>
                      </a:rPr>
                      <m:t>𝑢</m:t>
                    </m:r>
                    <m:d>
                      <m:dPr>
                        <m:ctrlPr>
                          <a:rPr lang="en-US" sz="24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en-US" sz="2400" b="0" i="1" smtClean="0">
                        <a:latin typeface="Cambria Math"/>
                      </a:rPr>
                      <m:t>: </m:t>
                    </m:r>
                    <m:r>
                      <a:rPr lang="en-US" sz="2400" b="0" i="1" smtClean="0">
                        <a:latin typeface="Cambria Math"/>
                      </a:rPr>
                      <m:t>𝕽</m:t>
                    </m:r>
                    <m:r>
                      <a:rPr lang="en-US" sz="2400" b="0" i="1" smtClean="0">
                        <a:latin typeface="Cambria Math"/>
                      </a:rPr>
                      <m:t>→</m:t>
                    </m:r>
                    <m:r>
                      <a:rPr lang="en-US" sz="2400" i="1">
                        <a:latin typeface="Cambria Math"/>
                      </a:rPr>
                      <m:t>𝕽</m:t>
                    </m:r>
                  </m:oMath>
                </a14:m>
                <a:r>
                  <a:rPr lang="en-US" sz="2400" dirty="0" smtClean="0"/>
                  <a:t> a continuous function of time, </a:t>
                </a:r>
                <a:r>
                  <a:rPr lang="en-US" sz="2400" dirty="0" err="1" smtClean="0"/>
                  <a:t>integrable</a:t>
                </a:r>
                <a:r>
                  <a:rPr lang="en-US" sz="2400" dirty="0" smtClean="0"/>
                  <a:t> and periodic on the interval [-T/2, T/2] with period T</a:t>
                </a:r>
              </a:p>
              <a:p>
                <a:r>
                  <a:rPr lang="en-US" sz="2400" dirty="0" smtClean="0"/>
                  <a:t>The Fourier series of function u(t) is: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𝑢</m:t>
                    </m:r>
                    <m:d>
                      <m:dPr>
                        <m:ctrlPr>
                          <a:rPr lang="en-US" sz="20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en-US" sz="2000" b="0" i="1" smtClean="0">
                        <a:latin typeface="Cambria Math"/>
                      </a:rPr>
                      <m:t>= </m:t>
                    </m:r>
                    <m:nary>
                      <m:naryPr>
                        <m:chr m:val="∑"/>
                        <m:ctrlPr>
                          <a:rPr lang="en-US" sz="2000" b="0" i="1" smtClean="0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b="0" i="1" smtClean="0">
                            <a:latin typeface="Cambria Math"/>
                          </a:rPr>
                          <m:t>𝑘</m:t>
                        </m:r>
                        <m:r>
                          <a:rPr lang="en-US" sz="2000" b="0" i="1" smtClean="0">
                            <a:latin typeface="Cambria Math"/>
                          </a:rPr>
                          <m:t>=−∞</m:t>
                        </m:r>
                      </m:sub>
                      <m:sup>
                        <m:r>
                          <a:rPr lang="en-US" sz="2000" b="0" i="1" smtClean="0">
                            <a:latin typeface="Cambria Math"/>
                            <a:ea typeface="Cambria Math"/>
                          </a:rPr>
                          <m:t>∞</m:t>
                        </m:r>
                      </m:sup>
                      <m:e>
                        <m:acc>
                          <m:accPr>
                            <m:chr m:val="̂"/>
                            <m:ctrlPr>
                              <a:rPr lang="en-US" sz="2000" b="0" i="1" smtClean="0">
                                <a:latin typeface="Cambria Math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𝑘</m:t>
                                </m:r>
                              </m:sub>
                            </m:sSub>
                          </m:e>
                        </m:acc>
                        <m:r>
                          <a:rPr lang="en-US" sz="2000" b="0" i="1" smtClean="0">
                            <a:latin typeface="Cambria Math"/>
                          </a:rPr>
                          <m:t> </m:t>
                        </m:r>
                        <m:sSup>
                          <m:sSupPr>
                            <m:ctrlPr>
                              <a:rPr lang="en-US" sz="2000" b="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/>
                              </a:rPr>
                              <m:t>2</m:t>
                            </m:r>
                            <m:r>
                              <a:rPr lang="en-US" sz="2000" b="0" i="1" smtClean="0">
                                <a:latin typeface="Cambria Math"/>
                                <a:ea typeface="Cambria Math"/>
                              </a:rPr>
                              <m:t>𝜋</m:t>
                            </m:r>
                            <m:r>
                              <a:rPr lang="en-US" sz="2000" b="0" i="1" smtClean="0">
                                <a:latin typeface="Cambria Math"/>
                              </a:rPr>
                              <m:t>𝑖𝑘𝑡</m:t>
                            </m:r>
                            <m:r>
                              <a:rPr lang="en-US" sz="2000" b="0" i="1" smtClean="0">
                                <a:latin typeface="Cambria Math"/>
                              </a:rPr>
                              <m:t>/</m:t>
                            </m:r>
                            <m:r>
                              <a:rPr lang="en-US" sz="2000" b="0" i="1" smtClean="0">
                                <a:latin typeface="Cambria Math"/>
                              </a:rPr>
                              <m:t>𝑇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sz="2000" dirty="0" smtClean="0"/>
                  <a:t>  for t in [-T/2,T/2] and u(t)=0 elsewhere     where  the Fourier coefficients are: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𝑘</m:t>
                              </m:r>
                            </m:sub>
                          </m:sSub>
                        </m:e>
                      </m:acc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/>
                            </a:rPr>
                            <m:t>𝑇</m:t>
                          </m:r>
                        </m:den>
                      </m:f>
                      <m:nary>
                        <m:nary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0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𝑇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/2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/>
                            </a:rPr>
                            <m:t>𝑇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/2</m:t>
                          </m:r>
                        </m:sup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𝑢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(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𝑡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)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/>
                                </a:rPr>
                                <m:t>−2</m:t>
                              </m:r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𝜋</m:t>
                              </m:r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𝑖𝑘𝑡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/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sz="2000" b="0" i="1" smtClean="0">
                              <a:latin typeface="Cambria Math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1143000"/>
                <a:ext cx="8458200" cy="5562600"/>
              </a:xfrm>
              <a:blipFill rotWithShape="1">
                <a:blip r:embed="rId2"/>
                <a:stretch>
                  <a:fillRect l="-1009" t="-877" r="-865" b="-2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7329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Fourier Transform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85800" y="1981200"/>
                <a:ext cx="8077200" cy="4724400"/>
              </a:xfrm>
            </p:spPr>
            <p:txBody>
              <a:bodyPr/>
              <a:lstStyle/>
              <a:p>
                <a:r>
                  <a:rPr lang="en-US" sz="2400" dirty="0" smtClean="0"/>
                  <a:t>Fourier transform maps a function of time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𝑢</m:t>
                    </m:r>
                    <m:d>
                      <m:dPr>
                        <m:ctrlPr>
                          <a:rPr lang="en-US" sz="24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en-US" sz="2400" i="1">
                        <a:latin typeface="Cambria Math"/>
                      </a:rPr>
                      <m:t>: </m:t>
                    </m:r>
                    <m:r>
                      <a:rPr lang="en-US" sz="2400" i="1" smtClean="0">
                        <a:latin typeface="Cambria Math"/>
                      </a:rPr>
                      <m:t>𝕽</m:t>
                    </m:r>
                    <m:r>
                      <a:rPr lang="en-US" sz="2400" i="1">
                        <a:latin typeface="Cambria Math"/>
                      </a:rPr>
                      <m:t>→</m:t>
                    </m:r>
                    <m:r>
                      <a:rPr lang="en-US" sz="2400" b="0" i="1" smtClean="0">
                        <a:latin typeface="Cambria Math"/>
                      </a:rPr>
                      <m:t> </m:t>
                    </m:r>
                    <m:r>
                      <a:rPr lang="en-US" sz="2400" b="0" i="1" smtClean="0">
                        <a:latin typeface="Cambria Math"/>
                      </a:rPr>
                      <m:t>𝕮</m:t>
                    </m:r>
                  </m:oMath>
                </a14:m>
                <a:r>
                  <a:rPr lang="en-US" sz="2400" dirty="0" smtClean="0"/>
                  <a:t> into a function of frequency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 smtClean="0">
                            <a:latin typeface="Cambria Math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/>
                          </a:rPr>
                          <m:t>𝑢</m:t>
                        </m:r>
                      </m:e>
                    </m:acc>
                    <m:d>
                      <m:dPr>
                        <m:ctrlPr>
                          <a:rPr lang="en-US" sz="24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/>
                          </a:rPr>
                          <m:t>𝑓</m:t>
                        </m:r>
                      </m:e>
                    </m:d>
                    <m:r>
                      <a:rPr lang="en-US" sz="2400" i="1">
                        <a:latin typeface="Cambria Math"/>
                      </a:rPr>
                      <m:t>: </m:t>
                    </m:r>
                    <m:r>
                      <a:rPr lang="en-US" sz="2400" i="1">
                        <a:latin typeface="Cambria Math"/>
                      </a:rPr>
                      <m:t>𝕽</m:t>
                    </m:r>
                    <m:r>
                      <a:rPr lang="en-US" sz="2400" i="1">
                        <a:latin typeface="Cambria Math"/>
                      </a:rPr>
                      <m:t>→ </m:t>
                    </m:r>
                    <m:r>
                      <a:rPr lang="en-US" sz="2400" i="1">
                        <a:latin typeface="Cambria Math"/>
                      </a:rPr>
                      <m:t>𝕮</m:t>
                    </m:r>
                  </m:oMath>
                </a14:m>
                <a:r>
                  <a:rPr lang="en-US" sz="2400" dirty="0" smtClean="0"/>
                  <a:t>. The Inverse Fourier transform maps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>
                            <a:latin typeface="Cambria Math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/>
                          </a:rPr>
                          <m:t>𝑢</m:t>
                        </m:r>
                      </m:e>
                    </m:acc>
                    <m:d>
                      <m:dPr>
                        <m:ctrlPr>
                          <a:rPr lang="en-US" sz="24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/>
                          </a:rPr>
                          <m:t>𝑓</m:t>
                        </m:r>
                      </m:e>
                    </m:d>
                  </m:oMath>
                </a14:m>
                <a:r>
                  <a:rPr lang="en-US" sz="2400" dirty="0" smtClean="0"/>
                  <a:t> back to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𝑢</m:t>
                    </m:r>
                    <m:d>
                      <m:dPr>
                        <m:ctrlPr>
                          <a:rPr lang="en-US" sz="24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2400" dirty="0" smtClean="0"/>
                  <a:t>. 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400" i="1" smtClean="0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sz="2400" i="1">
                              <a:latin typeface="Cambria Math"/>
                            </a:rPr>
                            <m:t>𝑢</m:t>
                          </m:r>
                        </m:e>
                      </m:acc>
                      <m:d>
                        <m:dPr>
                          <m:ctrlPr>
                            <a:rPr lang="en-US" sz="24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/>
                            </a:rPr>
                            <m:t>𝑓</m:t>
                          </m:r>
                        </m:e>
                      </m:d>
                      <m:r>
                        <a:rPr lang="en-US" sz="2400" b="0" i="1" smtClean="0">
                          <a:latin typeface="Cambria Math"/>
                        </a:rPr>
                        <m:t>=</m:t>
                      </m:r>
                      <m:nary>
                        <m:naryPr>
                          <m:ctrlPr>
                            <a:rPr lang="en-US" sz="2400" b="0" i="1" smtClean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/>
                              <a:ea typeface="Cambria Math"/>
                            </a:rPr>
                            <m:t>∞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𝑢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)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/>
                                </a:rPr>
                                <m:t>−2</m:t>
                              </m:r>
                              <m:r>
                                <a:rPr lang="en-US" sz="2400" b="0" i="1" smtClean="0">
                                  <a:latin typeface="Cambria Math"/>
                                  <a:ea typeface="Cambria Math"/>
                                </a:rPr>
                                <m:t>𝜋</m:t>
                              </m:r>
                              <m:r>
                                <a:rPr lang="en-US" sz="2400" b="0" i="1" smtClean="0">
                                  <a:latin typeface="Cambria Math"/>
                                </a:rPr>
                                <m:t>𝑖𝑓𝑡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US" sz="2400" b="0" dirty="0" smtClean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/>
                        </a:rPr>
                        <m:t>𝑢</m:t>
                      </m:r>
                      <m:d>
                        <m:dPr>
                          <m:ctrlPr>
                            <a:rPr lang="en-US" sz="24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latin typeface="Cambria Math"/>
                        </a:rPr>
                        <m:t>=</m:t>
                      </m:r>
                      <m:nary>
                        <m:naryPr>
                          <m:ctrlPr>
                            <a:rPr lang="en-US" sz="2400" i="1" smtClean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i="1">
                              <a:latin typeface="Cambria Math"/>
                            </a:rPr>
                            <m:t>−</m:t>
                          </m:r>
                          <m:r>
                            <a:rPr lang="en-US" sz="2400" i="1">
                              <a:latin typeface="Cambria Math"/>
                              <a:ea typeface="Cambria Math"/>
                            </a:rPr>
                            <m:t>∞</m:t>
                          </m:r>
                        </m:sub>
                        <m:sup>
                          <m:r>
                            <a:rPr lang="en-US" sz="2400" i="1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acc>
                            <m:accPr>
                              <m:chr m:val="̂"/>
                              <m:ctrlPr>
                                <a:rPr lang="en-US" sz="2400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𝑢</m:t>
                              </m:r>
                            </m:e>
                          </m:acc>
                          <m:d>
                            <m:dPr>
                              <m:ctrlPr>
                                <a:rPr lang="en-US" sz="24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𝑓</m:t>
                              </m:r>
                            </m:e>
                          </m:d>
                          <m:sSup>
                            <m:sSupPr>
                              <m:ctrlPr>
                                <a:rPr lang="en-US" sz="2400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/>
                                </a:rPr>
                                <m:t>2</m:t>
                              </m:r>
                              <m:r>
                                <a:rPr lang="en-US" sz="2400" i="1">
                                  <a:latin typeface="Cambria Math"/>
                                  <a:ea typeface="Cambria Math"/>
                                </a:rPr>
                                <m:t>𝜋</m:t>
                              </m:r>
                              <m:r>
                                <a:rPr lang="en-US" sz="2400" i="1">
                                  <a:latin typeface="Cambria Math"/>
                                </a:rPr>
                                <m:t>𝑖𝑓𝑡</m:t>
                              </m:r>
                            </m:sup>
                          </m:sSup>
                          <m:r>
                            <a:rPr lang="en-US" sz="2400" i="1">
                              <a:latin typeface="Cambria Math"/>
                            </a:rPr>
                            <m:t>𝑑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𝑓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  <a:p>
                <a:r>
                  <a:rPr lang="en-US" sz="2400" dirty="0" smtClean="0"/>
                  <a:t>There are theorems (</a:t>
                </a:r>
                <a:r>
                  <a:rPr lang="en-US" sz="2400" dirty="0" err="1" smtClean="0"/>
                  <a:t>Plancherel</a:t>
                </a:r>
                <a:r>
                  <a:rPr lang="en-US" sz="2400" dirty="0" smtClean="0"/>
                  <a:t>) that say that given any function </a:t>
                </a:r>
                <a:r>
                  <a:rPr lang="en-US" sz="2400" dirty="0" err="1" smtClean="0"/>
                  <a:t>integrable</a:t>
                </a:r>
                <a:r>
                  <a:rPr lang="en-US" sz="2400" dirty="0" smtClean="0"/>
                  <a:t> u(t), there exist its Fourier transform,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>
                            <a:latin typeface="Cambria Math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/>
                          </a:rPr>
                          <m:t>𝑢</m:t>
                        </m:r>
                      </m:e>
                    </m:acc>
                    <m:d>
                      <m:dPr>
                        <m:ctrlPr>
                          <a:rPr lang="en-US" sz="24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/>
                          </a:rPr>
                          <m:t>𝑓</m:t>
                        </m:r>
                      </m:e>
                    </m:d>
                  </m:oMath>
                </a14:m>
                <a:r>
                  <a:rPr lang="en-US" sz="2400" dirty="0" smtClean="0"/>
                  <a:t>; Also, given the Fourier transform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>
                            <a:latin typeface="Cambria Math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/>
                          </a:rPr>
                          <m:t>𝑢</m:t>
                        </m:r>
                      </m:e>
                    </m:acc>
                    <m:d>
                      <m:dPr>
                        <m:ctrlPr>
                          <a:rPr lang="en-US" sz="24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/>
                          </a:rPr>
                          <m:t>𝑓</m:t>
                        </m:r>
                      </m:e>
                    </m:d>
                  </m:oMath>
                </a14:m>
                <a:r>
                  <a:rPr lang="en-US" sz="2400" dirty="0" smtClean="0"/>
                  <a:t>, there exist the function u(t). </a:t>
                </a: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1981200"/>
                <a:ext cx="8077200" cy="4724400"/>
              </a:xfrm>
              <a:blipFill rotWithShape="1">
                <a:blip r:embed="rId2"/>
                <a:stretch>
                  <a:fillRect l="-1057" t="-1032" r="-10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4036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Fourier </a:t>
            </a:r>
            <a:r>
              <a:rPr lang="en-US" dirty="0" smtClean="0"/>
              <a:t>Transform (cont.)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400" dirty="0" smtClean="0"/>
                  <a:t>Although the </a:t>
                </a:r>
                <a:r>
                  <a:rPr lang="en-US" sz="2400" dirty="0"/>
                  <a:t>F</a:t>
                </a:r>
                <a:r>
                  <a:rPr lang="en-US" sz="2400" dirty="0" smtClean="0"/>
                  <a:t>ourier transform uses an infinity of Fourier coefficients, there are theorems that prove the function u(t) is also approximated by a finite number of Fourier coefficients (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>
                            <a:latin typeface="Cambria Math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/>
                          </a:rPr>
                          <m:t>𝑢</m:t>
                        </m:r>
                      </m:e>
                    </m:acc>
                    <m:d>
                      <m:dPr>
                        <m:ctrlPr>
                          <a:rPr lang="en-US" sz="2400" i="1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 smtClean="0"/>
                  <a:t>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>
                            <a:latin typeface="Cambria Math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/>
                          </a:rPr>
                          <m:t>𝑢</m:t>
                        </m:r>
                      </m:e>
                    </m:acc>
                    <m:d>
                      <m:dPr>
                        <m:ctrlPr>
                          <a:rPr lang="en-US" sz="2400" i="1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 smtClean="0"/>
                  <a:t>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>
                            <a:latin typeface="Cambria Math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/>
                          </a:rPr>
                          <m:t>𝑢</m:t>
                        </m:r>
                      </m:e>
                    </m:acc>
                    <m:d>
                      <m:dPr>
                        <m:ctrlPr>
                          <a:rPr lang="en-US" sz="2400" i="1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 smtClean="0"/>
                  <a:t>…)</a:t>
                </a:r>
              </a:p>
              <a:p>
                <a:r>
                  <a:rPr lang="en-US" sz="2400" dirty="0" smtClean="0"/>
                  <a:t>Euler’s formula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400" i="1" smtClean="0"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n-US" sz="2400" i="1" smtClean="0">
                            <a:latin typeface="Cambria Math"/>
                          </a:rPr>
                          <m:t>𝑖𝑥</m:t>
                        </m:r>
                      </m:sup>
                    </m:sSup>
                    <m:r>
                      <a:rPr lang="en-US" sz="2400" b="0" i="1" smtClean="0">
                        <a:latin typeface="Cambria Math"/>
                      </a:rPr>
                      <m:t>=</m:t>
                    </m:r>
                    <m:func>
                      <m:funcPr>
                        <m:ctrlPr>
                          <a:rPr lang="en-US" sz="2400" b="0" i="1" smtClean="0">
                            <a:latin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sz="2400" b="0" i="1" smtClean="0">
                        <a:latin typeface="Cambria Math"/>
                      </a:rPr>
                      <m:t>+</m:t>
                    </m:r>
                    <m:r>
                      <a:rPr lang="en-US" sz="2400" b="0" i="1" smtClean="0">
                        <a:latin typeface="Cambria Math"/>
                      </a:rPr>
                      <m:t>𝑖</m:t>
                    </m:r>
                    <m:r>
                      <a:rPr lang="en-US" sz="2400" b="0" i="1" smtClean="0"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/>
                      </a:rPr>
                      <m:t>sin</m:t>
                    </m:r>
                    <m:r>
                      <a:rPr lang="en-US" sz="2400" b="0" i="1" smtClean="0">
                        <a:latin typeface="Cambria Math"/>
                      </a:rPr>
                      <m:t>⁡(</m:t>
                    </m:r>
                    <m:r>
                      <a:rPr lang="en-US" sz="2400" b="0" i="1" smtClean="0">
                        <a:latin typeface="Cambria Math"/>
                      </a:rPr>
                      <m:t>𝑥</m:t>
                    </m:r>
                    <m:r>
                      <a:rPr lang="en-US" sz="2400" b="0" i="1" smtClean="0">
                        <a:latin typeface="Cambria Math"/>
                      </a:rPr>
                      <m:t>)</m:t>
                    </m:r>
                  </m:oMath>
                </a14:m>
                <a:endParaRPr lang="en-US" sz="2400" dirty="0" smtClean="0"/>
              </a:p>
              <a:p>
                <a:r>
                  <a:rPr lang="en-US" sz="2400" dirty="0" smtClean="0"/>
                  <a:t>Using Fourier transform, we can approximate a waveform as a vector of real numbers and having a vector of samples (real numbers) we can approximate/interpolate a waveform (continuous, oscillating function) </a:t>
                </a: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098" t="-1185" r="-1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9937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Step 3. Baseband to passband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33400" y="1600200"/>
                <a:ext cx="8458200" cy="5257800"/>
              </a:xfrm>
            </p:spPr>
            <p:txBody>
              <a:bodyPr/>
              <a:lstStyle/>
              <a:p>
                <a:r>
                  <a:rPr lang="en-US" sz="2400" dirty="0" smtClean="0"/>
                  <a:t>The baseband waveform is shifted up to a passband waveform (by increasing its frequency to be around a central carrier frequency </a:t>
                </a:r>
                <a:r>
                  <a:rPr lang="en-US" sz="2400" i="1" dirty="0" smtClean="0"/>
                  <a:t>f</a:t>
                </a:r>
                <a:r>
                  <a:rPr lang="en-US" sz="2400" i="1" baseline="-25000" dirty="0" smtClean="0"/>
                  <a:t>c</a:t>
                </a:r>
                <a:r>
                  <a:rPr lang="en-US" sz="2400" dirty="0" smtClean="0"/>
                  <a:t>).</a:t>
                </a:r>
              </a:p>
              <a:p>
                <a:r>
                  <a:rPr lang="en-US" sz="2400" dirty="0" smtClean="0"/>
                  <a:t>The baseband waveform </a:t>
                </a:r>
                <a:r>
                  <a:rPr lang="en-US" sz="2400" i="1" dirty="0" smtClean="0"/>
                  <a:t>u(t) </a:t>
                </a:r>
                <a:r>
                  <a:rPr lang="en-US" sz="2400" dirty="0" smtClean="0"/>
                  <a:t>is made of frequency components centered at 0 frequency; i.e. its Fourier transform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 smtClean="0">
                            <a:latin typeface="Cambria Math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/>
                          </a:rPr>
                          <m:t>𝑢</m:t>
                        </m:r>
                      </m:e>
                    </m:acc>
                    <m:r>
                      <a:rPr lang="en-US" sz="2400" b="0" i="1" smtClean="0">
                        <a:latin typeface="Cambria Math"/>
                      </a:rPr>
                      <m:t>(</m:t>
                    </m:r>
                    <m:r>
                      <a:rPr lang="en-US" sz="2400" b="0" i="1" smtClean="0">
                        <a:latin typeface="Cambria Math"/>
                      </a:rPr>
                      <m:t>𝑓</m:t>
                    </m:r>
                    <m:r>
                      <a:rPr lang="en-US" sz="2400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2400" dirty="0" smtClean="0"/>
                  <a:t> is zero except for the frequencies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/>
                      </a:rPr>
                      <m:t>−</m:t>
                    </m:r>
                    <m:r>
                      <a:rPr lang="en-US" sz="2400" b="0" i="1" smtClean="0">
                        <a:latin typeface="Cambria Math"/>
                      </a:rPr>
                      <m:t>𝐵</m:t>
                    </m:r>
                    <m:r>
                      <a:rPr lang="en-US" sz="2400" b="0" i="1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en-US" sz="2400" b="0" i="1" smtClean="0">
                        <a:latin typeface="Cambria Math"/>
                        <a:ea typeface="Cambria Math"/>
                      </a:rPr>
                      <m:t>𝑓</m:t>
                    </m:r>
                    <m:r>
                      <a:rPr lang="en-US" sz="2400" b="0" i="1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en-US" sz="2400" b="0" i="1" smtClean="0">
                        <a:latin typeface="Cambria Math"/>
                        <a:ea typeface="Cambria Math"/>
                      </a:rPr>
                      <m:t>𝐵</m:t>
                    </m:r>
                  </m:oMath>
                </a14:m>
                <a:endParaRPr lang="en-US" sz="2400" dirty="0" smtClean="0"/>
              </a:p>
              <a:p>
                <a:r>
                  <a:rPr lang="en-US" sz="2400" dirty="0" smtClean="0"/>
                  <a:t>The passband waveform </a:t>
                </a:r>
                <a:r>
                  <a:rPr lang="en-US" sz="2400" i="1" dirty="0" smtClean="0"/>
                  <a:t>x(t)</a:t>
                </a:r>
                <a:r>
                  <a:rPr lang="en-US" sz="2400" dirty="0" smtClean="0"/>
                  <a:t> will be made of frequency components centered around the carrier frequency </a:t>
                </a:r>
                <a:r>
                  <a:rPr lang="en-US" sz="2400" i="1" dirty="0" smtClean="0"/>
                  <a:t>f</a:t>
                </a:r>
                <a:r>
                  <a:rPr lang="en-US" sz="2400" i="1" baseline="-25000" dirty="0" smtClean="0"/>
                  <a:t>c</a:t>
                </a:r>
                <a:r>
                  <a:rPr lang="en-US" sz="2400" dirty="0" smtClean="0"/>
                  <a:t>; i.e. its Fourier transform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 smtClean="0">
                            <a:latin typeface="Cambria Math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/>
                          </a:rPr>
                          <m:t>𝑥</m:t>
                        </m:r>
                      </m:e>
                    </m:acc>
                    <m:r>
                      <a:rPr lang="en-US" sz="2400" b="0" i="1" smtClean="0">
                        <a:latin typeface="Cambria Math"/>
                      </a:rPr>
                      <m:t>(</m:t>
                    </m:r>
                    <m:r>
                      <a:rPr lang="en-US" sz="2400" b="0" i="1" smtClean="0">
                        <a:latin typeface="Cambria Math"/>
                      </a:rPr>
                      <m:t>𝑓</m:t>
                    </m:r>
                    <m:r>
                      <a:rPr lang="en-US" sz="2400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2400" dirty="0" smtClean="0"/>
                  <a:t> is zero except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𝑐</m:t>
                        </m:r>
                      </m:sub>
                    </m:sSub>
                    <m:r>
                      <a:rPr lang="en-US" sz="2400" i="1">
                        <a:latin typeface="Cambria Math"/>
                      </a:rPr>
                      <m:t>−</m:t>
                    </m:r>
                    <m:r>
                      <a:rPr lang="en-US" sz="2400" i="1">
                        <a:latin typeface="Cambria Math"/>
                      </a:rPr>
                      <m:t>𝐵</m:t>
                    </m:r>
                    <m:r>
                      <a:rPr lang="en-US" sz="2400" i="1">
                        <a:latin typeface="Cambria Math"/>
                        <a:ea typeface="Cambria Math"/>
                      </a:rPr>
                      <m:t>≤</m:t>
                    </m:r>
                    <m:r>
                      <a:rPr lang="en-US" sz="2400" i="1">
                        <a:latin typeface="Cambria Math"/>
                        <a:ea typeface="Cambria Math"/>
                      </a:rPr>
                      <m:t>𝑓</m:t>
                    </m:r>
                    <m:r>
                      <a:rPr lang="en-US" sz="2400" i="1">
                        <a:latin typeface="Cambria Math"/>
                        <a:ea typeface="Cambria Math"/>
                      </a:rPr>
                      <m:t>≤</m:t>
                    </m:r>
                    <m:sSub>
                      <m:sSubPr>
                        <m:ctrlPr>
                          <a:rPr lang="en-US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𝑐</m:t>
                        </m:r>
                      </m:sub>
                    </m:sSub>
                    <m:r>
                      <a:rPr lang="en-US" sz="2400" b="0" i="1" smtClean="0">
                        <a:latin typeface="Cambria Math"/>
                      </a:rPr>
                      <m:t>+</m:t>
                    </m:r>
                    <m:r>
                      <a:rPr lang="en-US" sz="2400" i="1">
                        <a:latin typeface="Cambria Math"/>
                        <a:ea typeface="Cambria Math"/>
                      </a:rPr>
                      <m:t>𝐵</m:t>
                    </m:r>
                  </m:oMath>
                </a14:m>
                <a:endParaRPr lang="en-US" sz="2400" dirty="0"/>
              </a:p>
              <a:p>
                <a:r>
                  <a:rPr lang="en-US" sz="2400" dirty="0" smtClean="0"/>
                  <a:t>The baseband waveform </a:t>
                </a:r>
                <a:r>
                  <a:rPr lang="en-US" sz="2400" i="1" dirty="0" smtClean="0"/>
                  <a:t>u(t) </a:t>
                </a:r>
                <a:r>
                  <a:rPr lang="en-US" sz="2400" dirty="0" smtClean="0"/>
                  <a:t>is shifted up to frequency </a:t>
                </a:r>
                <a:r>
                  <a:rPr lang="en-US" sz="2400" i="1" dirty="0" smtClean="0"/>
                  <a:t>f</a:t>
                </a:r>
                <a:r>
                  <a:rPr lang="en-US" sz="2400" i="1" baseline="-25000" dirty="0" smtClean="0"/>
                  <a:t>c</a:t>
                </a:r>
                <a:r>
                  <a:rPr lang="en-US" sz="2400" i="1" dirty="0" smtClean="0"/>
                  <a:t> </a:t>
                </a:r>
                <a:r>
                  <a:rPr lang="en-US" sz="2400" dirty="0" smtClean="0"/>
                  <a:t>by multiplying it 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400" i="1" smtClean="0"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n-US" sz="2400" b="0" i="1" smtClean="0">
                            <a:latin typeface="Cambria Math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l-GR" sz="2400" i="1" smtClean="0">
                            <a:latin typeface="Cambria Math"/>
                          </a:rPr>
                          <m:t>π</m:t>
                        </m:r>
                        <m:r>
                          <a:rPr lang="en-US" sz="2400" b="0" i="1" smtClean="0">
                            <a:latin typeface="Cambria Math"/>
                          </a:rPr>
                          <m:t>𝑖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/>
                              </a:rPr>
                              <m:t>𝑐</m:t>
                            </m:r>
                          </m:sub>
                        </m:sSub>
                        <m:r>
                          <a:rPr lang="en-US" sz="2400" i="1" smtClean="0">
                            <a:latin typeface="Cambria Math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US" sz="2400" i="1" dirty="0" smtClean="0"/>
                  <a:t>. </a:t>
                </a:r>
                <a:r>
                  <a:rPr lang="en-US" sz="2400" dirty="0" smtClean="0"/>
                  <a:t>Depending if </a:t>
                </a:r>
                <a:r>
                  <a:rPr lang="en-US" sz="2400" i="1" dirty="0" smtClean="0"/>
                  <a:t>u(t) </a:t>
                </a:r>
                <a:r>
                  <a:rPr lang="en-US" sz="2400" dirty="0" smtClean="0"/>
                  <a:t>is real or complex, it may be necessary to apply additional transformation in order to get to a real (not complex) passband waveform.</a:t>
                </a:r>
                <a:endParaRPr lang="en-US" sz="2400" i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3400" y="1600200"/>
                <a:ext cx="8458200" cy="5257800"/>
              </a:xfrm>
              <a:blipFill rotWithShape="1">
                <a:blip r:embed="rId2"/>
                <a:stretch>
                  <a:fillRect l="-1009" t="-928" r="-5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8635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Example of digital modulation techniques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7086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1. Simple example of binary modulation algorithm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85800" y="1828800"/>
                <a:ext cx="8153400" cy="4876800"/>
              </a:xfrm>
            </p:spPr>
            <p:txBody>
              <a:bodyPr/>
              <a:lstStyle/>
              <a:p>
                <a:r>
                  <a:rPr lang="en-US" sz="2400" dirty="0" smtClean="0"/>
                  <a:t>A sequence of binary symbols (bits) enters the modulator at T-spaced instants of time</a:t>
                </a:r>
              </a:p>
              <a:p>
                <a:r>
                  <a:rPr lang="en-US" sz="2400" dirty="0" smtClean="0"/>
                  <a:t>These symbols can be mapped into real numbers using the mapping: 0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/>
                        <a:ea typeface="Cambria Math"/>
                      </a:rPr>
                      <m:t>→</m:t>
                    </m:r>
                  </m:oMath>
                </a14:m>
                <a:r>
                  <a:rPr lang="en-US" sz="2400" dirty="0" smtClean="0"/>
                  <a:t>+1 and 1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Cambria Math"/>
                      </a:rPr>
                      <m:t>→</m:t>
                    </m:r>
                    <m:r>
                      <a:rPr lang="en-US" sz="2400" b="0" i="0" smtClean="0">
                        <a:latin typeface="Cambria Math"/>
                        <a:ea typeface="Cambria Math"/>
                      </a:rPr>
                      <m:t>−</m:t>
                    </m:r>
                  </m:oMath>
                </a14:m>
                <a:r>
                  <a:rPr lang="en-US" sz="2400" dirty="0" smtClean="0"/>
                  <a:t>1</a:t>
                </a:r>
              </a:p>
              <a:p>
                <a:r>
                  <a:rPr lang="en-US" sz="2400" dirty="0" smtClean="0"/>
                  <a:t>The resulted sequence of real numbers u</a:t>
                </a:r>
                <a:r>
                  <a:rPr lang="en-US" sz="2400" baseline="-25000" dirty="0" smtClean="0"/>
                  <a:t>1</a:t>
                </a:r>
                <a:r>
                  <a:rPr lang="en-US" sz="2400" dirty="0" smtClean="0"/>
                  <a:t>, u</a:t>
                </a:r>
                <a:r>
                  <a:rPr lang="en-US" sz="2400" baseline="-25000" dirty="0" smtClean="0"/>
                  <a:t>2</a:t>
                </a:r>
                <a:r>
                  <a:rPr lang="en-US" sz="2400" dirty="0" smtClean="0"/>
                  <a:t>, u</a:t>
                </a:r>
                <a:r>
                  <a:rPr lang="en-US" sz="2400" baseline="-25000" dirty="0" smtClean="0"/>
                  <a:t>3</a:t>
                </a:r>
                <a:r>
                  <a:rPr lang="en-US" sz="2400" dirty="0" smtClean="0"/>
                  <a:t>, … is then mapped into a baseband waveform given by: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/>
                      </a:rPr>
                      <m:t>𝑢</m:t>
                    </m:r>
                    <m:d>
                      <m:dPr>
                        <m:ctrlPr>
                          <a:rPr lang="en-US" sz="24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en-US" sz="2400" b="0" i="1" smtClean="0"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2400" b="0" i="1" smtClean="0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400" b="0" i="1" smtClean="0">
                            <a:latin typeface="Cambria Math"/>
                          </a:rPr>
                          <m:t>𝑘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/>
                              </a:rPr>
                              <m:t>𝑘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/>
                          </a:rPr>
                          <m:t>𝑠𝑖𝑛𝑐</m:t>
                        </m:r>
                        <m:r>
                          <a:rPr lang="en-US" sz="2400" b="0" i="1" smtClean="0">
                            <a:latin typeface="Cambria Math"/>
                          </a:rPr>
                          <m:t>(</m:t>
                        </m:r>
                        <m:f>
                          <m:fPr>
                            <m:ctrlPr>
                              <a:rPr lang="en-US" sz="2400" b="0" i="1" smtClean="0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/>
                              </a:rPr>
                              <m:t>𝑡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/>
                              </a:rPr>
                              <m:t>𝑇</m:t>
                            </m:r>
                          </m:den>
                        </m:f>
                        <m:r>
                          <a:rPr lang="en-US" sz="2400" b="0" i="1" smtClean="0">
                            <a:latin typeface="Cambria Math"/>
                          </a:rPr>
                          <m:t> −</m:t>
                        </m:r>
                        <m:r>
                          <a:rPr lang="en-US" sz="2400" b="0" i="1" smtClean="0">
                            <a:latin typeface="Cambria Math"/>
                          </a:rPr>
                          <m:t>𝑘</m:t>
                        </m:r>
                        <m:r>
                          <a:rPr lang="en-US" sz="2400" b="0" i="1" smtClean="0">
                            <a:latin typeface="Cambria Math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sz="2400" dirty="0" smtClean="0"/>
                  <a:t>       where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/>
                      </a:rPr>
                      <m:t>𝑠𝑖𝑛𝑐</m:t>
                    </m:r>
                    <m:d>
                      <m:dPr>
                        <m:ctrlPr>
                          <a:rPr lang="en-US" sz="24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/>
                      </a:rPr>
                      <m:t>=</m:t>
                    </m:r>
                    <m:box>
                      <m:boxPr>
                        <m:ctrlPr>
                          <a:rPr lang="en-US" sz="2400" b="0" i="1" smtClean="0">
                            <a:latin typeface="Cambria Math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sz="2400" b="0" i="1" smtClean="0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/>
                              </a:rPr>
                              <m:t>sin</m:t>
                            </m:r>
                            <m:r>
                              <a:rPr lang="en-US" sz="2400" b="0" i="1" smtClean="0">
                                <a:latin typeface="Cambria Math"/>
                              </a:rPr>
                              <m:t>⁡(</m:t>
                            </m:r>
                            <m:r>
                              <a:rPr lang="en-US" sz="2400" b="0" i="1" smtClean="0">
                                <a:latin typeface="Cambria Math"/>
                                <a:ea typeface="Cambria Math"/>
                              </a:rPr>
                              <m:t>𝜋</m:t>
                            </m:r>
                            <m:r>
                              <a:rPr lang="en-US" sz="2400" b="0" i="1" smtClean="0">
                                <a:latin typeface="Cambria Math"/>
                                <a:ea typeface="Cambria Math"/>
                              </a:rPr>
                              <m:t>𝑥</m:t>
                            </m:r>
                            <m:r>
                              <a:rPr lang="en-US" sz="2400" b="0" i="1" smtClean="0">
                                <a:latin typeface="Cambria Math"/>
                                <a:ea typeface="Cambria Math"/>
                              </a:rPr>
                              <m:t>)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/>
                                <a:ea typeface="Cambria Math"/>
                              </a:rPr>
                              <m:t>𝜋</m:t>
                            </m:r>
                            <m:r>
                              <a:rPr lang="en-US" sz="2400" b="0" i="1" smtClean="0">
                                <a:latin typeface="Cambria Math"/>
                                <a:ea typeface="Cambria Math"/>
                              </a:rPr>
                              <m:t>𝑥</m:t>
                            </m:r>
                          </m:den>
                        </m:f>
                      </m:e>
                    </m:box>
                  </m:oMath>
                </a14:m>
                <a:endParaRPr lang="en-US" sz="2400" dirty="0"/>
              </a:p>
              <a:p>
                <a:r>
                  <a:rPr lang="en-US" sz="2400" dirty="0" smtClean="0"/>
                  <a:t>Then, this baseband waveform is transformed into a passband waveform centered around a carrier frequency</a:t>
                </a:r>
              </a:p>
              <a:p>
                <a:r>
                  <a:rPr lang="en-US" sz="2400" dirty="0" smtClean="0"/>
                  <a:t>In the absence of noise, the receiver can sample u(t) at times T, 2T, 3T, … to retrieve </a:t>
                </a:r>
                <a:r>
                  <a:rPr lang="en-US" sz="2400" dirty="0"/>
                  <a:t>u</a:t>
                </a:r>
                <a:r>
                  <a:rPr lang="en-US" sz="2400" baseline="-25000" dirty="0"/>
                  <a:t>1</a:t>
                </a:r>
                <a:r>
                  <a:rPr lang="en-US" sz="2400" dirty="0"/>
                  <a:t>, u</a:t>
                </a:r>
                <a:r>
                  <a:rPr lang="en-US" sz="2400" baseline="-25000" dirty="0"/>
                  <a:t>2</a:t>
                </a:r>
                <a:r>
                  <a:rPr lang="en-US" sz="2400" dirty="0"/>
                  <a:t>, u</a:t>
                </a:r>
                <a:r>
                  <a:rPr lang="en-US" sz="2400" baseline="-25000" dirty="0"/>
                  <a:t>3</a:t>
                </a:r>
                <a:r>
                  <a:rPr lang="en-US" sz="2400" dirty="0"/>
                  <a:t>, … </a:t>
                </a:r>
                <a:r>
                  <a:rPr lang="en-US" sz="2400" dirty="0" smtClean="0"/>
                  <a:t> which can then be decoded into the original binary symbols</a:t>
                </a: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1828800"/>
                <a:ext cx="8153400" cy="4876800"/>
              </a:xfrm>
              <a:blipFill rotWithShape="1">
                <a:blip r:embed="rId2"/>
                <a:stretch>
                  <a:fillRect l="-1047" t="-1000" r="-748" b="-5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0453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example of </a:t>
            </a:r>
            <a:r>
              <a:rPr lang="en-US" dirty="0" smtClean="0"/>
              <a:t>binary modulation algorithm (part 2)</a:t>
            </a:r>
            <a:endParaRPr lang="en-US" baseline="-25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828800"/>
                <a:ext cx="8382000" cy="5029200"/>
              </a:xfrm>
            </p:spPr>
            <p:txBody>
              <a:bodyPr/>
              <a:lstStyle/>
              <a:p>
                <a:r>
                  <a:rPr lang="en-US" sz="2400" dirty="0" smtClean="0"/>
                  <a:t>each pulse waveform component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𝑘</m:t>
                        </m:r>
                      </m:sub>
                    </m:sSub>
                    <m:r>
                      <a:rPr lang="en-US" sz="2400" b="0" i="1" smtClean="0">
                        <a:latin typeface="Cambria Math"/>
                      </a:rPr>
                      <m:t>𝑠𝑖𝑛𝑐</m:t>
                    </m:r>
                    <m:d>
                      <m:dPr>
                        <m:ctrlPr>
                          <a:rPr lang="en-US" sz="2400" b="0" i="1" smtClean="0">
                            <a:latin typeface="Cambria Math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0" i="1" smtClean="0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/>
                              </a:rPr>
                              <m:t>𝑡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/>
                              </a:rPr>
                              <m:t>𝑇</m:t>
                            </m:r>
                          </m:den>
                        </m:f>
                        <m:r>
                          <a:rPr lang="en-US" sz="2400" b="0" i="1" smtClean="0">
                            <a:latin typeface="Cambria Math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 sz="2400" dirty="0" smtClean="0"/>
                  <a:t> is time limited (i.e. is transmitted on a limited period of time) to T (i.e. the duration of a symbol)</a:t>
                </a:r>
              </a:p>
              <a:p>
                <a:r>
                  <a:rPr lang="en-US" sz="2400" dirty="0" smtClean="0"/>
                  <a:t>the receiver (in the absence of noise) just samples the received signal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𝑢</m:t>
                    </m:r>
                    <m:d>
                      <m:dPr>
                        <m:ctrlPr>
                          <a:rPr lang="en-US" sz="24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en-US" sz="2400" i="1"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2400" i="1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400" i="1">
                            <a:latin typeface="Cambria Math"/>
                          </a:rPr>
                          <m:t>𝑘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4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400" i="1">
                                <a:latin typeface="Cambria Math"/>
                              </a:rPr>
                              <m:t>𝑘</m:t>
                            </m:r>
                          </m:sub>
                        </m:sSub>
                        <m:r>
                          <a:rPr lang="en-US" sz="2400" i="1">
                            <a:latin typeface="Cambria Math"/>
                          </a:rPr>
                          <m:t>𝑠𝑖𝑛𝑐</m:t>
                        </m:r>
                        <m:r>
                          <a:rPr lang="en-US" sz="2400" i="1">
                            <a:latin typeface="Cambria Math"/>
                          </a:rPr>
                          <m:t>(</m:t>
                        </m:r>
                        <m:f>
                          <m:fPr>
                            <m:ctrlPr>
                              <a:rPr lang="en-US" sz="2400" i="1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/>
                              </a:rPr>
                              <m:t>𝑡</m:t>
                            </m:r>
                          </m:num>
                          <m:den>
                            <m:r>
                              <a:rPr lang="en-US" sz="2400" i="1">
                                <a:latin typeface="Cambria Math"/>
                              </a:rPr>
                              <m:t>𝑇</m:t>
                            </m:r>
                          </m:den>
                        </m:f>
                        <m:r>
                          <a:rPr lang="en-US" sz="2400" i="1">
                            <a:latin typeface="Cambria Math"/>
                          </a:rPr>
                          <m:t> −</m:t>
                        </m:r>
                        <m:r>
                          <a:rPr lang="en-US" sz="2400" i="1">
                            <a:latin typeface="Cambria Math"/>
                          </a:rPr>
                          <m:t>𝑘</m:t>
                        </m:r>
                        <m:r>
                          <a:rPr lang="en-US" sz="2400" i="1">
                            <a:latin typeface="Cambria Math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sz="2400" dirty="0" smtClean="0"/>
                  <a:t> at times T, 2T, 3T, … in order to retrieve the sent signals </a:t>
                </a:r>
                <a:r>
                  <a:rPr lang="en-US" sz="2400" dirty="0"/>
                  <a:t>u</a:t>
                </a:r>
                <a:r>
                  <a:rPr lang="en-US" sz="2400" baseline="-25000" dirty="0"/>
                  <a:t>1</a:t>
                </a:r>
                <a:r>
                  <a:rPr lang="en-US" sz="2400" dirty="0"/>
                  <a:t>, u</a:t>
                </a:r>
                <a:r>
                  <a:rPr lang="en-US" sz="2400" baseline="-25000" dirty="0"/>
                  <a:t>2</a:t>
                </a:r>
                <a:r>
                  <a:rPr lang="en-US" sz="2400" dirty="0"/>
                  <a:t>, u</a:t>
                </a:r>
                <a:r>
                  <a:rPr lang="en-US" sz="2400" baseline="-25000" dirty="0"/>
                  <a:t>3</a:t>
                </a:r>
                <a:r>
                  <a:rPr lang="en-US" sz="2400" dirty="0"/>
                  <a:t>, … </a:t>
                </a:r>
                <a:r>
                  <a:rPr lang="en-US" sz="2400" dirty="0" smtClean="0"/>
                  <a:t>; remember that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𝑠𝑖𝑛𝑐</m:t>
                    </m:r>
                    <m:d>
                      <m:dPr>
                        <m:ctrlPr>
                          <a:rPr lang="en-US" sz="24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US" sz="2400" i="1">
                        <a:latin typeface="Cambria Math"/>
                      </a:rPr>
                      <m:t>=</m:t>
                    </m:r>
                    <m:box>
                      <m:boxPr>
                        <m:ctrlPr>
                          <a:rPr lang="en-US" sz="2400" i="1">
                            <a:latin typeface="Cambria Math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sz="2400" i="1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/>
                              </a:rPr>
                              <m:t>sin</m:t>
                            </m:r>
                            <m:r>
                              <a:rPr lang="en-US" sz="2400" i="1">
                                <a:latin typeface="Cambria Math"/>
                              </a:rPr>
                              <m:t>⁡(</m:t>
                            </m:r>
                            <m:r>
                              <a:rPr lang="en-US" sz="2400" i="1">
                                <a:latin typeface="Cambria Math"/>
                                <a:ea typeface="Cambria Math"/>
                              </a:rPr>
                              <m:t>𝜋</m:t>
                            </m:r>
                            <m:r>
                              <a:rPr lang="en-US" sz="2400" i="1">
                                <a:latin typeface="Cambria Math"/>
                                <a:ea typeface="Cambria Math"/>
                              </a:rPr>
                              <m:t>𝑥</m:t>
                            </m:r>
                            <m:r>
                              <a:rPr lang="en-US" sz="2400" i="1">
                                <a:latin typeface="Cambria Math"/>
                                <a:ea typeface="Cambria Math"/>
                              </a:rPr>
                              <m:t>)</m:t>
                            </m:r>
                          </m:num>
                          <m:den>
                            <m:r>
                              <a:rPr lang="en-US" sz="2400" i="1">
                                <a:latin typeface="Cambria Math"/>
                                <a:ea typeface="Cambria Math"/>
                              </a:rPr>
                              <m:t>𝜋</m:t>
                            </m:r>
                            <m:r>
                              <a:rPr lang="en-US" sz="2400" i="1">
                                <a:latin typeface="Cambria Math"/>
                                <a:ea typeface="Cambria Math"/>
                              </a:rPr>
                              <m:t>𝑥</m:t>
                            </m:r>
                          </m:den>
                        </m:f>
                      </m:e>
                    </m:box>
                  </m:oMath>
                </a14:m>
                <a:r>
                  <a:rPr lang="en-US" sz="2400" dirty="0" smtClean="0"/>
                  <a:t> is 1 when x=0 and is zero for the other integer values of x (i.e. it is ideal Nyquist).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/>
                        </a:rPr>
                        <m:t>𝑢</m:t>
                      </m:r>
                      <m:d>
                        <m:d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𝑇</m:t>
                          </m:r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= 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/>
                        </a:rPr>
                        <m:t>𝑠𝑖𝑛𝑐</m:t>
                      </m:r>
                      <m:d>
                        <m:d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0</m:t>
                          </m:r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+ 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latin typeface="Cambria Math"/>
                        </a:rPr>
                        <m:t>𝑠𝑖𝑛𝑐</m:t>
                      </m:r>
                      <m:d>
                        <m:d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−1</m:t>
                          </m:r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+ 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sz="2000" b="0" i="1" smtClean="0">
                          <a:latin typeface="Cambria Math"/>
                        </a:rPr>
                        <m:t>𝑠𝑖𝑛𝑐</m:t>
                      </m:r>
                      <m:d>
                        <m:d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−2</m:t>
                          </m:r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+ …+ 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sz="2000" b="0" i="1" smtClean="0">
                          <a:latin typeface="Cambria Math"/>
                        </a:rPr>
                        <m:t>𝑠𝑖𝑛𝑐</m:t>
                      </m:r>
                      <m:d>
                        <m:d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−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−1</m:t>
                              </m:r>
                            </m:e>
                          </m:d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= 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b="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/>
                        </a:rPr>
                        <m:t>𝑢</m:t>
                      </m:r>
                      <m:d>
                        <m:dPr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2</m:t>
                          </m:r>
                          <m:r>
                            <a:rPr lang="en-US" sz="2000" i="1">
                              <a:latin typeface="Cambria Math"/>
                            </a:rPr>
                            <m:t>𝑇</m:t>
                          </m:r>
                        </m:e>
                      </m:d>
                      <m:r>
                        <a:rPr lang="en-US" sz="2000" i="1">
                          <a:latin typeface="Cambria Math"/>
                        </a:rPr>
                        <m:t>= </m:t>
                      </m:r>
                      <m:sSub>
                        <m:sSubPr>
                          <m:ctrlPr>
                            <a:rPr lang="en-US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𝑠𝑖𝑛𝑐</m:t>
                      </m:r>
                      <m:d>
                        <m:dPr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1</m:t>
                          </m:r>
                        </m:e>
                      </m:d>
                      <m:r>
                        <a:rPr lang="en-US" sz="2000" i="1">
                          <a:latin typeface="Cambria Math"/>
                        </a:rPr>
                        <m:t>+ </m:t>
                      </m:r>
                      <m:sSub>
                        <m:sSubPr>
                          <m:ctrlPr>
                            <a:rPr lang="en-US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latin typeface="Cambria Math"/>
                        </a:rPr>
                        <m:t>𝑠𝑖𝑛𝑐</m:t>
                      </m:r>
                      <m:d>
                        <m:dPr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0</m:t>
                          </m:r>
                        </m:e>
                      </m:d>
                      <m:r>
                        <a:rPr lang="en-US" sz="2000" i="1">
                          <a:latin typeface="Cambria Math"/>
                        </a:rPr>
                        <m:t>+ </m:t>
                      </m:r>
                      <m:sSub>
                        <m:sSubPr>
                          <m:ctrlPr>
                            <a:rPr lang="en-US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sz="2000" b="0" i="1" smtClean="0">
                          <a:latin typeface="Cambria Math"/>
                        </a:rPr>
                        <m:t>𝑠𝑖𝑛𝑐</m:t>
                      </m:r>
                      <m:d>
                        <m:dPr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</a:rPr>
                            <m:t>−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1</m:t>
                          </m:r>
                        </m:e>
                      </m:d>
                      <m:r>
                        <a:rPr lang="en-US" sz="2000" i="1">
                          <a:latin typeface="Cambria Math"/>
                        </a:rPr>
                        <m:t>+ …+ </m:t>
                      </m:r>
                      <m:sSub>
                        <m:sSubPr>
                          <m:ctrlPr>
                            <a:rPr lang="en-US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sz="2000" b="0" i="1" smtClean="0">
                          <a:latin typeface="Cambria Math"/>
                        </a:rPr>
                        <m:t>𝑠𝑖𝑛𝑐</m:t>
                      </m:r>
                      <m:d>
                        <m:dPr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</a:rPr>
                            <m:t>−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−2</m:t>
                              </m:r>
                            </m:e>
                          </m:d>
                        </m:e>
                      </m:d>
                      <m:r>
                        <a:rPr lang="en-US" sz="2000" i="1">
                          <a:latin typeface="Cambria Math"/>
                        </a:rPr>
                        <m:t>= </m:t>
                      </m:r>
                      <m:sSub>
                        <m:sSubPr>
                          <m:ctrlPr>
                            <a:rPr lang="en-US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/>
                        </a:rPr>
                        <m:t>𝑢</m:t>
                      </m:r>
                      <m:d>
                        <m:dPr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3</m:t>
                          </m:r>
                          <m:r>
                            <a:rPr lang="en-US" sz="2000" i="1">
                              <a:latin typeface="Cambria Math"/>
                            </a:rPr>
                            <m:t>𝑇</m:t>
                          </m:r>
                        </m:e>
                      </m:d>
                      <m:r>
                        <a:rPr lang="en-US" sz="2000" i="1">
                          <a:latin typeface="Cambria Math"/>
                        </a:rPr>
                        <m:t>= </m:t>
                      </m:r>
                      <m:sSub>
                        <m:sSubPr>
                          <m:ctrlPr>
                            <a:rPr lang="en-US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𝑠𝑖𝑛𝑐</m:t>
                      </m:r>
                      <m:d>
                        <m:dPr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2</m:t>
                          </m:r>
                        </m:e>
                      </m:d>
                      <m:r>
                        <a:rPr lang="en-US" sz="2000" i="1">
                          <a:latin typeface="Cambria Math"/>
                        </a:rPr>
                        <m:t>+ </m:t>
                      </m:r>
                      <m:sSub>
                        <m:sSubPr>
                          <m:ctrlPr>
                            <a:rPr lang="en-US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latin typeface="Cambria Math"/>
                        </a:rPr>
                        <m:t>𝑠𝑖𝑛𝑐</m:t>
                      </m:r>
                      <m:d>
                        <m:dPr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1</m:t>
                          </m:r>
                        </m:e>
                      </m:d>
                      <m:r>
                        <a:rPr lang="en-US" sz="2000" i="1">
                          <a:latin typeface="Cambria Math"/>
                        </a:rPr>
                        <m:t>+ </m:t>
                      </m:r>
                      <m:sSub>
                        <m:sSubPr>
                          <m:ctrlPr>
                            <a:rPr lang="en-US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sz="2000" b="0" i="1" smtClean="0">
                          <a:latin typeface="Cambria Math"/>
                        </a:rPr>
                        <m:t>𝑠𝑖𝑛𝑐</m:t>
                      </m:r>
                      <m:d>
                        <m:dPr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0</m:t>
                          </m:r>
                        </m:e>
                      </m:d>
                      <m:r>
                        <a:rPr lang="en-US" sz="2000" i="1">
                          <a:latin typeface="Cambria Math"/>
                        </a:rPr>
                        <m:t>+ …+ </m:t>
                      </m:r>
                      <m:sSub>
                        <m:sSubPr>
                          <m:ctrlPr>
                            <a:rPr lang="en-US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sz="2000" b="0" i="1" smtClean="0">
                          <a:latin typeface="Cambria Math"/>
                        </a:rPr>
                        <m:t>𝑠𝑖𝑛𝑐</m:t>
                      </m:r>
                      <m:d>
                        <m:dPr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</a:rPr>
                            <m:t>−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−3</m:t>
                              </m:r>
                            </m:e>
                          </m:d>
                        </m:e>
                      </m:d>
                      <m:r>
                        <a:rPr lang="en-US" sz="2000" i="1">
                          <a:latin typeface="Cambria Math"/>
                        </a:rPr>
                        <m:t>= </m:t>
                      </m:r>
                      <m:sSub>
                        <m:sSub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 smtClean="0"/>
                  <a:t>…..</a:t>
                </a:r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828800"/>
                <a:ext cx="8382000" cy="5029200"/>
              </a:xfrm>
              <a:blipFill rotWithShape="1">
                <a:blip r:embed="rId2"/>
                <a:stretch>
                  <a:fillRect l="-1091" r="-1891" b="-19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8924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609600"/>
            <a:ext cx="9067800" cy="1143000"/>
          </a:xfrm>
        </p:spPr>
        <p:txBody>
          <a:bodyPr/>
          <a:lstStyle/>
          <a:p>
            <a:pPr algn="l"/>
            <a:r>
              <a:rPr lang="en-US" dirty="0" smtClean="0"/>
              <a:t>2. PAM (Pulse Amplitude Modulation)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85800" y="1981200"/>
                <a:ext cx="8458200" cy="4876800"/>
              </a:xfrm>
            </p:spPr>
            <p:txBody>
              <a:bodyPr/>
              <a:lstStyle/>
              <a:p>
                <a:pPr marL="457200" indent="-457200">
                  <a:buAutoNum type="arabicParenR"/>
                </a:pPr>
                <a:r>
                  <a:rPr lang="en-US" sz="2400" dirty="0" smtClean="0"/>
                  <a:t>Incoming bits are segmented into b-bit blocks</a:t>
                </a:r>
              </a:p>
              <a:p>
                <a:pPr marL="457200" indent="-457200">
                  <a:buAutoNum type="arabicParenR"/>
                </a:pPr>
                <a:r>
                  <a:rPr lang="en-US" sz="2400" dirty="0"/>
                  <a:t>b</a:t>
                </a:r>
                <a:r>
                  <a:rPr lang="en-US" sz="2400" dirty="0" smtClean="0"/>
                  <a:t>-bit blocks are mapped to a signal constellation A = {a</a:t>
                </a:r>
                <a:r>
                  <a:rPr lang="en-US" sz="2400" baseline="-25000" dirty="0" smtClean="0"/>
                  <a:t>1</a:t>
                </a:r>
                <a:r>
                  <a:rPr lang="en-US" sz="2400" dirty="0" smtClean="0"/>
                  <a:t>, a</a:t>
                </a:r>
                <a:r>
                  <a:rPr lang="en-US" sz="2400" baseline="-25000" dirty="0" smtClean="0"/>
                  <a:t>2</a:t>
                </a:r>
                <a:r>
                  <a:rPr lang="en-US" sz="2400" dirty="0" smtClean="0"/>
                  <a:t>, … </a:t>
                </a:r>
                <a:r>
                  <a:rPr lang="en-US" sz="2400" dirty="0" err="1" smtClean="0"/>
                  <a:t>a</a:t>
                </a:r>
                <a:r>
                  <a:rPr lang="en-US" sz="2400" baseline="-25000" dirty="0" err="1" smtClean="0"/>
                  <a:t>M</a:t>
                </a:r>
                <a:r>
                  <a:rPr lang="en-US" sz="2400" dirty="0" smtClean="0"/>
                  <a:t>} where M=2</a:t>
                </a:r>
                <a:r>
                  <a:rPr lang="en-US" sz="2400" baseline="30000" dirty="0" smtClean="0"/>
                  <a:t>b</a:t>
                </a:r>
                <a:r>
                  <a:rPr lang="en-US" sz="2400" dirty="0"/>
                  <a:t> </a:t>
                </a:r>
                <a:r>
                  <a:rPr lang="en-US" sz="2400" dirty="0" smtClean="0"/>
                  <a:t>possible blocks; each value of the signal constellation is called a </a:t>
                </a:r>
                <a:r>
                  <a:rPr lang="en-US" sz="2400" u="sng" dirty="0" smtClean="0"/>
                  <a:t>signal</a:t>
                </a:r>
                <a:r>
                  <a:rPr lang="en-US" sz="2400" dirty="0" smtClean="0"/>
                  <a:t>(it is just a real/complex number)</a:t>
                </a:r>
              </a:p>
              <a:p>
                <a:pPr marL="457200" indent="-457200">
                  <a:buAutoNum type="arabicParenR"/>
                </a:pPr>
                <a:r>
                  <a:rPr lang="en-US" sz="2400" dirty="0" smtClean="0"/>
                  <a:t>The obtained sequence of signals u</a:t>
                </a:r>
                <a:r>
                  <a:rPr lang="en-US" sz="2400" baseline="-25000" dirty="0" smtClean="0"/>
                  <a:t>1</a:t>
                </a:r>
                <a:r>
                  <a:rPr lang="en-US" sz="2400" dirty="0" smtClean="0"/>
                  <a:t>, u</a:t>
                </a:r>
                <a:r>
                  <a:rPr lang="en-US" sz="2400" baseline="-25000" dirty="0" smtClean="0"/>
                  <a:t>2</a:t>
                </a:r>
                <a:r>
                  <a:rPr lang="en-US" sz="2400" dirty="0" smtClean="0"/>
                  <a:t>, u</a:t>
                </a:r>
                <a:r>
                  <a:rPr lang="en-US" sz="2400" baseline="-25000" dirty="0" smtClean="0"/>
                  <a:t>3</a:t>
                </a:r>
                <a:r>
                  <a:rPr lang="en-US" sz="2400" dirty="0" smtClean="0"/>
                  <a:t>, … is then mapped to a waveform u(t) (i.e. a continuous time function) by the use of time shifts of a basic pulse waveform p(t): </a:t>
                </a:r>
              </a:p>
              <a:p>
                <a:pPr marL="0" indent="0">
                  <a:buNone/>
                </a:pPr>
                <a:r>
                  <a:rPr lang="en-US" sz="2400" dirty="0" smtClean="0"/>
                  <a:t>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/>
                      </a:rPr>
                      <m:t>𝑢</m:t>
                    </m:r>
                    <m:d>
                      <m:dPr>
                        <m:ctrlPr>
                          <a:rPr lang="en-US" sz="24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en-US" sz="2400" b="0" i="1" smtClean="0">
                        <a:latin typeface="Cambria Math"/>
                      </a:rPr>
                      <m:t>= </m:t>
                    </m:r>
                    <m:nary>
                      <m:naryPr>
                        <m:chr m:val="∑"/>
                        <m:supHide m:val="on"/>
                        <m:ctrlPr>
                          <a:rPr lang="en-US" sz="2400" b="0" i="1" smtClean="0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400" b="0" i="1" smtClean="0">
                            <a:latin typeface="Cambria Math"/>
                          </a:rPr>
                          <m:t>𝑘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/>
                              </a:rPr>
                              <m:t>𝑘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/>
                          </a:rPr>
                          <m:t>𝑝</m:t>
                        </m:r>
                        <m:r>
                          <a:rPr lang="en-US" sz="2400" b="0" i="1" smtClean="0">
                            <a:latin typeface="Cambria Math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/>
                          </a:rPr>
                          <m:t>𝑡</m:t>
                        </m:r>
                        <m:r>
                          <a:rPr lang="en-US" sz="2400" b="0" i="1" smtClean="0">
                            <a:latin typeface="Cambria Math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/>
                          </a:rPr>
                          <m:t>𝑘𝑇</m:t>
                        </m:r>
                        <m:r>
                          <a:rPr lang="en-US" sz="2400" b="0" i="1" smtClean="0">
                            <a:latin typeface="Cambria Math"/>
                          </a:rPr>
                          <m:t>)</m:t>
                        </m:r>
                      </m:e>
                    </m:nary>
                  </m:oMath>
                </a14:m>
                <a:endParaRPr lang="en-US" sz="2400" b="0" dirty="0" smtClean="0"/>
              </a:p>
              <a:p>
                <a:pPr marL="0" indent="0">
                  <a:buNone/>
                </a:pPr>
                <a:r>
                  <a:rPr lang="en-US" sz="2400" dirty="0"/>
                  <a:t> </a:t>
                </a:r>
                <a:r>
                  <a:rPr lang="en-US" sz="2400" dirty="0" smtClean="0"/>
                  <a:t>     where T is the interval between successive signals</a:t>
                </a:r>
              </a:p>
              <a:p>
                <a:pPr marL="0" indent="0">
                  <a:buNone/>
                </a:pPr>
                <a:r>
                  <a:rPr lang="en-US" sz="2400" dirty="0" smtClean="0"/>
                  <a:t>4) Baseband waveform </a:t>
                </a:r>
                <a:r>
                  <a:rPr lang="en-US" sz="2400" i="1" dirty="0" smtClean="0"/>
                  <a:t>u(t)</a:t>
                </a:r>
                <a:r>
                  <a:rPr lang="en-US" sz="2400" dirty="0" smtClean="0"/>
                  <a:t> is transformed to passband waveform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1981200"/>
                <a:ext cx="8458200" cy="4876800"/>
              </a:xfrm>
              <a:blipFill rotWithShape="1">
                <a:blip r:embed="rId2"/>
                <a:stretch>
                  <a:fillRect l="-1154" t="-1000" r="-1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2015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1D signal constellation example for PAM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for 2 signals (bit blocks: 0 and 1):	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dirty="0" smtClean="0"/>
              <a:t>		-1, 1</a:t>
            </a:r>
          </a:p>
          <a:p>
            <a:r>
              <a:rPr lang="en-US" sz="2400" dirty="0"/>
              <a:t>f</a:t>
            </a:r>
            <a:r>
              <a:rPr lang="en-US" sz="2400" dirty="0" smtClean="0"/>
              <a:t>or 4 signals (bit blocks: 00, 01, 10 and 11): 	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dirty="0" smtClean="0"/>
              <a:t>		-3,-1,1,3</a:t>
            </a:r>
          </a:p>
          <a:p>
            <a:r>
              <a:rPr lang="en-US" sz="2400" dirty="0" smtClean="0"/>
              <a:t>for 8 signals (bit blocks: 000, 001, 010, 011, 100, 101, 110, 111):		-7,-5,-3-1,1,3,5,7</a:t>
            </a:r>
          </a:p>
          <a:p>
            <a:r>
              <a:rPr lang="en-US" sz="2400" dirty="0" smtClean="0"/>
              <a:t>the distance between 2 signals in a signal constellation does not necessary need to be 2, but it should be a constant; for example, this is also a signal constellation with 4 signals:    	-9,-3,3,9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35903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p</a:t>
            </a:r>
            <a:r>
              <a:rPr lang="en-US" i="1" dirty="0" smtClean="0"/>
              <a:t>(t)</a:t>
            </a:r>
            <a:r>
              <a:rPr lang="en-US" dirty="0" smtClean="0"/>
              <a:t> function example for PAM</a:t>
            </a:r>
            <a:endParaRPr lang="en-US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85800" y="1981200"/>
                <a:ext cx="7924800" cy="4495800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/>
                      </a:rPr>
                      <m:t>𝑝</m:t>
                    </m:r>
                    <m:d>
                      <m:dPr>
                        <m:ctrlPr>
                          <a:rPr lang="en-US" sz="24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en-US" sz="2400" b="0" i="1" smtClean="0">
                        <a:latin typeface="Cambria Math"/>
                      </a:rPr>
                      <m:t>=</m:t>
                    </m:r>
                    <m:r>
                      <a:rPr lang="en-US" sz="2400" b="0" i="1" smtClean="0">
                        <a:latin typeface="Cambria Math"/>
                      </a:rPr>
                      <m:t>𝑠𝑖𝑛𝑐</m:t>
                    </m:r>
                    <m:d>
                      <m:dPr>
                        <m:ctrlPr>
                          <a:rPr lang="en-US" sz="2400" b="0" i="1" smtClean="0">
                            <a:latin typeface="Cambria Math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0" i="1" smtClean="0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/>
                              </a:rPr>
                              <m:t>𝑡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/>
                              </a:rPr>
                              <m:t>𝑇</m:t>
                            </m:r>
                          </m:den>
                        </m:f>
                      </m:e>
                    </m:d>
                  </m:oMath>
                </a14:m>
                <a:endParaRPr lang="en-US" sz="2400" b="0" dirty="0" smtClean="0"/>
              </a:p>
              <a:p>
                <a:endParaRPr lang="en-US" sz="2400" b="0" i="1" dirty="0" smtClean="0">
                  <a:latin typeface="Cambria Math"/>
                </a:endParaRPr>
              </a:p>
              <a:p>
                <a:endParaRPr lang="en-US" sz="2400" i="1" dirty="0">
                  <a:latin typeface="Cambria Math"/>
                </a:endParaRP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/>
                      </a:rPr>
                      <m:t>𝑝</m:t>
                    </m:r>
                    <m:d>
                      <m:dPr>
                        <m:ctrlPr>
                          <a:rPr lang="en-US" sz="24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en-US" sz="2400" b="0" i="1" smtClean="0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sz="2400" b="0" i="1" smtClean="0">
                            <a:latin typeface="Cambria Math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400" b="0" i="1" smtClean="0">
                                <a:latin typeface="Cambria Math"/>
                              </a:rPr>
                            </m:ctrlPr>
                          </m:eqArrPr>
                          <m:e>
                            <m:r>
                              <a:rPr lang="en-US" sz="2400" b="0" i="1" smtClean="0">
                                <a:latin typeface="Cambria Math"/>
                              </a:rPr>
                              <m:t>1   ,</m:t>
                            </m:r>
                            <m:r>
                              <a:rPr lang="en-US" sz="2400" b="0" i="1" smtClean="0">
                                <a:latin typeface="Cambria Math"/>
                              </a:rPr>
                              <m:t>𝑖𝑓</m:t>
                            </m:r>
                            <m:r>
                              <a:rPr lang="en-US" sz="2400" b="0" i="1" smtClean="0">
                                <a:latin typeface="Cambria Math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sz="2400" b="0" i="1" smtClean="0">
                                    <a:latin typeface="Cambria Math"/>
                                  </a:rPr>
                                </m:ctrlPr>
                              </m:fPr>
                              <m:num>
                                <m:r>
                                  <a:rPr lang="en-US" sz="2400" b="0" i="1" smtClean="0">
                                    <a:latin typeface="Cambria Math"/>
                                  </a:rPr>
                                  <m:t>𝑇</m:t>
                                </m:r>
                              </m:num>
                              <m:den>
                                <m:r>
                                  <a:rPr lang="en-US" sz="2400" b="0" i="1" smtClean="0">
                                    <a:latin typeface="Cambria Math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sz="2400" i="1">
                                <a:latin typeface="Cambria Math"/>
                                <a:ea typeface="Cambria Math"/>
                              </a:rPr>
                              <m:t>≤</m:t>
                            </m:r>
                            <m:r>
                              <a:rPr lang="en-US" sz="2400" b="0" i="1" smtClean="0">
                                <a:latin typeface="Cambria Math"/>
                                <a:ea typeface="Cambria Math"/>
                              </a:rPr>
                              <m:t>𝑡</m:t>
                            </m:r>
                            <m:r>
                              <a:rPr lang="en-US" sz="2400" b="0" i="1" smtClean="0">
                                <a:latin typeface="Cambria Math"/>
                                <a:ea typeface="Cambria Math"/>
                              </a:rPr>
                              <m:t>≤</m:t>
                            </m:r>
                            <m:f>
                              <m:fPr>
                                <m:ctrlPr>
                                  <a:rPr lang="en-US" sz="2400" b="0" i="1" smtClean="0">
                                    <a:latin typeface="Cambria Math"/>
                                    <a:ea typeface="Cambria Math"/>
                                  </a:rPr>
                                </m:ctrlPr>
                              </m:fPr>
                              <m:num>
                                <m:r>
                                  <a:rPr lang="en-US" sz="2400" b="0" i="1" smtClean="0">
                                    <a:latin typeface="Cambria Math"/>
                                    <a:ea typeface="Cambria Math"/>
                                  </a:rPr>
                                  <m:t>𝑇</m:t>
                                </m:r>
                              </m:num>
                              <m:den>
                                <m:r>
                                  <a:rPr lang="en-US" sz="2400" b="0" i="1" smtClean="0">
                                    <a:latin typeface="Cambria Math"/>
                                    <a:ea typeface="Cambria Math"/>
                                  </a:rPr>
                                  <m:t>2</m:t>
                                </m:r>
                              </m:den>
                            </m:f>
                          </m:e>
                          <m:e>
                            <m:r>
                              <a:rPr lang="en-US" sz="2400" b="0" i="1" smtClean="0">
                                <a:latin typeface="Cambria Math"/>
                              </a:rPr>
                              <m:t>0        ,</m:t>
                            </m:r>
                            <m:r>
                              <a:rPr lang="en-US" sz="2400" b="0" i="1" smtClean="0">
                                <a:latin typeface="Cambria Math"/>
                              </a:rPr>
                              <m:t>𝑜𝑡h𝑒𝑟𝑤𝑖𝑠𝑒</m:t>
                            </m:r>
                            <m:r>
                              <a:rPr lang="en-US" sz="2400" b="0" i="1" smtClean="0">
                                <a:latin typeface="Cambria Math"/>
                              </a:rPr>
                              <m:t>  </m:t>
                            </m:r>
                          </m:e>
                        </m:eqArr>
                      </m:e>
                    </m:d>
                  </m:oMath>
                </a14:m>
                <a:endParaRPr lang="en-US" sz="2400" dirty="0" smtClean="0"/>
              </a:p>
              <a:p>
                <a:endParaRPr lang="en-US" sz="2400" dirty="0"/>
              </a:p>
              <a:p>
                <a:endParaRPr lang="en-US" sz="2400" dirty="0" smtClean="0"/>
              </a:p>
              <a:p>
                <a:r>
                  <a:rPr lang="en-US" sz="2400" dirty="0" smtClean="0"/>
                  <a:t>raised cosine function </a:t>
                </a:r>
              </a:p>
              <a:p>
                <a:r>
                  <a:rPr lang="en-US" sz="2400" dirty="0" smtClean="0"/>
                  <a:t>Gaussian basis pulse</a:t>
                </a: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1981200"/>
                <a:ext cx="7924800" cy="4495800"/>
              </a:xfrm>
              <a:blipFill rotWithShape="1">
                <a:blip r:embed="rId2"/>
                <a:stretch>
                  <a:fillRect l="-1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2" descr="Sinc Function - an overview | ScienceDirect Topic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Sinc Function - an overview | ScienceDirect Topic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6" descr="Sinc Function - an overview | ScienceDirect Topics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8" descr="Sinc Function - an overview | ScienceDirect Topics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0729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2160" y="1828800"/>
            <a:ext cx="2543175" cy="1511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31" name="Picture 1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3870961"/>
            <a:ext cx="1704975" cy="109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76425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PAM passband transform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85800" y="1981200"/>
                <a:ext cx="8153400" cy="4724400"/>
              </a:xfrm>
            </p:spPr>
            <p:txBody>
              <a:bodyPr/>
              <a:lstStyle/>
              <a:p>
                <a:r>
                  <a:rPr lang="en-US" sz="2400" dirty="0" smtClean="0"/>
                  <a:t>in order to shift the </a:t>
                </a:r>
                <a:r>
                  <a:rPr lang="en-US" sz="2400" i="1" dirty="0" smtClean="0"/>
                  <a:t>u(t) </a:t>
                </a:r>
                <a:r>
                  <a:rPr lang="en-US" sz="2400" dirty="0" smtClean="0"/>
                  <a:t>signal waveform to a higher frequency band, the signal is multiplied 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l-GR" sz="2400" i="1">
                            <a:latin typeface="Cambria Math"/>
                          </a:rPr>
                          <m:t>π</m:t>
                        </m:r>
                        <m:r>
                          <a:rPr lang="en-US" sz="2400" i="1">
                            <a:latin typeface="Cambria Math"/>
                          </a:rPr>
                          <m:t>𝑖</m:t>
                        </m:r>
                        <m:sSub>
                          <m:sSubPr>
                            <m:ctrlPr>
                              <a:rPr lang="en-US" sz="24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400" i="1">
                                <a:latin typeface="Cambria Math"/>
                              </a:rPr>
                              <m:t>𝑐</m:t>
                            </m:r>
                          </m:sub>
                        </m:sSub>
                        <m:r>
                          <a:rPr lang="en-US" sz="2400" i="1">
                            <a:latin typeface="Cambria Math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US" sz="2400" dirty="0" smtClean="0"/>
                  <a:t>, which makes the Fourier transform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 smtClean="0">
                            <a:latin typeface="Cambria Math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/>
                          </a:rPr>
                          <m:t>𝑢</m:t>
                        </m:r>
                      </m:e>
                    </m:acc>
                    <m:d>
                      <m:dPr>
                        <m:ctrlPr>
                          <a:rPr lang="en-US" sz="24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/>
                          </a:rPr>
                          <m:t>𝑓</m:t>
                        </m:r>
                      </m:e>
                    </m:d>
                  </m:oMath>
                </a14:m>
                <a:r>
                  <a:rPr lang="en-US" sz="2400" dirty="0" smtClean="0"/>
                  <a:t> zero except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𝑐</m:t>
                        </m:r>
                      </m:sub>
                    </m:sSub>
                    <m:r>
                      <a:rPr lang="en-US" sz="2400" i="1">
                        <a:latin typeface="Cambria Math"/>
                      </a:rPr>
                      <m:t>−</m:t>
                    </m:r>
                    <m:r>
                      <a:rPr lang="en-US" sz="2400" i="1">
                        <a:latin typeface="Cambria Math"/>
                      </a:rPr>
                      <m:t>𝐵</m:t>
                    </m:r>
                    <m:r>
                      <a:rPr lang="en-US" sz="2400" i="1">
                        <a:latin typeface="Cambria Math"/>
                        <a:ea typeface="Cambria Math"/>
                      </a:rPr>
                      <m:t>≤</m:t>
                    </m:r>
                    <m:r>
                      <a:rPr lang="en-US" sz="2400" i="1">
                        <a:latin typeface="Cambria Math"/>
                        <a:ea typeface="Cambria Math"/>
                      </a:rPr>
                      <m:t>𝑓</m:t>
                    </m:r>
                    <m:r>
                      <a:rPr lang="en-US" sz="2400" i="1">
                        <a:latin typeface="Cambria Math"/>
                        <a:ea typeface="Cambria Math"/>
                      </a:rPr>
                      <m:t>≤</m:t>
                    </m:r>
                    <m:sSub>
                      <m:sSubPr>
                        <m:ctrlPr>
                          <a:rPr lang="en-US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𝑐</m:t>
                        </m:r>
                      </m:sub>
                    </m:sSub>
                    <m:r>
                      <a:rPr lang="en-US" sz="2400" i="1">
                        <a:latin typeface="Cambria Math"/>
                      </a:rPr>
                      <m:t>+</m:t>
                    </m:r>
                    <m:r>
                      <a:rPr lang="en-US" sz="2400" i="1">
                        <a:latin typeface="Cambria Math"/>
                        <a:ea typeface="Cambria Math"/>
                      </a:rPr>
                      <m:t>𝐵</m:t>
                    </m:r>
                  </m:oMath>
                </a14:m>
                <a:r>
                  <a:rPr lang="en-US" sz="2400" dirty="0" smtClean="0"/>
                  <a:t> where B is the frequency bandwidth of the original signal</a:t>
                </a:r>
                <a:endParaRPr lang="en-US" sz="2400" dirty="0"/>
              </a:p>
              <a:p>
                <a:r>
                  <a:rPr lang="en-US" sz="2400" dirty="0" smtClean="0"/>
                  <a:t>resulted waveform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/>
                          </a:rPr>
                          <m:t>𝑢</m:t>
                        </m:r>
                        <m:r>
                          <a:rPr lang="en-US" sz="2400" b="0" i="1" smtClean="0">
                            <a:latin typeface="Cambria Math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/>
                          </a:rPr>
                          <m:t>𝑡</m:t>
                        </m:r>
                        <m:r>
                          <a:rPr lang="en-US" sz="2400" b="0" i="1" smtClean="0">
                            <a:latin typeface="Cambria Math"/>
                          </a:rPr>
                          <m:t>)</m:t>
                        </m:r>
                        <m:r>
                          <a:rPr lang="en-US" sz="2400" i="1"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l-GR" sz="2400" i="1">
                            <a:latin typeface="Cambria Math"/>
                          </a:rPr>
                          <m:t>π</m:t>
                        </m:r>
                        <m:r>
                          <a:rPr lang="en-US" sz="2400" i="1">
                            <a:latin typeface="Cambria Math"/>
                          </a:rPr>
                          <m:t>𝑖</m:t>
                        </m:r>
                        <m:sSub>
                          <m:sSubPr>
                            <m:ctrlPr>
                              <a:rPr lang="en-US" sz="24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400" i="1">
                                <a:latin typeface="Cambria Math"/>
                              </a:rPr>
                              <m:t>𝑐</m:t>
                            </m:r>
                          </m:sub>
                        </m:sSub>
                        <m:r>
                          <a:rPr lang="en-US" sz="2400" i="1">
                            <a:latin typeface="Cambria Math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US" sz="2400" dirty="0" smtClean="0"/>
                  <a:t> is now a complex which can not be transmitted (only real waveforms can be transmitted)</a:t>
                </a:r>
              </a:p>
              <a:p>
                <a:r>
                  <a:rPr lang="en-US" sz="2400" dirty="0" smtClean="0"/>
                  <a:t>so, </a:t>
                </a:r>
                <a:r>
                  <a:rPr lang="en-US" sz="2400" i="1" dirty="0" smtClean="0"/>
                  <a:t>u(t)</a:t>
                </a:r>
                <a:r>
                  <a:rPr lang="en-US" sz="2400" dirty="0" smtClean="0"/>
                  <a:t> is also multiplied with the complex conjugate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l-GR" sz="2400" i="1">
                            <a:latin typeface="Cambria Math"/>
                          </a:rPr>
                          <m:t>π</m:t>
                        </m:r>
                        <m:r>
                          <a:rPr lang="en-US" sz="2400" i="1">
                            <a:latin typeface="Cambria Math"/>
                          </a:rPr>
                          <m:t>𝑖</m:t>
                        </m:r>
                        <m:sSub>
                          <m:sSubPr>
                            <m:ctrlPr>
                              <a:rPr lang="en-US" sz="24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400" i="1">
                                <a:latin typeface="Cambria Math"/>
                              </a:rPr>
                              <m:t>𝑐</m:t>
                            </m:r>
                          </m:sub>
                        </m:sSub>
                        <m:r>
                          <a:rPr lang="en-US" sz="2400" i="1">
                            <a:latin typeface="Cambria Math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US" sz="2400" dirty="0" smtClean="0"/>
                  <a:t>, i.e.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n-US" sz="2400" b="0" i="1" smtClean="0">
                            <a:latin typeface="Cambria Math"/>
                          </a:rPr>
                          <m:t>−</m:t>
                        </m:r>
                        <m:r>
                          <a:rPr lang="en-US" sz="2400" i="1">
                            <a:latin typeface="Cambria Math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l-GR" sz="2400" i="1">
                            <a:latin typeface="Cambria Math"/>
                          </a:rPr>
                          <m:t>π</m:t>
                        </m:r>
                        <m:r>
                          <a:rPr lang="en-US" sz="2400" i="1">
                            <a:latin typeface="Cambria Math"/>
                          </a:rPr>
                          <m:t>𝑖</m:t>
                        </m:r>
                        <m:sSub>
                          <m:sSubPr>
                            <m:ctrlPr>
                              <a:rPr lang="en-US" sz="24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400" i="1">
                                <a:latin typeface="Cambria Math"/>
                              </a:rPr>
                              <m:t>𝑐</m:t>
                            </m:r>
                          </m:sub>
                        </m:sSub>
                        <m:r>
                          <a:rPr lang="en-US" sz="2400" i="1">
                            <a:latin typeface="Cambria Math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US" sz="2400" dirty="0" smtClean="0"/>
                  <a:t>, so the transmitted signal becomes: 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/>
                        </a:rPr>
                        <m:t>𝑥</m:t>
                      </m:r>
                      <m:d>
                        <m:dPr>
                          <m:ctrlPr>
                            <a:rPr lang="en-US" sz="24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latin typeface="Cambria Math"/>
                        </a:rPr>
                        <m:t>=</m:t>
                      </m:r>
                      <m:r>
                        <a:rPr lang="en-US" sz="2400" b="0" i="1" smtClean="0">
                          <a:latin typeface="Cambria Math"/>
                        </a:rPr>
                        <m:t>𝑢</m:t>
                      </m:r>
                      <m:d>
                        <m:dPr>
                          <m:ctrlPr>
                            <a:rPr lang="en-US" sz="24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𝑡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l-GR" sz="2400" i="1">
                                  <a:latin typeface="Cambria Math"/>
                                </a:rPr>
                                <m:t>π</m:t>
                              </m:r>
                              <m:r>
                                <a:rPr lang="en-US" sz="2400" i="1">
                                  <a:latin typeface="Cambria Math"/>
                                </a:rPr>
                                <m:t>𝑖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/>
                                </a:rPr>
                                <m:t>𝑡</m:t>
                              </m:r>
                            </m:sup>
                          </m:sSup>
                          <m:r>
                            <a:rPr lang="en-US" sz="2400" b="0" i="0" smtClean="0">
                              <a:latin typeface="Cambria Math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l-GR" sz="2400" i="1">
                                  <a:latin typeface="Cambria Math"/>
                                </a:rPr>
                                <m:t>π</m:t>
                              </m:r>
                              <m:r>
                                <a:rPr lang="en-US" sz="2400" i="1">
                                  <a:latin typeface="Cambria Math"/>
                                </a:rPr>
                                <m:t>𝑖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/>
                                </a:rPr>
                                <m:t>𝑡</m:t>
                              </m:r>
                            </m:sup>
                          </m:sSup>
                        </m:e>
                      </m:d>
                      <m:r>
                        <a:rPr lang="en-US" sz="2400" b="0" i="1" smtClean="0">
                          <a:latin typeface="Cambria Math"/>
                        </a:rPr>
                        <m:t>=2</m:t>
                      </m:r>
                      <m:r>
                        <a:rPr lang="en-US" sz="2400" b="0" i="1" smtClean="0">
                          <a:latin typeface="Cambria Math"/>
                        </a:rPr>
                        <m:t>𝑢</m:t>
                      </m:r>
                      <m:d>
                        <m:dPr>
                          <m:ctrlPr>
                            <a:rPr lang="en-US" sz="24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𝑡</m:t>
                          </m:r>
                        </m:e>
                      </m:d>
                      <m:func>
                        <m:funcPr>
                          <m:ctrlPr>
                            <a:rPr lang="en-US" sz="2400" b="0" i="1" smtClean="0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l-GR" sz="2400" i="1">
                                  <a:latin typeface="Cambria Math"/>
                                </a:rPr>
                                <m:t>π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sz="2400" b="0" dirty="0" smtClean="0"/>
              </a:p>
              <a:p>
                <a:pPr marL="0" indent="0">
                  <a:buNone/>
                </a:pPr>
                <a:r>
                  <a:rPr lang="en-US" sz="2400" dirty="0" smtClean="0"/>
                  <a:t>which is a real signal centered at frequency f</a:t>
                </a:r>
                <a:r>
                  <a:rPr lang="en-US" sz="2400" baseline="-25000" dirty="0" smtClean="0"/>
                  <a:t>c</a:t>
                </a: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1981200"/>
                <a:ext cx="8153400" cy="4724400"/>
              </a:xfrm>
              <a:blipFill rotWithShape="1">
                <a:blip r:embed="rId2"/>
                <a:stretch>
                  <a:fillRect l="-1197" t="-10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4828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QAM (Quadrature Amplitude Modulation)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85800" y="1981200"/>
                <a:ext cx="8229600" cy="4648200"/>
              </a:xfrm>
            </p:spPr>
            <p:txBody>
              <a:bodyPr/>
              <a:lstStyle/>
              <a:p>
                <a:pPr marL="457200" indent="-457200">
                  <a:buAutoNum type="arabicParenR"/>
                </a:pPr>
                <a:r>
                  <a:rPr lang="en-US" sz="2400" dirty="0"/>
                  <a:t>Incoming bits are segmented into b-bit blocks</a:t>
                </a:r>
              </a:p>
              <a:p>
                <a:pPr marL="457200" indent="-457200">
                  <a:buAutoNum type="arabicParenR"/>
                </a:pPr>
                <a:r>
                  <a:rPr lang="en-US" sz="2400" dirty="0"/>
                  <a:t>b-bit blocks are mapped to a signal constellation A = {a</a:t>
                </a:r>
                <a:r>
                  <a:rPr lang="en-US" sz="2400" baseline="-25000" dirty="0"/>
                  <a:t>1</a:t>
                </a:r>
                <a:r>
                  <a:rPr lang="en-US" sz="2400" dirty="0"/>
                  <a:t>, a</a:t>
                </a:r>
                <a:r>
                  <a:rPr lang="en-US" sz="2400" baseline="-25000" dirty="0"/>
                  <a:t>2</a:t>
                </a:r>
                <a:r>
                  <a:rPr lang="en-US" sz="2400" dirty="0"/>
                  <a:t>, … </a:t>
                </a:r>
                <a:r>
                  <a:rPr lang="en-US" sz="2400" dirty="0" err="1"/>
                  <a:t>a</a:t>
                </a:r>
                <a:r>
                  <a:rPr lang="en-US" sz="2400" baseline="-25000" dirty="0" err="1"/>
                  <a:t>M</a:t>
                </a:r>
                <a:r>
                  <a:rPr lang="en-US" sz="2400" dirty="0"/>
                  <a:t>} where M=2</a:t>
                </a:r>
                <a:r>
                  <a:rPr lang="en-US" sz="2400" baseline="30000" dirty="0"/>
                  <a:t>b</a:t>
                </a:r>
                <a:r>
                  <a:rPr lang="en-US" sz="2400" dirty="0"/>
                  <a:t> possible blocks; </a:t>
                </a:r>
                <a:r>
                  <a:rPr lang="en-US" sz="2400" dirty="0" err="1" smtClean="0"/>
                  <a:t>a</a:t>
                </a:r>
                <a:r>
                  <a:rPr lang="en-US" sz="2400" baseline="-25000" dirty="0" err="1" smtClean="0"/>
                  <a:t>i</a:t>
                </a:r>
                <a:r>
                  <a:rPr lang="en-US" sz="2400" dirty="0"/>
                  <a:t> </a:t>
                </a:r>
                <a:r>
                  <a:rPr lang="en-US" sz="2400" dirty="0" smtClean="0"/>
                  <a:t>is a complex number and A = {(</a:t>
                </a:r>
                <a:r>
                  <a:rPr lang="en-US" sz="2400" dirty="0" err="1" smtClean="0"/>
                  <a:t>a+bi</a:t>
                </a:r>
                <a:r>
                  <a:rPr lang="en-US" sz="2400" dirty="0" smtClean="0"/>
                  <a:t>) | a</a:t>
                </a:r>
                <a:r>
                  <a:rPr lang="el-GR" sz="2400" dirty="0" smtClean="0"/>
                  <a:t>ϵ</a:t>
                </a:r>
                <a:r>
                  <a:rPr lang="el-GR" sz="2400" dirty="0" smtClean="0">
                    <a:latin typeface="Cambria Math"/>
                    <a:ea typeface="Cambria Math"/>
                  </a:rPr>
                  <a:t>𝕽</a:t>
                </a:r>
                <a:r>
                  <a:rPr lang="en-US" sz="2400" dirty="0" smtClean="0">
                    <a:latin typeface="Cambria Math"/>
                    <a:ea typeface="Cambria Math"/>
                  </a:rPr>
                  <a:t>, </a:t>
                </a:r>
                <a:r>
                  <a:rPr lang="en-US" sz="2400" dirty="0" smtClean="0"/>
                  <a:t>b</a:t>
                </a:r>
                <a:r>
                  <a:rPr lang="el-GR" sz="2400" dirty="0" smtClean="0"/>
                  <a:t>ϵ</a:t>
                </a:r>
                <a:r>
                  <a:rPr lang="el-GR" sz="2400" dirty="0">
                    <a:latin typeface="Cambria Math"/>
                    <a:ea typeface="Cambria Math"/>
                  </a:rPr>
                  <a:t>𝕽</a:t>
                </a:r>
                <a:r>
                  <a:rPr lang="en-US" sz="2400" dirty="0" smtClean="0"/>
                  <a:t>}; each signal can be considered a tuple of two real numbers</a:t>
                </a:r>
                <a:endParaRPr lang="en-US" sz="2400" dirty="0"/>
              </a:p>
              <a:p>
                <a:pPr marL="457200" indent="-457200">
                  <a:buAutoNum type="arabicParenR"/>
                </a:pPr>
                <a:r>
                  <a:rPr lang="en-US" sz="2400" dirty="0"/>
                  <a:t>The obtained sequence of signals </a:t>
                </a:r>
                <a:r>
                  <a:rPr lang="en-US" sz="2400" dirty="0" smtClean="0"/>
                  <a:t>(i.e. complex numbers) u</a:t>
                </a:r>
                <a:r>
                  <a:rPr lang="en-US" sz="2400" baseline="-25000" dirty="0" smtClean="0"/>
                  <a:t>1</a:t>
                </a:r>
                <a:r>
                  <a:rPr lang="en-US" sz="2400" dirty="0"/>
                  <a:t>, u</a:t>
                </a:r>
                <a:r>
                  <a:rPr lang="en-US" sz="2400" baseline="-25000" dirty="0"/>
                  <a:t>2</a:t>
                </a:r>
                <a:r>
                  <a:rPr lang="en-US" sz="2400" dirty="0"/>
                  <a:t>, u</a:t>
                </a:r>
                <a:r>
                  <a:rPr lang="en-US" sz="2400" baseline="-25000" dirty="0"/>
                  <a:t>3</a:t>
                </a:r>
                <a:r>
                  <a:rPr lang="en-US" sz="2400" dirty="0"/>
                  <a:t>, … is then mapped </a:t>
                </a:r>
                <a:r>
                  <a:rPr lang="en-US" sz="2400" dirty="0" smtClean="0"/>
                  <a:t>to </a:t>
                </a:r>
                <a:r>
                  <a:rPr lang="en-US" sz="2400" dirty="0"/>
                  <a:t>a waveform u(t) (i.e. a continuous time function) by the use of time shifts of a basic pulse waveform p(t</a:t>
                </a:r>
                <a:r>
                  <a:rPr lang="en-US" sz="2400" dirty="0" smtClean="0"/>
                  <a:t>) (the same as for PAM, ideal Nyquist):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𝑢</m:t>
                    </m:r>
                    <m:d>
                      <m:dPr>
                        <m:ctrlPr>
                          <a:rPr lang="en-US" sz="24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en-US" sz="2400" i="1">
                        <a:latin typeface="Cambria Math"/>
                      </a:rPr>
                      <m:t>= </m:t>
                    </m:r>
                    <m:nary>
                      <m:naryPr>
                        <m:chr m:val="∑"/>
                        <m:supHide m:val="on"/>
                        <m:ctrlPr>
                          <a:rPr lang="en-US" sz="2400" i="1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400" i="1">
                            <a:latin typeface="Cambria Math"/>
                          </a:rPr>
                          <m:t>𝑘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4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400" i="1">
                                <a:latin typeface="Cambria Math"/>
                              </a:rPr>
                              <m:t>𝑘</m:t>
                            </m:r>
                          </m:sub>
                        </m:sSub>
                        <m:r>
                          <a:rPr lang="en-US" sz="2400" i="1">
                            <a:latin typeface="Cambria Math"/>
                          </a:rPr>
                          <m:t>𝑝</m:t>
                        </m:r>
                        <m:r>
                          <a:rPr lang="en-US" sz="2400" i="1">
                            <a:latin typeface="Cambria Math"/>
                          </a:rPr>
                          <m:t>(</m:t>
                        </m:r>
                        <m:r>
                          <a:rPr lang="en-US" sz="2400" i="1">
                            <a:latin typeface="Cambria Math"/>
                          </a:rPr>
                          <m:t>𝑡</m:t>
                        </m:r>
                        <m:r>
                          <a:rPr lang="en-US" sz="2400" i="1">
                            <a:latin typeface="Cambria Math"/>
                          </a:rPr>
                          <m:t>−</m:t>
                        </m:r>
                        <m:r>
                          <a:rPr lang="en-US" sz="2400" i="1">
                            <a:latin typeface="Cambria Math"/>
                          </a:rPr>
                          <m:t>𝑘𝑇</m:t>
                        </m:r>
                        <m:r>
                          <a:rPr lang="en-US" sz="2400" i="1">
                            <a:latin typeface="Cambria Math"/>
                          </a:rPr>
                          <m:t>)</m:t>
                        </m:r>
                      </m:e>
                    </m:nary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      where T is the interval between successive </a:t>
                </a:r>
                <a:r>
                  <a:rPr lang="en-US" sz="2400" dirty="0" smtClean="0"/>
                  <a:t>signals</a:t>
                </a:r>
              </a:p>
              <a:p>
                <a:pPr marL="0" indent="0">
                  <a:buNone/>
                </a:pPr>
                <a:r>
                  <a:rPr lang="en-US" sz="2400" dirty="0" smtClean="0"/>
                  <a:t>4) </a:t>
                </a:r>
                <a:r>
                  <a:rPr lang="en-US" sz="2400" dirty="0"/>
                  <a:t>Baseband waveform </a:t>
                </a:r>
                <a:r>
                  <a:rPr lang="en-US" sz="2400" i="1" dirty="0"/>
                  <a:t>u(t)</a:t>
                </a:r>
                <a:r>
                  <a:rPr lang="en-US" sz="2400" dirty="0"/>
                  <a:t> is transformed to passband waveform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457200" indent="-457200">
                  <a:buAutoNum type="arabicParenR"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1981200"/>
                <a:ext cx="8229600" cy="4648200"/>
              </a:xfrm>
              <a:blipFill rotWithShape="1">
                <a:blip r:embed="rId2"/>
                <a:stretch>
                  <a:fillRect l="-1185" t="-1048" r="-1704" b="-5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4391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609600"/>
            <a:ext cx="8305800" cy="1143000"/>
          </a:xfrm>
        </p:spPr>
        <p:txBody>
          <a:bodyPr/>
          <a:lstStyle/>
          <a:p>
            <a:r>
              <a:rPr lang="en-US" dirty="0" smtClean="0"/>
              <a:t>Constellation example for 16-QAM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One axis represents the in-phase component and the other represents the quadrature component</a:t>
            </a:r>
            <a:endParaRPr lang="en-US" sz="2400" dirty="0"/>
          </a:p>
        </p:txBody>
      </p:sp>
      <p:pic>
        <p:nvPicPr>
          <p:cNvPr id="6" name="Picture 4" descr="https://upload.wikimedia.org/wikipedia/commons/thumb/1/1e/16QAM_Gray_Coded.svg/200px-16QAM_Gray_Coded.sv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2971800"/>
            <a:ext cx="3154680" cy="3328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650687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QAM baseband to passband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85800" y="1981200"/>
                <a:ext cx="8229600" cy="4724400"/>
              </a:xfrm>
            </p:spPr>
            <p:txBody>
              <a:bodyPr/>
              <a:lstStyle/>
              <a:p>
                <a:r>
                  <a:rPr lang="en-US" sz="2400" dirty="0" smtClean="0"/>
                  <a:t>in order to shift the </a:t>
                </a:r>
                <a:r>
                  <a:rPr lang="en-US" sz="2400" i="1" dirty="0"/>
                  <a:t>u(t) </a:t>
                </a:r>
                <a:r>
                  <a:rPr lang="en-US" sz="2400" dirty="0"/>
                  <a:t>signal waveform to a higher frequency band, the signal is multiplied 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l-GR" sz="2400" i="1">
                            <a:latin typeface="Cambria Math"/>
                          </a:rPr>
                          <m:t>π</m:t>
                        </m:r>
                        <m:r>
                          <a:rPr lang="en-US" sz="2400" i="1">
                            <a:latin typeface="Cambria Math"/>
                          </a:rPr>
                          <m:t>𝑖</m:t>
                        </m:r>
                        <m:sSub>
                          <m:sSubPr>
                            <m:ctrlPr>
                              <a:rPr lang="en-US" sz="24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400" i="1">
                                <a:latin typeface="Cambria Math"/>
                              </a:rPr>
                              <m:t>𝑐</m:t>
                            </m:r>
                          </m:sub>
                        </m:sSub>
                        <m:r>
                          <a:rPr lang="en-US" sz="2400" i="1">
                            <a:latin typeface="Cambria Math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US" sz="2400" dirty="0"/>
                  <a:t>, which makes the Fourier transform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>
                            <a:latin typeface="Cambria Math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/>
                          </a:rPr>
                          <m:t>𝑢</m:t>
                        </m:r>
                      </m:e>
                    </m:acc>
                    <m:d>
                      <m:dPr>
                        <m:ctrlPr>
                          <a:rPr lang="en-US" sz="24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/>
                          </a:rPr>
                          <m:t>𝑓</m:t>
                        </m:r>
                      </m:e>
                    </m:d>
                  </m:oMath>
                </a14:m>
                <a:r>
                  <a:rPr lang="en-US" sz="2400" dirty="0"/>
                  <a:t> zero except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𝑐</m:t>
                        </m:r>
                      </m:sub>
                    </m:sSub>
                    <m:r>
                      <a:rPr lang="en-US" sz="2400" i="1">
                        <a:latin typeface="Cambria Math"/>
                      </a:rPr>
                      <m:t>−</m:t>
                    </m:r>
                    <m:r>
                      <a:rPr lang="en-US" sz="2400" i="1">
                        <a:latin typeface="Cambria Math"/>
                      </a:rPr>
                      <m:t>𝐵</m:t>
                    </m:r>
                    <m:r>
                      <a:rPr lang="en-US" sz="2400" i="1">
                        <a:latin typeface="Cambria Math"/>
                        <a:ea typeface="Cambria Math"/>
                      </a:rPr>
                      <m:t>≤</m:t>
                    </m:r>
                    <m:r>
                      <a:rPr lang="en-US" sz="2400" i="1">
                        <a:latin typeface="Cambria Math"/>
                        <a:ea typeface="Cambria Math"/>
                      </a:rPr>
                      <m:t>𝑓</m:t>
                    </m:r>
                    <m:r>
                      <a:rPr lang="en-US" sz="2400" i="1">
                        <a:latin typeface="Cambria Math"/>
                        <a:ea typeface="Cambria Math"/>
                      </a:rPr>
                      <m:t>≤</m:t>
                    </m:r>
                    <m:sSub>
                      <m:sSubPr>
                        <m:ctrlPr>
                          <a:rPr lang="en-US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𝑐</m:t>
                        </m:r>
                      </m:sub>
                    </m:sSub>
                    <m:r>
                      <a:rPr lang="en-US" sz="2400" i="1">
                        <a:latin typeface="Cambria Math"/>
                      </a:rPr>
                      <m:t>+</m:t>
                    </m:r>
                    <m:r>
                      <a:rPr lang="en-US" sz="2400" i="1">
                        <a:latin typeface="Cambria Math"/>
                        <a:ea typeface="Cambria Math"/>
                      </a:rPr>
                      <m:t>𝐵</m:t>
                    </m:r>
                  </m:oMath>
                </a14:m>
                <a:r>
                  <a:rPr lang="en-US" sz="2400" dirty="0"/>
                  <a:t> where B is the frequency bandwidth of the original signal</a:t>
                </a:r>
              </a:p>
              <a:p>
                <a:r>
                  <a:rPr lang="en-US" sz="2400" dirty="0"/>
                  <a:t>resulted waveform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𝑢</m:t>
                        </m:r>
                        <m:r>
                          <a:rPr lang="en-US" sz="2400" i="1">
                            <a:latin typeface="Cambria Math"/>
                          </a:rPr>
                          <m:t>(</m:t>
                        </m:r>
                        <m:r>
                          <a:rPr lang="en-US" sz="2400" i="1">
                            <a:latin typeface="Cambria Math"/>
                          </a:rPr>
                          <m:t>𝑡</m:t>
                        </m:r>
                        <m:r>
                          <a:rPr lang="en-US" sz="2400" i="1">
                            <a:latin typeface="Cambria Math"/>
                          </a:rPr>
                          <m:t>)</m:t>
                        </m:r>
                        <m:r>
                          <a:rPr lang="en-US" sz="2400" i="1"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l-GR" sz="2400" i="1">
                            <a:latin typeface="Cambria Math"/>
                          </a:rPr>
                          <m:t>π</m:t>
                        </m:r>
                        <m:r>
                          <a:rPr lang="en-US" sz="2400" i="1">
                            <a:latin typeface="Cambria Math"/>
                          </a:rPr>
                          <m:t>𝑖</m:t>
                        </m:r>
                        <m:sSub>
                          <m:sSubPr>
                            <m:ctrlPr>
                              <a:rPr lang="en-US" sz="24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400" i="1">
                                <a:latin typeface="Cambria Math"/>
                              </a:rPr>
                              <m:t>𝑐</m:t>
                            </m:r>
                          </m:sub>
                        </m:sSub>
                        <m:r>
                          <a:rPr lang="en-US" sz="2400" i="1">
                            <a:latin typeface="Cambria Math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US" sz="2400" dirty="0"/>
                  <a:t> </a:t>
                </a:r>
                <a:r>
                  <a:rPr lang="en-US" sz="2400" dirty="0" smtClean="0"/>
                  <a:t>is complex </a:t>
                </a:r>
                <a:r>
                  <a:rPr lang="en-US" sz="2400" dirty="0"/>
                  <a:t>which can not be transmitted (only real waveforms can be transmitted)</a:t>
                </a:r>
              </a:p>
              <a:p>
                <a:r>
                  <a:rPr lang="en-US" sz="2400" dirty="0"/>
                  <a:t>so,</a:t>
                </a:r>
                <a:r>
                  <a:rPr lang="en-US" sz="2400" dirty="0" smtClean="0"/>
                  <a:t> the complex conjugate is added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/>
                          </a:rPr>
                          <m:t>𝑢</m:t>
                        </m:r>
                        <m:r>
                          <a:rPr lang="en-US" sz="2400" b="0" i="1" smtClean="0">
                            <a:latin typeface="Cambria Math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/>
                          </a:rPr>
                          <m:t>𝑡</m:t>
                        </m:r>
                        <m:r>
                          <a:rPr lang="en-US" sz="2400" b="0" i="1" smtClean="0">
                            <a:latin typeface="Cambria Math"/>
                          </a:rPr>
                          <m:t>)</m:t>
                        </m:r>
                        <m:r>
                          <a:rPr lang="en-US" sz="2400" i="1"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l-GR" sz="2400" i="1">
                            <a:latin typeface="Cambria Math"/>
                          </a:rPr>
                          <m:t>π</m:t>
                        </m:r>
                        <m:r>
                          <a:rPr lang="en-US" sz="2400" i="1">
                            <a:latin typeface="Cambria Math"/>
                          </a:rPr>
                          <m:t>𝑖</m:t>
                        </m:r>
                        <m:sSub>
                          <m:sSubPr>
                            <m:ctrlPr>
                              <a:rPr lang="en-US" sz="24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400" i="1">
                                <a:latin typeface="Cambria Math"/>
                              </a:rPr>
                              <m:t>𝑐</m:t>
                            </m:r>
                          </m:sub>
                        </m:sSub>
                        <m:r>
                          <a:rPr lang="en-US" sz="2400" i="1">
                            <a:latin typeface="Cambria Math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US" sz="2400" dirty="0"/>
                  <a:t>, so the transmitted signal becomes: 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/>
                        </a:rPr>
                        <m:t>𝑥</m:t>
                      </m:r>
                      <m:d>
                        <m:dPr>
                          <m:ctrlPr>
                            <a:rPr lang="en-US" sz="24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𝑢</m:t>
                          </m:r>
                          <m:r>
                            <a:rPr lang="en-US" sz="2400" i="1">
                              <a:latin typeface="Cambria Math"/>
                            </a:rPr>
                            <m:t>(</m:t>
                          </m:r>
                          <m:r>
                            <a:rPr lang="en-US" sz="2400" i="1">
                              <a:latin typeface="Cambria Math"/>
                            </a:rPr>
                            <m:t>𝑡</m:t>
                          </m:r>
                          <m:r>
                            <a:rPr lang="en-US" sz="2400" i="1">
                              <a:latin typeface="Cambria Math"/>
                            </a:rPr>
                            <m:t>)</m:t>
                          </m:r>
                          <m:r>
                            <a:rPr lang="en-US" sz="2400" i="1">
                              <a:latin typeface="Cambria Math"/>
                            </a:rPr>
                            <m:t>𝑒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l-GR" sz="2400" i="1">
                              <a:latin typeface="Cambria Math"/>
                            </a:rPr>
                            <m:t>π</m:t>
                          </m:r>
                          <m:r>
                            <a:rPr lang="en-US" sz="2400" i="1">
                              <a:latin typeface="Cambria Math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sz="2400" i="1">
                              <a:latin typeface="Cambria Math"/>
                            </a:rPr>
                            <m:t>𝑡</m:t>
                          </m:r>
                        </m:sup>
                      </m:sSup>
                      <m:r>
                        <a:rPr lang="en-US" sz="2400" b="0" i="1" smtClean="0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US" sz="2400" i="1">
                              <a:latin typeface="Cambria Math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sz="240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)</m:t>
                          </m:r>
                          <m:r>
                            <a:rPr lang="en-US" sz="2400" i="1">
                              <a:latin typeface="Cambria Math"/>
                            </a:rPr>
                            <m:t>𝑒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l-GR" sz="2400" i="1">
                              <a:latin typeface="Cambria Math"/>
                            </a:rPr>
                            <m:t>π</m:t>
                          </m:r>
                          <m:r>
                            <a:rPr lang="en-US" sz="2400" i="1">
                              <a:latin typeface="Cambria Math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sz="2400" i="1">
                              <a:latin typeface="Cambria Math"/>
                            </a:rPr>
                            <m:t>𝑡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=</m:t>
                      </m:r>
                      <m:r>
                        <a:rPr lang="en-US" sz="2400" b="0" i="1" smtClean="0">
                          <a:latin typeface="Cambria Math"/>
                        </a:rPr>
                        <m:t>2</m:t>
                      </m:r>
                      <m:r>
                        <a:rPr lang="en-US" sz="2400" b="0" i="1" smtClean="0">
                          <a:latin typeface="Cambria Math"/>
                        </a:rPr>
                        <m:t>𝑅𝑒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𝑢</m:t>
                              </m:r>
                              <m:r>
                                <a:rPr lang="en-US" sz="2400" i="1"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sz="2400" i="1">
                                  <a:latin typeface="Cambria Math"/>
                                </a:rPr>
                                <m:t>𝑡</m:t>
                              </m:r>
                              <m:r>
                                <a:rPr lang="en-US" sz="2400" i="1">
                                  <a:latin typeface="Cambria Math"/>
                                </a:rPr>
                                <m:t>)</m:t>
                              </m:r>
                              <m:r>
                                <a:rPr lang="en-US" sz="2400" i="1">
                                  <a:latin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l-GR" sz="2400" i="1">
                                  <a:latin typeface="Cambria Math"/>
                                </a:rPr>
                                <m:t>π</m:t>
                              </m:r>
                              <m:r>
                                <a:rPr lang="en-US" sz="2400" i="1">
                                  <a:latin typeface="Cambria Math"/>
                                </a:rPr>
                                <m:t>𝑖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/>
                                </a:rPr>
                                <m:t>𝑡</m:t>
                              </m:r>
                            </m:sup>
                          </m:sSup>
                        </m:e>
                      </m:d>
                      <m:r>
                        <a:rPr lang="en-US" sz="2400" b="0" i="1" smtClean="0">
                          <a:latin typeface="Cambria Math"/>
                        </a:rPr>
                        <m:t>=</m:t>
                      </m:r>
                      <m:r>
                        <a:rPr lang="en-US" sz="2400" i="1">
                          <a:latin typeface="Cambria Math"/>
                        </a:rPr>
                        <m:t>2</m:t>
                      </m:r>
                      <m:r>
                        <a:rPr lang="en-US" sz="2400" b="0" i="1" smtClean="0">
                          <a:latin typeface="Cambria Math"/>
                        </a:rPr>
                        <m:t>𝑅𝑒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/>
                            </a:rPr>
                            <m:t>𝑢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func>
                        <m:funcPr>
                          <m:ctrlPr>
                            <a:rPr lang="en-US" sz="2400" i="1" smtClean="0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>
                              <a:latin typeface="Cambria Math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24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l-GR" sz="2400" i="1">
                                  <a:latin typeface="Cambria Math"/>
                                </a:rPr>
                                <m:t>π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/>
                            </a:rPr>
                            <m:t> −2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𝐼𝑚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{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𝑢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/>
                            </a:rPr>
                            <m:t>}</m:t>
                          </m:r>
                        </m:e>
                      </m:func>
                      <m:r>
                        <m:rPr>
                          <m:sty m:val="p"/>
                        </m:rPr>
                        <a:rPr lang="en-US" sz="2400" b="0" i="0" smtClean="0">
                          <a:latin typeface="Cambria Math"/>
                        </a:rPr>
                        <m:t>sin</m:t>
                      </m:r>
                      <m:r>
                        <a:rPr lang="en-US" sz="2400" b="0" i="1" smtClean="0">
                          <a:latin typeface="Cambria Math"/>
                        </a:rPr>
                        <m:t>⁡(2</m:t>
                      </m:r>
                      <m:r>
                        <m:rPr>
                          <m:sty m:val="p"/>
                        </m:rPr>
                        <a:rPr lang="el-GR" sz="2400" b="0" i="1" smtClean="0">
                          <a:latin typeface="Cambria Math"/>
                        </a:rPr>
                        <m:t>π</m:t>
                      </m:r>
                      <m:sSub>
                        <m:sSubPr>
                          <m:ctrlPr>
                            <a:rPr lang="el-GR" sz="2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/>
                            </a:rPr>
                            <m:t>𝑐</m:t>
                          </m:r>
                        </m:sub>
                      </m:sSub>
                      <m:r>
                        <a:rPr lang="en-US" sz="2400" b="0" i="1" smtClean="0">
                          <a:latin typeface="Cambria Math"/>
                        </a:rPr>
                        <m:t>𝑡</m:t>
                      </m:r>
                      <m:r>
                        <a:rPr lang="en-US" sz="2400" b="0" i="1" smtClean="0">
                          <a:latin typeface="Cambria Math"/>
                        </a:rPr>
                        <m:t>) 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which is a real signal centered at frequency f</a:t>
                </a:r>
                <a:r>
                  <a:rPr lang="en-US" sz="2400" baseline="-25000" dirty="0"/>
                  <a:t>c</a:t>
                </a:r>
                <a:endParaRPr lang="en-US" sz="2400" dirty="0"/>
              </a:p>
              <a:p>
                <a:pPr marL="0" indent="0">
                  <a:buNone/>
                </a:pPr>
                <a:r>
                  <a:rPr lang="en-US" sz="1400" i="1" dirty="0" smtClean="0">
                    <a:solidFill>
                      <a:schemeClr val="accent1">
                        <a:lumMod val="75000"/>
                      </a:schemeClr>
                    </a:solidFill>
                  </a:rPr>
                  <a:t>Re{x}</a:t>
                </a:r>
                <a:r>
                  <a:rPr lang="en-US" sz="1400" dirty="0" smtClean="0">
                    <a:solidFill>
                      <a:schemeClr val="accent1">
                        <a:lumMod val="75000"/>
                      </a:schemeClr>
                    </a:solidFill>
                  </a:rPr>
                  <a:t> is the real part of complex number </a:t>
                </a:r>
                <a:r>
                  <a:rPr lang="en-US" sz="1400" i="1" dirty="0" smtClean="0">
                    <a:solidFill>
                      <a:schemeClr val="accent1">
                        <a:lumMod val="75000"/>
                      </a:schemeClr>
                    </a:solidFill>
                  </a:rPr>
                  <a:t>x</a:t>
                </a:r>
                <a:r>
                  <a:rPr lang="en-US" sz="1400" dirty="0" smtClean="0">
                    <a:solidFill>
                      <a:schemeClr val="accent1">
                        <a:lumMod val="75000"/>
                      </a:schemeClr>
                    </a:solidFill>
                  </a:rPr>
                  <a:t> and </a:t>
                </a:r>
                <a:r>
                  <a:rPr lang="en-US" sz="1400" i="1" dirty="0" err="1" smtClean="0">
                    <a:solidFill>
                      <a:schemeClr val="accent1">
                        <a:lumMod val="75000"/>
                      </a:schemeClr>
                    </a:solidFill>
                  </a:rPr>
                  <a:t>Im</a:t>
                </a:r>
                <a:r>
                  <a:rPr lang="en-US" sz="1400" i="1" dirty="0" smtClean="0">
                    <a:solidFill>
                      <a:schemeClr val="accent1">
                        <a:lumMod val="75000"/>
                      </a:schemeClr>
                    </a:solidFill>
                  </a:rPr>
                  <a:t>{x}</a:t>
                </a:r>
                <a:r>
                  <a:rPr lang="en-US" sz="1400" dirty="0" smtClean="0">
                    <a:solidFill>
                      <a:schemeClr val="accent1">
                        <a:lumMod val="75000"/>
                      </a:schemeClr>
                    </a:solidFill>
                  </a:rPr>
                  <a:t> is the imaginary part of complex number </a:t>
                </a:r>
                <a:r>
                  <a:rPr lang="en-US" sz="1400" i="1" dirty="0" smtClean="0">
                    <a:solidFill>
                      <a:schemeClr val="accent1">
                        <a:lumMod val="75000"/>
                      </a:schemeClr>
                    </a:solidFill>
                  </a:rPr>
                  <a:t>x</a:t>
                </a:r>
                <a:endParaRPr lang="en-US" sz="1400" i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1981200"/>
                <a:ext cx="8229600" cy="4724400"/>
              </a:xfrm>
              <a:blipFill rotWithShape="1">
                <a:blip r:embed="rId2"/>
                <a:stretch>
                  <a:fillRect l="-1185" t="-1032" r="-1185" b="-2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913642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QAM decoder (part 1)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85800" y="1752600"/>
                <a:ext cx="8305800" cy="4724400"/>
              </a:xfrm>
            </p:spPr>
            <p:txBody>
              <a:bodyPr/>
              <a:lstStyle/>
              <a:p>
                <a:r>
                  <a:rPr lang="en-US" sz="2400" dirty="0" smtClean="0"/>
                  <a:t>in the absence of noise, the received signal is</a:t>
                </a:r>
              </a:p>
              <a:p>
                <a:pPr marL="0" indent="0">
                  <a:buNone/>
                </a:pPr>
                <a:r>
                  <a:rPr lang="en-US" sz="2400" dirty="0" smtClean="0"/>
                  <a:t>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/>
                      </a:rPr>
                      <m:t>𝑟</m:t>
                    </m:r>
                    <m:d>
                      <m:dPr>
                        <m:ctrlPr>
                          <a:rPr lang="en-US" sz="24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en-US" sz="2400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𝑢</m:t>
                        </m:r>
                        <m:r>
                          <a:rPr lang="en-US" sz="2400" i="1">
                            <a:latin typeface="Cambria Math"/>
                          </a:rPr>
                          <m:t>(</m:t>
                        </m:r>
                        <m:r>
                          <a:rPr lang="en-US" sz="2400" i="1">
                            <a:latin typeface="Cambria Math"/>
                          </a:rPr>
                          <m:t>𝑡</m:t>
                        </m:r>
                        <m:r>
                          <a:rPr lang="en-US" sz="2400" i="1">
                            <a:latin typeface="Cambria Math"/>
                          </a:rPr>
                          <m:t>)</m:t>
                        </m:r>
                        <m:r>
                          <a:rPr lang="en-US" sz="2400" i="1"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l-GR" sz="2400" i="1">
                            <a:latin typeface="Cambria Math"/>
                          </a:rPr>
                          <m:t>π</m:t>
                        </m:r>
                        <m:r>
                          <a:rPr lang="en-US" sz="2400" i="1">
                            <a:latin typeface="Cambria Math"/>
                          </a:rPr>
                          <m:t>𝑖</m:t>
                        </m:r>
                        <m:sSub>
                          <m:sSubPr>
                            <m:ctrlPr>
                              <a:rPr lang="en-US" sz="24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400" i="1">
                                <a:latin typeface="Cambria Math"/>
                              </a:rPr>
                              <m:t>𝑐</m:t>
                            </m:r>
                          </m:sub>
                        </m:sSub>
                        <m:r>
                          <a:rPr lang="en-US" sz="2400" i="1">
                            <a:latin typeface="Cambria Math"/>
                          </a:rPr>
                          <m:t>𝑡</m:t>
                        </m:r>
                      </m:sup>
                    </m:sSup>
                    <m:r>
                      <a:rPr lang="en-US" sz="2400" i="1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US" sz="2400" i="1">
                            <a:latin typeface="Cambria Math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sz="2400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/>
                              </a:rPr>
                              <m:t>𝑢</m:t>
                            </m:r>
                          </m:e>
                          <m:sup>
                            <m:r>
                              <a:rPr lang="en-US" sz="2400" i="1">
                                <a:latin typeface="Cambria Math"/>
                              </a:rPr>
                              <m:t>∗</m:t>
                            </m:r>
                          </m:sup>
                        </m:sSup>
                        <m:r>
                          <a:rPr lang="en-US" sz="2400" i="1">
                            <a:latin typeface="Cambria Math"/>
                          </a:rPr>
                          <m:t>(</m:t>
                        </m:r>
                        <m:r>
                          <a:rPr lang="en-US" sz="2400" i="1">
                            <a:latin typeface="Cambria Math"/>
                          </a:rPr>
                          <m:t>𝑡</m:t>
                        </m:r>
                        <m:r>
                          <a:rPr lang="en-US" sz="2400" i="1">
                            <a:latin typeface="Cambria Math"/>
                          </a:rPr>
                          <m:t>)</m:t>
                        </m:r>
                        <m:r>
                          <a:rPr lang="en-US" sz="2400" i="1"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−2</m:t>
                        </m:r>
                        <m:r>
                          <m:rPr>
                            <m:sty m:val="p"/>
                          </m:rPr>
                          <a:rPr lang="el-GR" sz="2400" i="1">
                            <a:latin typeface="Cambria Math"/>
                          </a:rPr>
                          <m:t>π</m:t>
                        </m:r>
                        <m:r>
                          <a:rPr lang="en-US" sz="2400" i="1">
                            <a:latin typeface="Cambria Math"/>
                          </a:rPr>
                          <m:t>𝑖</m:t>
                        </m:r>
                        <m:sSub>
                          <m:sSubPr>
                            <m:ctrlPr>
                              <a:rPr lang="en-US" sz="24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400" i="1">
                                <a:latin typeface="Cambria Math"/>
                              </a:rPr>
                              <m:t>𝑐</m:t>
                            </m:r>
                          </m:sub>
                        </m:sSub>
                        <m:r>
                          <a:rPr lang="en-US" sz="2400" i="1">
                            <a:latin typeface="Cambria Math"/>
                          </a:rPr>
                          <m:t>𝑡</m:t>
                        </m:r>
                      </m:sup>
                    </m:sSup>
                    <m:r>
                      <a:rPr lang="en-US" sz="2400" b="0" i="1" smtClean="0">
                        <a:latin typeface="Cambria Math"/>
                      </a:rPr>
                      <m:t>                      </m:t>
                    </m:r>
                  </m:oMath>
                </a14:m>
                <a:endParaRPr lang="en-US" sz="2400" b="0" i="1" dirty="0" smtClean="0">
                  <a:latin typeface="Cambria Math"/>
                </a:endParaRPr>
              </a:p>
              <a:p>
                <a:pPr marL="0" indent="0">
                  <a:buNone/>
                </a:pPr>
                <a:r>
                  <a:rPr lang="en-US" sz="2400" b="0" dirty="0" smtClean="0"/>
                  <a:t>                  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/>
                      </a:rPr>
                      <m:t>=</m:t>
                    </m:r>
                    <m:r>
                      <a:rPr lang="en-US" sz="2400" i="1">
                        <a:latin typeface="Cambria Math"/>
                      </a:rPr>
                      <m:t>2</m:t>
                    </m:r>
                    <m:r>
                      <a:rPr lang="en-US" sz="2400" i="1">
                        <a:latin typeface="Cambria Math"/>
                      </a:rPr>
                      <m:t>𝑅𝑒</m:t>
                    </m:r>
                    <m:d>
                      <m:dPr>
                        <m:begChr m:val="{"/>
                        <m:endChr m:val="}"/>
                        <m:ctrlPr>
                          <a:rPr lang="en-US" sz="24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/>
                          </a:rPr>
                          <m:t>𝑢</m:t>
                        </m:r>
                        <m:d>
                          <m:dPr>
                            <m:ctrlPr>
                              <a:rPr lang="en-US" sz="2400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/>
                              </a:rPr>
                              <m:t>𝑡</m:t>
                            </m:r>
                          </m:e>
                        </m:d>
                      </m:e>
                    </m:d>
                    <m:func>
                      <m:funcPr>
                        <m:ctrlPr>
                          <a:rPr lang="en-US" sz="2400" i="1">
                            <a:latin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sz="2400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l-GR" sz="2400" i="1">
                                <a:latin typeface="Cambria Math"/>
                              </a:rPr>
                              <m:t>π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/>
                                  </a:rPr>
                                  <m:t>𝑐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/>
                              </a:rPr>
                              <m:t>𝑡</m:t>
                            </m:r>
                          </m:e>
                        </m:d>
                        <m:r>
                          <a:rPr lang="en-US" sz="2400" i="1">
                            <a:latin typeface="Cambria Math"/>
                          </a:rPr>
                          <m:t> −2</m:t>
                        </m:r>
                        <m:r>
                          <a:rPr lang="en-US" sz="2400" i="1">
                            <a:latin typeface="Cambria Math"/>
                          </a:rPr>
                          <m:t>𝐼𝑚</m:t>
                        </m:r>
                        <m:r>
                          <a:rPr lang="en-US" sz="2400" i="1">
                            <a:latin typeface="Cambria Math"/>
                          </a:rPr>
                          <m:t>{</m:t>
                        </m:r>
                        <m:r>
                          <a:rPr lang="en-US" sz="2400" i="1">
                            <a:latin typeface="Cambria Math"/>
                          </a:rPr>
                          <m:t>𝑢</m:t>
                        </m:r>
                        <m:d>
                          <m:dPr>
                            <m:ctrlPr>
                              <a:rPr lang="en-US" sz="2400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/>
                              </a:rPr>
                              <m:t>𝑡</m:t>
                            </m:r>
                          </m:e>
                        </m:d>
                        <m:r>
                          <a:rPr lang="en-US" sz="2400" i="1">
                            <a:latin typeface="Cambria Math"/>
                          </a:rPr>
                          <m:t>}</m:t>
                        </m:r>
                      </m:e>
                    </m:func>
                    <m:func>
                      <m:funcPr>
                        <m:ctrlPr>
                          <a:rPr lang="en-US" sz="2400" i="1">
                            <a:latin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sz="2400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l-GR" sz="2400" i="1">
                                <a:latin typeface="Cambria Math"/>
                              </a:rPr>
                              <m:t>π</m:t>
                            </m:r>
                            <m:sSub>
                              <m:sSubPr>
                                <m:ctrlPr>
                                  <a:rPr lang="el-GR" sz="2400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/>
                                  </a:rPr>
                                  <m:t>𝑐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/>
                              </a:rPr>
                              <m:t>𝑡</m:t>
                            </m:r>
                          </m:e>
                        </m:d>
                      </m:e>
                    </m:func>
                  </m:oMath>
                </a14:m>
                <a:endParaRPr lang="en-US" sz="2400" i="1" dirty="0" smtClean="0">
                  <a:latin typeface="Cambria Math"/>
                </a:endParaRPr>
              </a:p>
              <a:p>
                <a:pPr marL="0" indent="0">
                  <a:buNone/>
                </a:pPr>
                <a:r>
                  <a:rPr lang="en-US" sz="2400" b="0" dirty="0" smtClean="0"/>
                  <a:t>                  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/>
                      </a:rPr>
                      <m:t>I</m:t>
                    </m:r>
                    <m:d>
                      <m:dPr>
                        <m:ctrlPr>
                          <a:rPr lang="en-US" sz="24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/>
                          </a:rPr>
                          <m:t>t</m:t>
                        </m:r>
                      </m:e>
                    </m:d>
                    <m:r>
                      <m:rPr>
                        <m:sty m:val="p"/>
                      </m:rPr>
                      <a:rPr lang="en-US" sz="2400" b="0" i="0" smtClean="0">
                        <a:latin typeface="Cambria Math"/>
                      </a:rPr>
                      <m:t>cos</m:t>
                    </m:r>
                    <m:d>
                      <m:dPr>
                        <m:ctrlPr>
                          <a:rPr lang="en-US" sz="24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l-GR" sz="2400" i="1">
                            <a:latin typeface="Cambria Math"/>
                          </a:rPr>
                          <m:t>π</m:t>
                        </m:r>
                        <m:sSub>
                          <m:sSubPr>
                            <m:ctrlPr>
                              <a:rPr lang="en-US" sz="24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400" i="1">
                                <a:latin typeface="Cambria Math"/>
                              </a:rPr>
                              <m:t>𝑐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en-US" sz="2400" b="0" i="1" smtClean="0">
                        <a:latin typeface="Cambria Math"/>
                      </a:rPr>
                      <m:t>−</m:t>
                    </m:r>
                    <m:r>
                      <a:rPr lang="en-US" sz="2400" b="0" i="1" smtClean="0">
                        <a:latin typeface="Cambria Math"/>
                      </a:rPr>
                      <m:t>𝑄</m:t>
                    </m:r>
                    <m:d>
                      <m:dPr>
                        <m:ctrlPr>
                          <a:rPr lang="en-US" sz="24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/>
                          </a:rPr>
                          <m:t>𝑡</m:t>
                        </m:r>
                      </m:e>
                    </m:d>
                    <m:r>
                      <m:rPr>
                        <m:sty m:val="p"/>
                      </m:rPr>
                      <a:rPr lang="en-US" sz="2400" b="0" i="0" smtClean="0">
                        <a:latin typeface="Cambria Math"/>
                      </a:rPr>
                      <m:t>sin</m:t>
                    </m:r>
                    <m:r>
                      <a:rPr lang="en-US" sz="2400" b="0" i="1" smtClean="0">
                        <a:latin typeface="Cambria Math"/>
                      </a:rPr>
                      <m:t>⁡(</m:t>
                    </m:r>
                    <m:r>
                      <a:rPr lang="en-US" sz="2400" i="1">
                        <a:latin typeface="Cambria Math"/>
                      </a:rPr>
                      <m:t>2</m:t>
                    </m:r>
                    <m:r>
                      <m:rPr>
                        <m:sty m:val="p"/>
                      </m:rPr>
                      <a:rPr lang="el-GR" sz="2400" i="1">
                        <a:latin typeface="Cambria Math"/>
                      </a:rPr>
                      <m:t>π</m:t>
                    </m:r>
                    <m:sSub>
                      <m:sSubPr>
                        <m:ctrlPr>
                          <a:rPr lang="en-US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𝑐</m:t>
                        </m:r>
                      </m:sub>
                    </m:sSub>
                    <m:r>
                      <a:rPr lang="en-US" sz="2400" b="0" i="1" smtClean="0">
                        <a:latin typeface="Cambria Math"/>
                      </a:rPr>
                      <m:t>𝑡</m:t>
                    </m:r>
                    <m:r>
                      <a:rPr lang="en-US" sz="2400" b="0" i="1" smtClean="0">
                        <a:latin typeface="Cambria Math"/>
                      </a:rPr>
                      <m:t>)</m:t>
                    </m:r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 smtClean="0"/>
                  <a:t>where I(t) is the in-phase component and the Q(t) is the quadrature component; they are our of phase by 90</a:t>
                </a:r>
                <a:r>
                  <a:rPr lang="en-US" sz="2400" baseline="40000" dirty="0" smtClean="0"/>
                  <a:t>o</a:t>
                </a:r>
                <a:r>
                  <a:rPr lang="en-US" sz="2400" baseline="-25000" dirty="0" smtClean="0"/>
                  <a:t> </a:t>
                </a:r>
                <a:r>
                  <a:rPr lang="en-US" sz="2400" dirty="0" smtClean="0"/>
                  <a:t>-&gt; orthogonal </a:t>
                </a:r>
              </a:p>
              <a:p>
                <a:r>
                  <a:rPr lang="en-US" sz="2400" dirty="0" smtClean="0"/>
                  <a:t>The received signal </a:t>
                </a:r>
                <a:r>
                  <a:rPr lang="en-US" sz="2400" i="1" dirty="0" smtClean="0"/>
                  <a:t>r(t)</a:t>
                </a:r>
                <a:r>
                  <a:rPr lang="en-US" sz="2400" dirty="0" smtClean="0"/>
                  <a:t> is multiplied separately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/>
                      </a:rPr>
                      <m:t>cos</m:t>
                    </m:r>
                    <m:d>
                      <m:dPr>
                        <m:ctrlPr>
                          <a:rPr lang="en-US" sz="24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l-GR" sz="2400" i="1">
                            <a:latin typeface="Cambria Math"/>
                          </a:rPr>
                          <m:t>π</m:t>
                        </m:r>
                        <m:sSub>
                          <m:sSubPr>
                            <m:ctrlPr>
                              <a:rPr lang="en-US" sz="24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400" i="1">
                                <a:latin typeface="Cambria Math"/>
                              </a:rPr>
                              <m:t>𝑐</m:t>
                            </m:r>
                          </m:sub>
                        </m:sSub>
                        <m:r>
                          <a:rPr lang="en-US" sz="2400" i="1">
                            <a:latin typeface="Cambria Math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2400" i="1" dirty="0" smtClean="0"/>
                  <a:t> </a:t>
                </a:r>
                <a:r>
                  <a:rPr lang="en-US" sz="2400" dirty="0" smtClean="0"/>
                  <a:t>and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/>
                      </a:rPr>
                      <m:t>sin</m:t>
                    </m:r>
                    <m:r>
                      <a:rPr lang="en-US" sz="2400" b="0" i="0" smtClean="0">
                        <a:latin typeface="Cambria Math"/>
                      </a:rPr>
                      <m:t>(</m:t>
                    </m:r>
                    <m:r>
                      <a:rPr lang="en-US" sz="2400" i="1">
                        <a:latin typeface="Cambria Math"/>
                      </a:rPr>
                      <m:t>2</m:t>
                    </m:r>
                    <m:r>
                      <m:rPr>
                        <m:sty m:val="p"/>
                      </m:rPr>
                      <a:rPr lang="el-GR" sz="2400" i="1">
                        <a:latin typeface="Cambria Math"/>
                      </a:rPr>
                      <m:t>π</m:t>
                    </m:r>
                    <m:sSub>
                      <m:sSubPr>
                        <m:ctrlPr>
                          <a:rPr lang="en-US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𝑐</m:t>
                        </m:r>
                      </m:sub>
                    </m:sSub>
                    <m:r>
                      <a:rPr lang="en-US" sz="2400" i="1">
                        <a:latin typeface="Cambria Math"/>
                      </a:rPr>
                      <m:t>𝑡</m:t>
                    </m:r>
                    <m:r>
                      <a:rPr lang="en-US" sz="2400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2400" i="1" dirty="0" smtClean="0"/>
                  <a:t> </a:t>
                </a:r>
                <a:r>
                  <a:rPr lang="en-US" sz="2400" dirty="0" smtClean="0"/>
                  <a:t>so we get: </a:t>
                </a:r>
              </a:p>
              <a:p>
                <a:pPr marL="0" indent="0">
                  <a:buNone/>
                </a:pPr>
                <a:r>
                  <a:rPr lang="en-US" sz="2400" b="0" dirty="0"/>
                  <a:t> </a:t>
                </a:r>
                <a:r>
                  <a:rPr lang="en-US" sz="2400" b="0" dirty="0" smtClean="0"/>
                  <a:t>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/>
                      </a:rPr>
                      <m:t>r</m:t>
                    </m:r>
                    <m:d>
                      <m:dPr>
                        <m:ctrlPr>
                          <a:rPr lang="en-US" sz="20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/>
                          </a:rPr>
                          <m:t>t</m:t>
                        </m:r>
                      </m:e>
                    </m:d>
                    <m:r>
                      <m:rPr>
                        <m:sty m:val="p"/>
                      </m:rPr>
                      <a:rPr lang="en-US" sz="2000" b="0" i="0" smtClean="0">
                        <a:latin typeface="Cambria Math"/>
                      </a:rPr>
                      <m:t>cos</m:t>
                    </m:r>
                    <m:r>
                      <a:rPr lang="en-US" sz="2000" b="0" i="0" smtClean="0">
                        <a:latin typeface="Cambria Math"/>
                      </a:rPr>
                      <m:t>(</m:t>
                    </m:r>
                    <m:r>
                      <a:rPr lang="en-US" sz="2000" i="1">
                        <a:latin typeface="Cambria Math"/>
                      </a:rPr>
                      <m:t>2</m:t>
                    </m:r>
                    <m:r>
                      <m:rPr>
                        <m:sty m:val="p"/>
                      </m:rPr>
                      <a:rPr lang="el-GR" sz="2000" i="1">
                        <a:latin typeface="Cambria Math"/>
                      </a:rPr>
                      <m:t>π</m:t>
                    </m:r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𝑐</m:t>
                        </m:r>
                      </m:sub>
                    </m:sSub>
                    <m:r>
                      <a:rPr lang="en-US" sz="2000" i="1">
                        <a:latin typeface="Cambria Math"/>
                      </a:rPr>
                      <m:t>𝑡</m:t>
                    </m:r>
                    <m:r>
                      <a:rPr lang="en-US" sz="2000" b="0" i="1" smtClean="0">
                        <a:latin typeface="Cambria Math"/>
                      </a:rPr>
                      <m:t>)</m:t>
                    </m:r>
                    <m:r>
                      <a:rPr lang="en-US" sz="2000" i="1"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 sz="2000">
                        <a:latin typeface="Cambria Math"/>
                      </a:rPr>
                      <m:t>I</m:t>
                    </m:r>
                    <m:d>
                      <m:dPr>
                        <m:ctrlPr>
                          <a:rPr lang="en-US" sz="2000" i="1">
                            <a:latin typeface="Cambria Math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/>
                          </a:rPr>
                          <m:t>t</m:t>
                        </m:r>
                      </m:e>
                    </m:d>
                    <m:r>
                      <a:rPr lang="en-US" sz="2000" b="0" i="1" smtClean="0">
                        <a:latin typeface="Cambria Math"/>
                      </a:rPr>
                      <m:t>𝑐𝑜𝑠</m:t>
                    </m:r>
                    <m:r>
                      <a:rPr lang="en-US" sz="2000" b="0" i="1" smtClean="0">
                        <a:latin typeface="Cambria Math"/>
                      </a:rPr>
                      <m:t>(2</m:t>
                    </m:r>
                    <m:r>
                      <m:rPr>
                        <m:sty m:val="p"/>
                      </m:rPr>
                      <a:rPr lang="el-GR" sz="2000" i="1">
                        <a:latin typeface="Cambria Math"/>
                      </a:rPr>
                      <m:t>π</m:t>
                    </m:r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𝑐</m:t>
                        </m:r>
                      </m:sub>
                    </m:sSub>
                    <m:r>
                      <a:rPr lang="en-US" sz="2000" i="1">
                        <a:latin typeface="Cambria Math"/>
                      </a:rPr>
                      <m:t>𝑡</m:t>
                    </m:r>
                    <m:r>
                      <a:rPr lang="en-US" sz="2000" b="0" i="0" smtClean="0">
                        <a:latin typeface="Cambria Math"/>
                      </a:rPr>
                      <m:t>)</m:t>
                    </m:r>
                    <m:r>
                      <m:rPr>
                        <m:sty m:val="p"/>
                      </m:rPr>
                      <a:rPr lang="en-US" sz="2000">
                        <a:latin typeface="Cambria Math"/>
                      </a:rPr>
                      <m:t>cos</m:t>
                    </m:r>
                    <m:d>
                      <m:dPr>
                        <m:ctrlPr>
                          <a:rPr lang="en-US" sz="20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l-GR" sz="2000" i="1">
                            <a:latin typeface="Cambria Math"/>
                          </a:rPr>
                          <m:t>π</m:t>
                        </m:r>
                        <m:sSub>
                          <m:sSubPr>
                            <m:ctrlPr>
                              <a:rPr lang="en-US" sz="20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000" i="1">
                                <a:latin typeface="Cambria Math"/>
                              </a:rPr>
                              <m:t>𝑐</m:t>
                            </m:r>
                          </m:sub>
                        </m:sSub>
                        <m:r>
                          <a:rPr lang="en-US" sz="2000" i="1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en-US" sz="2000" i="1">
                        <a:latin typeface="Cambria Math"/>
                      </a:rPr>
                      <m:t>−</m:t>
                    </m:r>
                    <m:r>
                      <a:rPr lang="en-US" sz="2000" i="1">
                        <a:latin typeface="Cambria Math"/>
                      </a:rPr>
                      <m:t>𝑄</m:t>
                    </m:r>
                    <m:d>
                      <m:dPr>
                        <m:ctrlPr>
                          <a:rPr lang="en-US" sz="20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</a:rPr>
                          <m:t>𝑡</m:t>
                        </m:r>
                      </m:e>
                    </m:d>
                    <m:r>
                      <m:rPr>
                        <m:sty m:val="p"/>
                      </m:rPr>
                      <a:rPr lang="en-US" sz="2000" b="0" i="0" smtClean="0">
                        <a:latin typeface="Cambria Math"/>
                      </a:rPr>
                      <m:t>cos</m:t>
                    </m:r>
                    <m:r>
                      <a:rPr lang="en-US" sz="2000" b="0" i="1" smtClean="0">
                        <a:latin typeface="Cambria Math"/>
                      </a:rPr>
                      <m:t>⁡(</m:t>
                    </m:r>
                    <m:r>
                      <a:rPr lang="en-US" sz="2000" i="1">
                        <a:latin typeface="Cambria Math"/>
                      </a:rPr>
                      <m:t>2</m:t>
                    </m:r>
                    <m:r>
                      <m:rPr>
                        <m:sty m:val="p"/>
                      </m:rPr>
                      <a:rPr lang="el-GR" sz="2000" i="1">
                        <a:latin typeface="Cambria Math"/>
                      </a:rPr>
                      <m:t>π</m:t>
                    </m:r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𝑐</m:t>
                        </m:r>
                      </m:sub>
                    </m:sSub>
                    <m:r>
                      <a:rPr lang="en-US" sz="2000" i="1">
                        <a:latin typeface="Cambria Math"/>
                      </a:rPr>
                      <m:t>𝑡</m:t>
                    </m:r>
                    <m:r>
                      <a:rPr lang="en-US" sz="2000" b="0" i="0" smtClean="0">
                        <a:latin typeface="Cambria Math"/>
                      </a:rPr>
                      <m:t>)</m:t>
                    </m:r>
                    <m:r>
                      <m:rPr>
                        <m:sty m:val="p"/>
                      </m:rPr>
                      <a:rPr lang="en-US" sz="2000">
                        <a:latin typeface="Cambria Math"/>
                      </a:rPr>
                      <m:t>sin</m:t>
                    </m:r>
                    <m:r>
                      <a:rPr lang="en-US" sz="2000" i="1">
                        <a:latin typeface="Cambria Math"/>
                      </a:rPr>
                      <m:t>⁡(2</m:t>
                    </m:r>
                    <m:r>
                      <m:rPr>
                        <m:sty m:val="p"/>
                      </m:rPr>
                      <a:rPr lang="el-GR" sz="2000" i="1">
                        <a:latin typeface="Cambria Math"/>
                      </a:rPr>
                      <m:t>π</m:t>
                    </m:r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𝑐</m:t>
                        </m:r>
                      </m:sub>
                    </m:sSub>
                    <m:r>
                      <a:rPr lang="en-US" sz="2000" i="1">
                        <a:latin typeface="Cambria Math"/>
                      </a:rPr>
                      <m:t>𝑡</m:t>
                    </m:r>
                    <m:r>
                      <a:rPr lang="en-US" sz="2000" i="1">
                        <a:latin typeface="Cambria Math"/>
                      </a:rPr>
                      <m:t>)</m:t>
                    </m:r>
                  </m:oMath>
                </a14:m>
                <a:endParaRPr lang="en-US" sz="2000" dirty="0" smtClean="0"/>
              </a:p>
              <a:p>
                <a:pPr marL="0" indent="0">
                  <a:buNone/>
                </a:pPr>
                <a:r>
                  <a:rPr lang="en-US" sz="2000" dirty="0"/>
                  <a:t> </a:t>
                </a:r>
                <a:r>
                  <a:rPr lang="en-US" sz="2000" dirty="0" smtClean="0"/>
                  <a:t>     and respectively</a:t>
                </a:r>
              </a:p>
              <a:p>
                <a:pPr marL="0" indent="0">
                  <a:buNone/>
                </a:pPr>
                <a:r>
                  <a:rPr lang="en-US" sz="2000" dirty="0" smtClean="0"/>
                  <a:t>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/>
                      </a:rPr>
                      <m:t>r</m:t>
                    </m:r>
                    <m:d>
                      <m:dPr>
                        <m:ctrlPr>
                          <a:rPr lang="en-US" sz="2000" i="1" smtClean="0">
                            <a:latin typeface="Cambria Math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/>
                          </a:rPr>
                          <m:t>t</m:t>
                        </m:r>
                      </m:e>
                    </m:d>
                    <m:r>
                      <a:rPr lang="en-US" sz="2000" b="0" i="1" smtClean="0">
                        <a:latin typeface="Cambria Math"/>
                      </a:rPr>
                      <m:t>𝑠𝑖𝑛</m:t>
                    </m:r>
                    <m:r>
                      <a:rPr lang="en-US" sz="2000">
                        <a:latin typeface="Cambria Math"/>
                      </a:rPr>
                      <m:t>(</m:t>
                    </m:r>
                    <m:r>
                      <a:rPr lang="en-US" sz="2000" i="1">
                        <a:latin typeface="Cambria Math"/>
                      </a:rPr>
                      <m:t>2</m:t>
                    </m:r>
                    <m:r>
                      <m:rPr>
                        <m:sty m:val="p"/>
                      </m:rPr>
                      <a:rPr lang="el-GR" sz="2000" i="1">
                        <a:latin typeface="Cambria Math"/>
                      </a:rPr>
                      <m:t>π</m:t>
                    </m:r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𝑐</m:t>
                        </m:r>
                      </m:sub>
                    </m:sSub>
                    <m:r>
                      <a:rPr lang="en-US" sz="2000" i="1">
                        <a:latin typeface="Cambria Math"/>
                      </a:rPr>
                      <m:t>𝑡</m:t>
                    </m:r>
                    <m:r>
                      <a:rPr lang="en-US" sz="2000" i="1">
                        <a:latin typeface="Cambria Math"/>
                      </a:rPr>
                      <m:t>)=</m:t>
                    </m:r>
                    <m:r>
                      <m:rPr>
                        <m:sty m:val="p"/>
                      </m:rPr>
                      <a:rPr lang="en-US" sz="2000">
                        <a:latin typeface="Cambria Math"/>
                      </a:rPr>
                      <m:t>I</m:t>
                    </m:r>
                    <m:d>
                      <m:dPr>
                        <m:ctrlPr>
                          <a:rPr lang="en-US" sz="2000" i="1">
                            <a:latin typeface="Cambria Math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/>
                          </a:rPr>
                          <m:t>t</m:t>
                        </m:r>
                      </m:e>
                    </m:d>
                    <m:r>
                      <a:rPr lang="en-US" sz="2000" b="0" i="1" smtClean="0">
                        <a:latin typeface="Cambria Math"/>
                      </a:rPr>
                      <m:t>𝑠𝑖𝑛</m:t>
                    </m:r>
                    <m:r>
                      <a:rPr lang="en-US" sz="2000" i="1">
                        <a:latin typeface="Cambria Math"/>
                      </a:rPr>
                      <m:t>(2</m:t>
                    </m:r>
                    <m:r>
                      <m:rPr>
                        <m:sty m:val="p"/>
                      </m:rPr>
                      <a:rPr lang="el-GR" sz="2000" i="1">
                        <a:latin typeface="Cambria Math"/>
                      </a:rPr>
                      <m:t>π</m:t>
                    </m:r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𝑐</m:t>
                        </m:r>
                      </m:sub>
                    </m:sSub>
                    <m:r>
                      <a:rPr lang="en-US" sz="2000" i="1">
                        <a:latin typeface="Cambria Math"/>
                      </a:rPr>
                      <m:t>𝑡</m:t>
                    </m:r>
                    <m:r>
                      <a:rPr lang="en-US" sz="2000">
                        <a:latin typeface="Cambria Math"/>
                      </a:rPr>
                      <m:t>)</m:t>
                    </m:r>
                    <m:r>
                      <m:rPr>
                        <m:sty m:val="p"/>
                      </m:rPr>
                      <a:rPr lang="en-US" sz="2000">
                        <a:latin typeface="Cambria Math"/>
                      </a:rPr>
                      <m:t>cos</m:t>
                    </m:r>
                    <m:d>
                      <m:dPr>
                        <m:ctrlPr>
                          <a:rPr lang="en-US" sz="20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l-GR" sz="2000" i="1">
                            <a:latin typeface="Cambria Math"/>
                          </a:rPr>
                          <m:t>π</m:t>
                        </m:r>
                        <m:sSub>
                          <m:sSubPr>
                            <m:ctrlPr>
                              <a:rPr lang="en-US" sz="20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000" i="1">
                                <a:latin typeface="Cambria Math"/>
                              </a:rPr>
                              <m:t>𝑐</m:t>
                            </m:r>
                          </m:sub>
                        </m:sSub>
                        <m:r>
                          <a:rPr lang="en-US" sz="2000" i="1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en-US" sz="2000" i="1">
                        <a:latin typeface="Cambria Math"/>
                      </a:rPr>
                      <m:t>−</m:t>
                    </m:r>
                    <m:r>
                      <a:rPr lang="en-US" sz="2000" i="1">
                        <a:latin typeface="Cambria Math"/>
                      </a:rPr>
                      <m:t>𝑄</m:t>
                    </m:r>
                    <m:d>
                      <m:dPr>
                        <m:ctrlPr>
                          <a:rPr lang="en-US" sz="20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</a:rPr>
                          <m:t>𝑡</m:t>
                        </m:r>
                      </m:e>
                    </m:d>
                    <m:r>
                      <m:rPr>
                        <m:sty m:val="p"/>
                      </m:rPr>
                      <a:rPr lang="en-US" sz="2000" b="0" i="0" smtClean="0">
                        <a:latin typeface="Cambria Math"/>
                      </a:rPr>
                      <m:t>sin</m:t>
                    </m:r>
                    <m:r>
                      <a:rPr lang="en-US" sz="2000" i="1">
                        <a:latin typeface="Cambria Math"/>
                      </a:rPr>
                      <m:t>⁡(2</m:t>
                    </m:r>
                    <m:r>
                      <m:rPr>
                        <m:sty m:val="p"/>
                      </m:rPr>
                      <a:rPr lang="el-GR" sz="2000" i="1">
                        <a:latin typeface="Cambria Math"/>
                      </a:rPr>
                      <m:t>π</m:t>
                    </m:r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𝑐</m:t>
                        </m:r>
                      </m:sub>
                    </m:sSub>
                    <m:r>
                      <a:rPr lang="en-US" sz="2000" i="1">
                        <a:latin typeface="Cambria Math"/>
                      </a:rPr>
                      <m:t>𝑡</m:t>
                    </m:r>
                    <m:r>
                      <a:rPr lang="en-US" sz="2000">
                        <a:latin typeface="Cambria Math"/>
                      </a:rPr>
                      <m:t>)</m:t>
                    </m:r>
                    <m:r>
                      <m:rPr>
                        <m:sty m:val="p"/>
                      </m:rPr>
                      <a:rPr lang="en-US" sz="2000">
                        <a:latin typeface="Cambria Math"/>
                      </a:rPr>
                      <m:t>sin</m:t>
                    </m:r>
                    <m:r>
                      <a:rPr lang="en-US" sz="2000" i="1">
                        <a:latin typeface="Cambria Math"/>
                      </a:rPr>
                      <m:t>⁡(2</m:t>
                    </m:r>
                    <m:r>
                      <m:rPr>
                        <m:sty m:val="p"/>
                      </m:rPr>
                      <a:rPr lang="el-GR" sz="2000" i="1">
                        <a:latin typeface="Cambria Math"/>
                      </a:rPr>
                      <m:t>π</m:t>
                    </m:r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𝑐</m:t>
                        </m:r>
                      </m:sub>
                    </m:sSub>
                    <m:r>
                      <a:rPr lang="en-US" sz="2000" i="1">
                        <a:latin typeface="Cambria Math"/>
                      </a:rPr>
                      <m:t>𝑡</m:t>
                    </m:r>
                    <m:r>
                      <a:rPr lang="en-US" sz="2000" i="1">
                        <a:latin typeface="Cambria Math"/>
                      </a:rPr>
                      <m:t>)</m:t>
                    </m:r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400" i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1752600"/>
                <a:ext cx="8305800" cy="4724400"/>
              </a:xfrm>
              <a:blipFill rotWithShape="1">
                <a:blip r:embed="rId2"/>
                <a:stretch>
                  <a:fillRect l="-1175" t="-1032" r="-8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257100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QAM decoder (part 2)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85800" y="1981200"/>
                <a:ext cx="8305800" cy="47244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b="0" i="0" dirty="0" smtClean="0">
                    <a:latin typeface="Cambria Math"/>
                  </a:rPr>
                  <a:t>We have: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0" smtClean="0">
                          <a:latin typeface="Cambria Math"/>
                        </a:rPr>
                        <m:t>    </m:t>
                      </m:r>
                      <m:r>
                        <m:rPr>
                          <m:sty m:val="p"/>
                        </m:rPr>
                        <a:rPr lang="en-US" sz="2000">
                          <a:latin typeface="Cambria Math"/>
                        </a:rPr>
                        <m:t>r</m:t>
                      </m:r>
                      <m:d>
                        <m:dPr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000">
                              <a:latin typeface="Cambria Math"/>
                            </a:rPr>
                            <m:t>t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2000">
                          <a:latin typeface="Cambria Math"/>
                        </a:rPr>
                        <m:t>cos</m:t>
                      </m:r>
                      <m:d>
                        <m:dPr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l-GR" sz="2000" i="1">
                              <a:latin typeface="Cambria Math"/>
                            </a:rPr>
                            <m:t>π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sz="2000" i="1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en-US" sz="2000" i="1"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0">
                          <a:latin typeface="Cambria Math"/>
                        </a:rPr>
                        <m:t>I</m:t>
                      </m:r>
                      <m:d>
                        <m:dPr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000">
                              <a:latin typeface="Cambria Math"/>
                            </a:rPr>
                            <m:t>t</m:t>
                          </m:r>
                        </m:e>
                      </m:d>
                      <m:r>
                        <a:rPr lang="en-US" sz="2000" i="1">
                          <a:latin typeface="Cambria Math"/>
                        </a:rPr>
                        <m:t>𝑐𝑜𝑠</m:t>
                      </m:r>
                      <m:d>
                        <m:dPr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l-GR" sz="2000" i="1">
                              <a:latin typeface="Cambria Math"/>
                            </a:rPr>
                            <m:t>π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sz="2000" i="1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2000">
                          <a:latin typeface="Cambria Math"/>
                        </a:rPr>
                        <m:t>cos</m:t>
                      </m:r>
                      <m:d>
                        <m:dPr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l-GR" sz="2000" i="1">
                              <a:latin typeface="Cambria Math"/>
                            </a:rPr>
                            <m:t>π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sz="2000" i="1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en-US" sz="2000" i="1">
                          <a:latin typeface="Cambria Math"/>
                        </a:rPr>
                        <m:t>−</m:t>
                      </m:r>
                      <m:r>
                        <a:rPr lang="en-US" sz="2000" i="1">
                          <a:latin typeface="Cambria Math"/>
                        </a:rPr>
                        <m:t>𝑄</m:t>
                      </m:r>
                      <m:d>
                        <m:dPr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</a:rPr>
                            <m:t>𝑡</m:t>
                          </m:r>
                        </m:e>
                      </m:d>
                      <m:func>
                        <m:funcPr>
                          <m:ctrlPr>
                            <a:rPr lang="en-US" sz="2000" i="1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>
                              <a:latin typeface="Cambria Math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l-GR" sz="2000" i="1">
                                  <a:latin typeface="Cambria Math"/>
                                </a:rPr>
                                <m:t>π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  <m:func>
                        <m:funcPr>
                          <m:ctrlPr>
                            <a:rPr lang="en-US" sz="2000" i="1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>
                              <a:latin typeface="Cambria Math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l-GR" sz="2000" i="1">
                                  <a:latin typeface="Cambria Math"/>
                                </a:rPr>
                                <m:t>π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box>
                        <m:box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e>
                      </m:box>
                      <m:r>
                        <a:rPr lang="en-US" sz="2000" b="0" i="1" smtClean="0">
                          <a:latin typeface="Cambria Math"/>
                        </a:rPr>
                        <m:t>𝐼</m:t>
                      </m:r>
                      <m:d>
                        <m:d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𝑡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1+</m:t>
                          </m:r>
                          <m:func>
                            <m:funcPr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4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l-GR" sz="2000" i="1">
                                      <a:latin typeface="Cambria Math"/>
                                    </a:rPr>
                                    <m:t>π</m:t>
                                  </m:r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en-US" sz="2000" i="1">
                                      <a:latin typeface="Cambria Math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−</m:t>
                      </m:r>
                      <m:box>
                        <m:box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e>
                      </m:box>
                      <m:r>
                        <a:rPr lang="en-US" sz="2000" b="0" i="1" smtClean="0">
                          <a:latin typeface="Cambria Math"/>
                        </a:rPr>
                        <m:t>𝑄</m:t>
                      </m:r>
                      <m:d>
                        <m:d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𝑡</m:t>
                          </m:r>
                        </m:e>
                      </m:d>
                      <m:func>
                        <m:func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4</m:t>
                              </m:r>
                              <m:r>
                                <m:rPr>
                                  <m:sty m:val="p"/>
                                </m:rPr>
                                <a:rPr lang="el-GR" sz="2000" i="1">
                                  <a:latin typeface="Cambria Math"/>
                                </a:rPr>
                                <m:t>π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box>
                        <m:box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e>
                      </m:box>
                      <m:r>
                        <a:rPr lang="en-US" sz="2000" b="0" i="1" smtClean="0">
                          <a:latin typeface="Cambria Math"/>
                        </a:rPr>
                        <m:t>𝐼</m:t>
                      </m:r>
                      <m:d>
                        <m:d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+ </m:t>
                      </m:r>
                      <m:box>
                        <m:box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e>
                      </m:box>
                      <m:r>
                        <a:rPr lang="en-US" sz="2000" b="0" i="1" smtClean="0">
                          <a:latin typeface="Cambria Math"/>
                        </a:rPr>
                        <m:t>[</m:t>
                      </m:r>
                      <m:r>
                        <a:rPr lang="en-US" sz="2000" b="0" i="1" smtClean="0">
                          <a:latin typeface="Cambria Math"/>
                        </a:rPr>
                        <m:t>𝐼</m:t>
                      </m:r>
                      <m:d>
                        <m:d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𝑡</m:t>
                          </m:r>
                        </m:e>
                      </m:d>
                      <m:func>
                        <m:func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4</m:t>
                              </m:r>
                              <m:r>
                                <m:rPr>
                                  <m:sty m:val="p"/>
                                </m:rPr>
                                <a:rPr lang="el-GR" sz="2000" i="1">
                                  <a:latin typeface="Cambria Math"/>
                                </a:rPr>
                                <m:t>π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  <m:r>
                        <a:rPr lang="en-US" sz="2000" b="0" i="1" smtClean="0">
                          <a:latin typeface="Cambria Math"/>
                        </a:rPr>
                        <m:t>−</m:t>
                      </m:r>
                      <m:r>
                        <a:rPr lang="en-US" sz="2000" b="0" i="1" smtClean="0">
                          <a:latin typeface="Cambria Math"/>
                        </a:rPr>
                        <m:t>𝑄</m:t>
                      </m:r>
                      <m:d>
                        <m:d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𝑡</m:t>
                          </m:r>
                        </m:e>
                      </m:d>
                      <m:func>
                        <m:func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4</m:t>
                              </m:r>
                              <m:r>
                                <m:rPr>
                                  <m:sty m:val="p"/>
                                </m:rPr>
                                <a:rPr lang="el-GR" sz="2000" i="1">
                                  <a:latin typeface="Cambria Math"/>
                                </a:rPr>
                                <m:t>π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  <m:r>
                        <a:rPr lang="en-US" sz="2000" b="0" i="1" smtClean="0">
                          <a:latin typeface="Cambria Math"/>
                        </a:rPr>
                        <m:t>]</m:t>
                      </m:r>
                    </m:oMath>
                  </m:oMathPara>
                </a14:m>
                <a:endParaRPr lang="en-US" sz="2000" dirty="0" smtClean="0"/>
              </a:p>
              <a:p>
                <a:pPr marL="0" indent="0">
                  <a:buNone/>
                </a:pPr>
                <a:r>
                  <a:rPr lang="en-US" sz="2000" dirty="0" smtClean="0"/>
                  <a:t>The high frequency terms (containing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4</m:t>
                    </m:r>
                    <m:r>
                      <m:rPr>
                        <m:sty m:val="p"/>
                      </m:rPr>
                      <a:rPr lang="el-GR" sz="2000" i="1">
                        <a:latin typeface="Cambria Math"/>
                      </a:rPr>
                      <m:t>π</m:t>
                    </m:r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𝑐</m:t>
                        </m:r>
                      </m:sub>
                    </m:sSub>
                    <m:r>
                      <a:rPr lang="en-US" sz="2000" i="1">
                        <a:latin typeface="Cambria Math"/>
                      </a:rPr>
                      <m:t>𝑡</m:t>
                    </m:r>
                  </m:oMath>
                </a14:m>
                <a:r>
                  <a:rPr lang="en-US" sz="2000" dirty="0" smtClean="0"/>
                  <a:t>) can be eliminated using a low-pass filter, leaving only the in-phase component </a:t>
                </a:r>
                <a:r>
                  <a:rPr lang="en-US" sz="2000" i="1" dirty="0" smtClean="0"/>
                  <a:t>I(t).</a:t>
                </a:r>
              </a:p>
              <a:p>
                <a:pPr marL="0" indent="0">
                  <a:buNone/>
                </a:pPr>
                <a:r>
                  <a:rPr lang="en-US" sz="2000" dirty="0" smtClean="0"/>
                  <a:t>Similarly for the quadrature component:</a:t>
                </a:r>
              </a:p>
              <a:p>
                <a:pPr marL="0" indent="0">
                  <a:buNone/>
                </a:pPr>
                <a:r>
                  <a:rPr lang="en-US" sz="2000" dirty="0" smtClean="0"/>
                  <a:t>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/>
                      </a:rPr>
                      <m:t>r</m:t>
                    </m:r>
                    <m:d>
                      <m:dPr>
                        <m:ctrlPr>
                          <a:rPr lang="en-US" sz="2000" i="1">
                            <a:latin typeface="Cambria Math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/>
                          </a:rPr>
                          <m:t>t</m:t>
                        </m:r>
                      </m:e>
                    </m:d>
                    <m:r>
                      <a:rPr lang="en-US" sz="2000" i="1">
                        <a:latin typeface="Cambria Math"/>
                      </a:rPr>
                      <m:t>𝑠𝑖𝑛</m:t>
                    </m:r>
                    <m:r>
                      <a:rPr lang="en-US" sz="2000">
                        <a:latin typeface="Cambria Math"/>
                      </a:rPr>
                      <m:t>(</m:t>
                    </m:r>
                    <m:r>
                      <a:rPr lang="en-US" sz="2000" i="1">
                        <a:latin typeface="Cambria Math"/>
                      </a:rPr>
                      <m:t>2</m:t>
                    </m:r>
                    <m:r>
                      <m:rPr>
                        <m:sty m:val="p"/>
                      </m:rPr>
                      <a:rPr lang="el-GR" sz="2000" i="1">
                        <a:latin typeface="Cambria Math"/>
                      </a:rPr>
                      <m:t>π</m:t>
                    </m:r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𝑐</m:t>
                        </m:r>
                      </m:sub>
                    </m:sSub>
                    <m:r>
                      <a:rPr lang="en-US" sz="2000" i="1">
                        <a:latin typeface="Cambria Math"/>
                      </a:rPr>
                      <m:t>𝑡</m:t>
                    </m:r>
                    <m:r>
                      <a:rPr lang="en-US" sz="2000" i="1">
                        <a:latin typeface="Cambria Math"/>
                      </a:rPr>
                      <m:t>)=</m:t>
                    </m:r>
                    <m:r>
                      <m:rPr>
                        <m:sty m:val="p"/>
                      </m:rPr>
                      <a:rPr lang="en-US" sz="2000">
                        <a:latin typeface="Cambria Math"/>
                      </a:rPr>
                      <m:t>I</m:t>
                    </m:r>
                    <m:d>
                      <m:dPr>
                        <m:ctrlPr>
                          <a:rPr lang="en-US" sz="2000" i="1">
                            <a:latin typeface="Cambria Math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/>
                          </a:rPr>
                          <m:t>t</m:t>
                        </m:r>
                      </m:e>
                    </m:d>
                    <m:r>
                      <a:rPr lang="en-US" sz="2000" i="1">
                        <a:latin typeface="Cambria Math"/>
                      </a:rPr>
                      <m:t>𝑠𝑖𝑛</m:t>
                    </m:r>
                    <m:r>
                      <a:rPr lang="en-US" sz="2000" i="1">
                        <a:latin typeface="Cambria Math"/>
                      </a:rPr>
                      <m:t>(2</m:t>
                    </m:r>
                    <m:r>
                      <m:rPr>
                        <m:sty m:val="p"/>
                      </m:rPr>
                      <a:rPr lang="el-GR" sz="2000" i="1">
                        <a:latin typeface="Cambria Math"/>
                      </a:rPr>
                      <m:t>π</m:t>
                    </m:r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𝑐</m:t>
                        </m:r>
                      </m:sub>
                    </m:sSub>
                    <m:r>
                      <a:rPr lang="en-US" sz="2000" i="1">
                        <a:latin typeface="Cambria Math"/>
                      </a:rPr>
                      <m:t>𝑡</m:t>
                    </m:r>
                    <m:r>
                      <a:rPr lang="en-US" sz="2000">
                        <a:latin typeface="Cambria Math"/>
                      </a:rPr>
                      <m:t>)</m:t>
                    </m:r>
                    <m:r>
                      <m:rPr>
                        <m:sty m:val="p"/>
                      </m:rPr>
                      <a:rPr lang="en-US" sz="2000">
                        <a:latin typeface="Cambria Math"/>
                      </a:rPr>
                      <m:t>cos</m:t>
                    </m:r>
                    <m:d>
                      <m:dPr>
                        <m:ctrlPr>
                          <a:rPr lang="en-US" sz="20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l-GR" sz="2000" i="1">
                            <a:latin typeface="Cambria Math"/>
                          </a:rPr>
                          <m:t>π</m:t>
                        </m:r>
                        <m:sSub>
                          <m:sSubPr>
                            <m:ctrlPr>
                              <a:rPr lang="en-US" sz="20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000" i="1">
                                <a:latin typeface="Cambria Math"/>
                              </a:rPr>
                              <m:t>𝑐</m:t>
                            </m:r>
                          </m:sub>
                        </m:sSub>
                        <m:r>
                          <a:rPr lang="en-US" sz="2000" i="1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en-US" sz="2000" i="1">
                        <a:latin typeface="Cambria Math"/>
                      </a:rPr>
                      <m:t>−</m:t>
                    </m:r>
                    <m:r>
                      <a:rPr lang="en-US" sz="2000" i="1">
                        <a:latin typeface="Cambria Math"/>
                      </a:rPr>
                      <m:t>𝑄</m:t>
                    </m:r>
                    <m:d>
                      <m:dPr>
                        <m:ctrlPr>
                          <a:rPr lang="en-US" sz="20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</a:rPr>
                          <m:t>𝑡</m:t>
                        </m:r>
                      </m:e>
                    </m:d>
                    <m:r>
                      <m:rPr>
                        <m:sty m:val="p"/>
                      </m:rPr>
                      <a:rPr lang="en-US" sz="2000">
                        <a:latin typeface="Cambria Math"/>
                      </a:rPr>
                      <m:t>sin</m:t>
                    </m:r>
                    <m:r>
                      <a:rPr lang="en-US" sz="2000" i="1">
                        <a:latin typeface="Cambria Math"/>
                      </a:rPr>
                      <m:t>⁡(2</m:t>
                    </m:r>
                    <m:r>
                      <m:rPr>
                        <m:sty m:val="p"/>
                      </m:rPr>
                      <a:rPr lang="el-GR" sz="2000" i="1">
                        <a:latin typeface="Cambria Math"/>
                      </a:rPr>
                      <m:t>π</m:t>
                    </m:r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𝑐</m:t>
                        </m:r>
                      </m:sub>
                    </m:sSub>
                    <m:r>
                      <a:rPr lang="en-US" sz="2000" i="1">
                        <a:latin typeface="Cambria Math"/>
                      </a:rPr>
                      <m:t>𝑡</m:t>
                    </m:r>
                    <m:r>
                      <a:rPr lang="en-US" sz="2000">
                        <a:latin typeface="Cambria Math"/>
                      </a:rPr>
                      <m:t>)</m:t>
                    </m:r>
                    <m:r>
                      <m:rPr>
                        <m:sty m:val="p"/>
                      </m:rPr>
                      <a:rPr lang="en-US" sz="2000">
                        <a:latin typeface="Cambria Math"/>
                      </a:rPr>
                      <m:t>sin</m:t>
                    </m:r>
                    <m:r>
                      <a:rPr lang="en-US" sz="2000" i="1">
                        <a:latin typeface="Cambria Math"/>
                      </a:rPr>
                      <m:t>⁡(2</m:t>
                    </m:r>
                    <m:r>
                      <m:rPr>
                        <m:sty m:val="p"/>
                      </m:rPr>
                      <a:rPr lang="el-GR" sz="2000" i="1">
                        <a:latin typeface="Cambria Math"/>
                      </a:rPr>
                      <m:t>π</m:t>
                    </m:r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𝑐</m:t>
                        </m:r>
                      </m:sub>
                    </m:sSub>
                    <m:r>
                      <a:rPr lang="en-US" sz="2000" i="1">
                        <a:latin typeface="Cambria Math"/>
                      </a:rPr>
                      <m:t>𝑡</m:t>
                    </m:r>
                    <m:r>
                      <a:rPr lang="en-US" sz="2000" i="1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/>
                      </a:rPr>
                      <m:t>                                   </m:t>
                    </m:r>
                    <m:r>
                      <a:rPr lang="en-US" sz="2000" i="1">
                        <a:latin typeface="Cambria Math"/>
                      </a:rPr>
                      <m:t>=</m:t>
                    </m:r>
                    <m:box>
                      <m:boxPr>
                        <m:ctrlPr>
                          <a:rPr lang="en-US" sz="2000" i="1">
                            <a:latin typeface="Cambria Math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sz="2000" i="1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en-US" sz="2000" i="1">
                                <a:latin typeface="Cambria Math"/>
                              </a:rPr>
                              <m:t>2</m:t>
                            </m:r>
                          </m:den>
                        </m:f>
                      </m:e>
                    </m:box>
                    <m:r>
                      <a:rPr lang="en-US" sz="2000" i="1">
                        <a:latin typeface="Cambria Math"/>
                      </a:rPr>
                      <m:t>𝐼</m:t>
                    </m:r>
                    <m:d>
                      <m:dPr>
                        <m:ctrlPr>
                          <a:rPr lang="en-US" sz="20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</a:rPr>
                          <m:t>𝑡</m:t>
                        </m:r>
                      </m:e>
                    </m:d>
                    <m:func>
                      <m:funcPr>
                        <m:ctrlPr>
                          <a:rPr lang="en-US" sz="2000" b="0" i="1" smtClean="0">
                            <a:latin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l-GR" sz="2000" i="1">
                                <a:latin typeface="Cambria Math"/>
                              </a:rPr>
                              <m:t>π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/>
                                  </a:rPr>
                                  <m:t>𝑐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/>
                              </a:rPr>
                              <m:t>𝑡</m:t>
                            </m:r>
                          </m:e>
                        </m:d>
                      </m:e>
                    </m:func>
                    <m:r>
                      <a:rPr lang="en-US" sz="2000" i="1">
                        <a:latin typeface="Cambria Math"/>
                      </a:rPr>
                      <m:t>−</m:t>
                    </m:r>
                    <m:box>
                      <m:boxPr>
                        <m:ctrlPr>
                          <a:rPr lang="en-US" sz="2000" i="1">
                            <a:latin typeface="Cambria Math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sz="2000" i="1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en-US" sz="2000" i="1">
                                <a:latin typeface="Cambria Math"/>
                              </a:rPr>
                              <m:t>2</m:t>
                            </m:r>
                          </m:den>
                        </m:f>
                      </m:e>
                    </m:box>
                    <m:r>
                      <a:rPr lang="en-US" sz="2000" i="1">
                        <a:latin typeface="Cambria Math"/>
                      </a:rPr>
                      <m:t>𝑄</m:t>
                    </m:r>
                    <m:d>
                      <m:dPr>
                        <m:ctrlPr>
                          <a:rPr lang="en-US" sz="20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</a:rPr>
                          <m:t>𝑡</m:t>
                        </m:r>
                      </m:e>
                    </m:d>
                    <m:func>
                      <m:funcPr>
                        <m:ctrlPr>
                          <a:rPr lang="en-US" sz="2000" i="1">
                            <a:latin typeface="Cambria Math"/>
                          </a:rPr>
                        </m:ctrlPr>
                      </m:funcPr>
                      <m:fName>
                        <m:r>
                          <a:rPr lang="en-US" sz="2000" b="0" i="1" smtClean="0">
                            <a:latin typeface="Cambria Math"/>
                          </a:rPr>
                          <m:t>[1−</m:t>
                        </m:r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sz="2000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l-GR" sz="2000" i="1">
                                <a:latin typeface="Cambria Math"/>
                              </a:rPr>
                              <m:t>π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/>
                                  </a:rPr>
                                  <m:t>𝑐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/>
                              </a:rPr>
                              <m:t>𝑡</m:t>
                            </m:r>
                          </m:e>
                        </m:d>
                        <m:r>
                          <a:rPr lang="en-US" sz="2000" b="0" i="1" smtClean="0">
                            <a:latin typeface="Cambria Math"/>
                          </a:rPr>
                          <m:t>]</m:t>
                        </m:r>
                      </m:e>
                    </m:func>
                  </m:oMath>
                </a14:m>
                <a:endParaRPr lang="en-US" sz="2000" i="1" dirty="0" smtClean="0">
                  <a:latin typeface="Cambria Math"/>
                </a:endParaRPr>
              </a:p>
              <a:p>
                <a:pPr marL="0" indent="0">
                  <a:buNone/>
                </a:pPr>
                <a:r>
                  <a:rPr lang="en-US" sz="2000" dirty="0" smtClean="0"/>
                  <a:t>                            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=</m:t>
                    </m:r>
                    <m:box>
                      <m:boxPr>
                        <m:ctrlPr>
                          <a:rPr lang="en-US" sz="2000" i="1">
                            <a:latin typeface="Cambria Math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r>
                          <m:rPr>
                            <m:brk m:alnAt="63"/>
                          </m:rPr>
                          <a:rPr lang="en-US" sz="2000" b="0" i="1" smtClean="0">
                            <a:latin typeface="Cambria Math"/>
                          </a:rPr>
                          <m:t>−</m:t>
                        </m:r>
                        <m:f>
                          <m:fPr>
                            <m:ctrlPr>
                              <a:rPr lang="en-US" sz="2000" i="1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en-US" sz="2000" i="1">
                                <a:latin typeface="Cambria Math"/>
                              </a:rPr>
                              <m:t>2</m:t>
                            </m:r>
                          </m:den>
                        </m:f>
                      </m:e>
                    </m:box>
                    <m:r>
                      <a:rPr lang="en-US" sz="2000" b="0" i="1" smtClean="0">
                        <a:latin typeface="Cambria Math"/>
                      </a:rPr>
                      <m:t>𝑄</m:t>
                    </m:r>
                    <m:d>
                      <m:dPr>
                        <m:ctrlPr>
                          <a:rPr lang="en-US" sz="20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en-US" sz="2000" i="1">
                        <a:latin typeface="Cambria Math"/>
                      </a:rPr>
                      <m:t>+ </m:t>
                    </m:r>
                    <m:box>
                      <m:boxPr>
                        <m:ctrlPr>
                          <a:rPr lang="en-US" sz="2000" i="1">
                            <a:latin typeface="Cambria Math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sz="2000" i="1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en-US" sz="2000" i="1">
                                <a:latin typeface="Cambria Math"/>
                              </a:rPr>
                              <m:t>2</m:t>
                            </m:r>
                          </m:den>
                        </m:f>
                      </m:e>
                    </m:box>
                    <m:r>
                      <a:rPr lang="en-US" sz="2000" i="1">
                        <a:latin typeface="Cambria Math"/>
                      </a:rPr>
                      <m:t>[</m:t>
                    </m:r>
                    <m:r>
                      <a:rPr lang="en-US" sz="2000" i="1">
                        <a:latin typeface="Cambria Math"/>
                      </a:rPr>
                      <m:t>𝐼</m:t>
                    </m:r>
                    <m:d>
                      <m:dPr>
                        <m:ctrlPr>
                          <a:rPr lang="en-US" sz="20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</a:rPr>
                          <m:t>𝑡</m:t>
                        </m:r>
                      </m:e>
                    </m:d>
                    <m:func>
                      <m:funcPr>
                        <m:ctrlPr>
                          <a:rPr lang="en-US" sz="2000" i="1">
                            <a:latin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sz="2000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l-GR" sz="2000" i="1">
                                <a:latin typeface="Cambria Math"/>
                              </a:rPr>
                              <m:t>π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/>
                                  </a:rPr>
                                  <m:t>𝑐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/>
                              </a:rPr>
                              <m:t>𝑡</m:t>
                            </m:r>
                          </m:e>
                        </m:d>
                      </m:e>
                    </m:func>
                    <m:r>
                      <a:rPr lang="en-US" sz="2000" b="0" i="1" smtClean="0">
                        <a:latin typeface="Cambria Math"/>
                      </a:rPr>
                      <m:t>+</m:t>
                    </m:r>
                    <m:r>
                      <a:rPr lang="en-US" sz="2000" i="1">
                        <a:latin typeface="Cambria Math"/>
                      </a:rPr>
                      <m:t>𝑄</m:t>
                    </m:r>
                    <m:d>
                      <m:dPr>
                        <m:ctrlPr>
                          <a:rPr lang="en-US" sz="20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</a:rPr>
                          <m:t>𝑡</m:t>
                        </m:r>
                      </m:e>
                    </m:d>
                    <m:func>
                      <m:funcPr>
                        <m:ctrlPr>
                          <a:rPr lang="en-US" sz="2000" i="1">
                            <a:latin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sz="2000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l-GR" sz="2000" i="1">
                                <a:latin typeface="Cambria Math"/>
                              </a:rPr>
                              <m:t>π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/>
                                  </a:rPr>
                                  <m:t>𝑐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/>
                              </a:rPr>
                              <m:t>𝑡</m:t>
                            </m:r>
                          </m:e>
                        </m:d>
                      </m:e>
                    </m:func>
                    <m:r>
                      <a:rPr lang="en-US" sz="2000" i="1">
                        <a:latin typeface="Cambria Math"/>
                      </a:rPr>
                      <m:t>]</m:t>
                    </m:r>
                  </m:oMath>
                </a14:m>
                <a:endParaRPr lang="en-US" sz="2000" dirty="0" smtClean="0"/>
              </a:p>
              <a:p>
                <a:pPr marL="0" indent="0">
                  <a:buNone/>
                </a:pPr>
                <a:r>
                  <a:rPr lang="en-US" sz="2000" dirty="0" smtClean="0"/>
                  <a:t>Similarly, the </a:t>
                </a:r>
                <a:r>
                  <a:rPr lang="en-US" sz="2000" dirty="0"/>
                  <a:t>high frequency terms (containing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4</m:t>
                    </m:r>
                    <m:r>
                      <m:rPr>
                        <m:sty m:val="p"/>
                      </m:rPr>
                      <a:rPr lang="el-GR" sz="2000" i="1">
                        <a:latin typeface="Cambria Math"/>
                      </a:rPr>
                      <m:t>π</m:t>
                    </m:r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𝑐</m:t>
                        </m:r>
                      </m:sub>
                    </m:sSub>
                    <m:r>
                      <a:rPr lang="en-US" sz="2000" i="1">
                        <a:latin typeface="Cambria Math"/>
                      </a:rPr>
                      <m:t>𝑡</m:t>
                    </m:r>
                  </m:oMath>
                </a14:m>
                <a:r>
                  <a:rPr lang="en-US" sz="2000" dirty="0"/>
                  <a:t>) can be eliminated using a low-pass filter, leaving only the in-phase component </a:t>
                </a:r>
                <a:r>
                  <a:rPr lang="en-US" sz="2000" i="1" dirty="0" smtClean="0"/>
                  <a:t>Q(t</a:t>
                </a:r>
                <a:r>
                  <a:rPr lang="en-US" sz="2000" i="1" dirty="0"/>
                  <a:t>).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1981200"/>
                <a:ext cx="8305800" cy="4724400"/>
              </a:xfrm>
              <a:blipFill rotWithShape="1">
                <a:blip r:embed="rId2"/>
                <a:stretch>
                  <a:fillRect l="-808" t="-645" r="-2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0010921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2151</TotalTime>
  <Words>3845</Words>
  <Application>Microsoft Office PowerPoint</Application>
  <PresentationFormat>On-screen Show (4:3)</PresentationFormat>
  <Paragraphs>341</Paragraphs>
  <Slides>62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4" baseType="lpstr">
      <vt:lpstr>Default Design</vt:lpstr>
      <vt:lpstr>Bitmap Image</vt:lpstr>
      <vt:lpstr>Digital communication principles</vt:lpstr>
      <vt:lpstr>Digital communication systems</vt:lpstr>
      <vt:lpstr>The source encoder</vt:lpstr>
      <vt:lpstr>The source encoder</vt:lpstr>
      <vt:lpstr>Detailed view of the source encoder</vt:lpstr>
      <vt:lpstr>1)+2) Sampling &amp; quantization</vt:lpstr>
      <vt:lpstr>1)+2)Sampling and quantization examples</vt:lpstr>
      <vt:lpstr>3) Discrete Source encoding algorithms</vt:lpstr>
      <vt:lpstr>Variable length codes for discrete sources</vt:lpstr>
      <vt:lpstr>Variable length codes for discrete sources (1)</vt:lpstr>
      <vt:lpstr>Huffman encoding example</vt:lpstr>
      <vt:lpstr>Huffman encoding example (2)</vt:lpstr>
      <vt:lpstr>Huffman encoding algorithm</vt:lpstr>
      <vt:lpstr>More on Huffman encoding</vt:lpstr>
      <vt:lpstr>The LZW encoding algorithm</vt:lpstr>
      <vt:lpstr>The LZW encoding algorithm</vt:lpstr>
      <vt:lpstr>The LZW decoding algorithm</vt:lpstr>
      <vt:lpstr>LZW encoding example (1)</vt:lpstr>
      <vt:lpstr>LZW encoding example (2)</vt:lpstr>
      <vt:lpstr>LZW encoding example (3)</vt:lpstr>
      <vt:lpstr>LZW encoding example (4)</vt:lpstr>
      <vt:lpstr>LZW encoding example (5)</vt:lpstr>
      <vt:lpstr>LZW encoding example (6)</vt:lpstr>
      <vt:lpstr>LZW decoding example (1)</vt:lpstr>
      <vt:lpstr>LZW decoding example (2)</vt:lpstr>
      <vt:lpstr>LZW decoding example (3)</vt:lpstr>
      <vt:lpstr>The channel encoder (Modulator)</vt:lpstr>
      <vt:lpstr>Channel capacity</vt:lpstr>
      <vt:lpstr>Reasons for choosing encoding techniques</vt:lpstr>
      <vt:lpstr>What is modulation ?</vt:lpstr>
      <vt:lpstr>Analog modulation</vt:lpstr>
      <vt:lpstr>Simple digital modulation and demodulation</vt:lpstr>
      <vt:lpstr>Simple digital modulation and demodulation schemes</vt:lpstr>
      <vt:lpstr>Signal characteristics that can be modified</vt:lpstr>
      <vt:lpstr>Modulation</vt:lpstr>
      <vt:lpstr>Modulation (1)</vt:lpstr>
      <vt:lpstr>Simple digital modulation techniques</vt:lpstr>
      <vt:lpstr>Simple digital modulation techniques</vt:lpstr>
      <vt:lpstr>Binary ASK (Amplitude Shift Keying</vt:lpstr>
      <vt:lpstr>Binary FSK (Frequency shift keyring)</vt:lpstr>
      <vt:lpstr>Binary PSK (Phase shift keyring)</vt:lpstr>
      <vt:lpstr>Complex digital modulation and demodulation</vt:lpstr>
      <vt:lpstr>Complex digital modulation and demodulation</vt:lpstr>
      <vt:lpstr>Complex digital modulation (simplified)</vt:lpstr>
      <vt:lpstr>Step 1. Bits to signal</vt:lpstr>
      <vt:lpstr>Step 2. Signals to waveform</vt:lpstr>
      <vt:lpstr>Fourier Series</vt:lpstr>
      <vt:lpstr>Fourier Transform</vt:lpstr>
      <vt:lpstr>Fourier Transform (cont.)</vt:lpstr>
      <vt:lpstr>Step 3. Baseband to passband</vt:lpstr>
      <vt:lpstr>Example of digital modulation techniques</vt:lpstr>
      <vt:lpstr>1. Simple example of binary modulation algorithm</vt:lpstr>
      <vt:lpstr>Simple example of binary modulation algorithm (part 2)</vt:lpstr>
      <vt:lpstr>2. PAM (Pulse Amplitude Modulation)</vt:lpstr>
      <vt:lpstr>1D signal constellation example for PAM</vt:lpstr>
      <vt:lpstr>p(t) function example for PAM</vt:lpstr>
      <vt:lpstr>PAM passband transform</vt:lpstr>
      <vt:lpstr>3. QAM (Quadrature Amplitude Modulation)</vt:lpstr>
      <vt:lpstr>Constellation example for 16-QAM</vt:lpstr>
      <vt:lpstr>QAM baseband to passband </vt:lpstr>
      <vt:lpstr>QAM decoder (part 1)</vt:lpstr>
      <vt:lpstr>QAM decoder (part 2)</vt:lpstr>
    </vt:vector>
  </TitlesOfParts>
  <Company>Departamentul de Informatica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modulation techniques</dc:title>
  <dc:creator>Forest</dc:creator>
  <cp:lastModifiedBy>Forest</cp:lastModifiedBy>
  <cp:revision>139</cp:revision>
  <dcterms:created xsi:type="dcterms:W3CDTF">2012-05-07T12:54:21Z</dcterms:created>
  <dcterms:modified xsi:type="dcterms:W3CDTF">2021-11-09T16:05:56Z</dcterms:modified>
</cp:coreProperties>
</file>