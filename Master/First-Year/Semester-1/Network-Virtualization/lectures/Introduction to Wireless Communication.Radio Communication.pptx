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embeddedFontLst>
    <p:embeddedFont>
      <p:font typeface="Proxima Nova"/>
      <p:regular r:id="rId31"/>
      <p:bold r:id="rId32"/>
      <p:italic r:id="rId33"/>
      <p:boldItalic r:id="rId34"/>
    </p:embeddedFont>
    <p:embeddedFont>
      <p:font typeface="Tahoma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roximaNova-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bold.fntdata"/><Relationship Id="rId13" Type="http://schemas.openxmlformats.org/officeDocument/2006/relationships/slide" Target="slides/slide8.xml"/><Relationship Id="rId35" Type="http://schemas.openxmlformats.org/officeDocument/2006/relationships/font" Target="fonts/Tahoma-regular.fntdata"/><Relationship Id="rId12" Type="http://schemas.openxmlformats.org/officeDocument/2006/relationships/slide" Target="slides/slide7.xml"/><Relationship Id="rId34" Type="http://schemas.openxmlformats.org/officeDocument/2006/relationships/font" Target="fonts/ProximaNova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Tahom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b79562ebb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b79562eb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b79562eb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9b79562eb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9b79562ebb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9b79562eb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b79562ebb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b79562eb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3997533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676400"/>
            <a:ext cx="8123100" cy="21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4243083"/>
            <a:ext cx="81231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3997533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743200"/>
            <a:ext cx="8123100" cy="103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701800"/>
            <a:ext cx="57975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10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607767"/>
            <a:ext cx="4045200" cy="201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5649100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321967"/>
            <a:ext cx="8520600" cy="25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4095067"/>
            <a:ext cx="8520600" cy="1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150937" y="617537"/>
            <a:ext cx="7793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1465" lvl="1" marL="914400" rtl="0" algn="l">
              <a:spcBef>
                <a:spcPts val="360"/>
              </a:spcBef>
              <a:spcAft>
                <a:spcPts val="0"/>
              </a:spcAft>
              <a:buSzPts val="990"/>
              <a:buChar char="○"/>
              <a:defRPr/>
            </a:lvl2pPr>
            <a:lvl3pPr indent="-285750" lvl="2" marL="1371600" rtl="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rtl="0" algn="l">
              <a:spcBef>
                <a:spcPts val="360"/>
              </a:spcBef>
              <a:spcAft>
                <a:spcPts val="0"/>
              </a:spcAft>
              <a:buSzPts val="990"/>
              <a:buChar char="●"/>
              <a:defRPr/>
            </a:lvl4pPr>
            <a:lvl5pPr indent="-285750" lvl="4" marL="2286000" rtl="0" algn="l">
              <a:spcBef>
                <a:spcPts val="36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 algn="l">
              <a:spcBef>
                <a:spcPts val="36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 algn="l">
              <a:spcBef>
                <a:spcPts val="36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ancom.ro/spectru-radio_4688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510450" y="1676400"/>
            <a:ext cx="8123100" cy="21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latin typeface="Tahoma"/>
                <a:ea typeface="Tahoma"/>
                <a:cs typeface="Tahoma"/>
                <a:sym typeface="Tahoma"/>
              </a:rPr>
              <a:t>Introduction to Wireless Communication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528800" y="4197425"/>
            <a:ext cx="81138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Radio Communication</a:t>
            </a:r>
            <a:endParaRPr sz="29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History of wireless communication (I)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1182675" y="1712899"/>
            <a:ext cx="7961400" cy="51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pre-industrial age: line-of-sight communication using smoke/torch signaling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electrical telegraph invented in 1838 by Samuel Morse: wired communication using Morse codes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telegraph replaced by telephone network between 1870-1900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Guglielmo Marconi invented the wireless telegraph in 1896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ommunication by encoding alphanumeric characters in analog signal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ent telegraphic signals across the Atlantic Ocean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1914 – first voice communication over radio waves</a:t>
            </a:r>
            <a:endParaRPr/>
          </a:p>
          <a:p>
            <a:pPr indent="-36576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Communications satellites launched in 1960s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0"/>
            <a:ext cx="57912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150925" y="617525"/>
            <a:ext cx="79215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History of wireless communication (II)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886575" y="2017700"/>
            <a:ext cx="8103300" cy="465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Advances in wireless technology</a:t>
            </a:r>
            <a:endParaRPr/>
          </a:p>
          <a:p>
            <a:pPr indent="-2984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Noto Sans Symbols"/>
              <a:buChar char="■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Radio, television, mobile telephone, communication satellites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First computer network based on packet radio - ALOHANET at Univ. of Hawaii, 1971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1970-1990 - ad hoc wireless networks developed by the US military (DARPA)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1985 - first commercial wireless LAN appeared, but were a poor competitor for wired Ethernet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1960 - AT&amp;T Bell Labs developed the cellular concept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1983 - first commercial cellular networks appeared in the USA; analog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1997 - first standard from the IEEE 802.11 family (Wi-Fi)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6075" y="0"/>
            <a:ext cx="5791199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Basics of Wireless Communication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What is Wireless Communication ?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Transmitting voice and data using electromagnetic waves in open space (atmosphere)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Electromagnetic waves</a:t>
            </a: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Travel at speed of light (c = 3x10</a:t>
            </a:r>
            <a:r>
              <a:rPr b="0" baseline="3000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m/s)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Has a frequency (f)  and wavelength (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228600" lvl="4" marL="2057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 = f x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Higher frequency means higher energy photons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higher the energy photon the more penetrating is the radiation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Types of wireless communication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2133600"/>
            <a:ext cx="6440487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2286000" y="54864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1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celullar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3429000" y="54864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1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wireless computer network</a:t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6248400" y="54864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1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radio service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1150937" y="617537"/>
            <a:ext cx="77931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Types of wireless communication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457200" rtl="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680"/>
              <a:buFont typeface="Tahoma"/>
              <a:buChar char="●"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Applications: 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voice, short text messages, sensor binary data, Internet access, video conferencing, multimedia communication, web browsing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ahoma"/>
              <a:buChar char="●"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Systems: 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cellular telephone systems, bluetooth networks, Wi-Fi LANs, ad hoc wireless networks, satellite systems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ahoma"/>
              <a:buChar char="●"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Coverage region: 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in-building, campus, city, global</a:t>
            </a: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sz="24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Electromagnetic radiation spectrum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133600"/>
            <a:ext cx="8029575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1225550" y="715962"/>
            <a:ext cx="7354887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Wavelength of Some Technologies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1066800" y="2017712"/>
            <a:ext cx="7848600" cy="4687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GSM Phones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frequency   ~=  900 MHz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wavelength ~=  33cm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PCS Phones (Personal Communication Service)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frequency   ~= 1.8 GHz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wavelength ~= 17.5 cm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Bluetooth: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frequency   ~=  2.4GHz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wavelength ~= 12.5cm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4G cellular phones: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frequency = 700MHz - 8GHz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Wi-Fi:</a:t>
            </a:r>
            <a:r>
              <a:rPr lang="en-US">
                <a:solidFill>
                  <a:srgbClr val="FF0000"/>
                </a:solidFill>
              </a:rPr>
              <a:t> 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requency ~= 2.4 GHz, 5GHz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Types of electromagnetic carriers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1182687" y="2017712"/>
            <a:ext cx="796131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the distance between the sender and receiver is short (e.g. TV box and a remote control) infrared waves are used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long range distances between sender and receiver (e.g. TV broadcasting and cellular service) both microwaves and radio waves are used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radio waves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are ideal when large areas need to be coverd and obstacles exist in the transmission 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1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microwaves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are good when large areas need to be coverd and no obstacles exist in the transmission path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Wireless applications (services)</a:t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438400"/>
            <a:ext cx="84582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nternet of things" id="131" name="Google Shape;13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4495800"/>
            <a:ext cx="3657600" cy="20589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Advantages and disadvantages of wireless communication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1182687" y="2017712"/>
            <a:ext cx="796131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advantages: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mobility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wireless communication network is a solution in areas where cables are impossible to install (e.g. hazardous areas, long distances etc.)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easier to maintain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disadvantages: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has security vulnerabilities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 costs for setting the infrastructure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unlike wired comm., wireless comm. is influenced by physical obstructions, climatic conditions, interference from other wireless devices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Frequency Carries/Channels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information from sender to receiver is carrier over a well defined frequency band.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is called a channel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channel has a fixed frequency bandwidth (in KHz) and Capacity (bit-rate)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Different frequency bands (channels) can be used to transmit information in parallel and independently.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endParaRPr/>
          </a:p>
        </p:txBody>
      </p:sp>
      <p:grpSp>
        <p:nvGrpSpPr>
          <p:cNvPr id="149" name="Google Shape;149;p27"/>
          <p:cNvGrpSpPr/>
          <p:nvPr/>
        </p:nvGrpSpPr>
        <p:grpSpPr>
          <a:xfrm>
            <a:off x="1371600" y="5410200"/>
            <a:ext cx="6781800" cy="1371600"/>
            <a:chOff x="864" y="2880"/>
            <a:chExt cx="4272" cy="864"/>
          </a:xfrm>
        </p:grpSpPr>
        <p:sp>
          <p:nvSpPr>
            <p:cNvPr id="150" name="Google Shape;150;p27"/>
            <p:cNvSpPr txBox="1"/>
            <p:nvPr/>
          </p:nvSpPr>
          <p:spPr>
            <a:xfrm>
              <a:off x="1680" y="2880"/>
              <a:ext cx="2640" cy="288"/>
            </a:xfrm>
            <a:prstGeom prst="rect">
              <a:avLst/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Channel 1 (b -  b+30) </a:t>
              </a:r>
              <a:endParaRPr/>
            </a:p>
          </p:txBody>
        </p:sp>
        <p:sp>
          <p:nvSpPr>
            <p:cNvPr id="151" name="Google Shape;151;p27"/>
            <p:cNvSpPr txBox="1"/>
            <p:nvPr/>
          </p:nvSpPr>
          <p:spPr>
            <a:xfrm>
              <a:off x="1680" y="3168"/>
              <a:ext cx="2640" cy="288"/>
            </a:xfrm>
            <a:prstGeom prst="rect">
              <a:avLst/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Channel 2 (b+30 - b+60)</a:t>
              </a:r>
              <a:endParaRPr/>
            </a:p>
          </p:txBody>
        </p:sp>
        <p:sp>
          <p:nvSpPr>
            <p:cNvPr id="152" name="Google Shape;152;p27"/>
            <p:cNvSpPr txBox="1"/>
            <p:nvPr/>
          </p:nvSpPr>
          <p:spPr>
            <a:xfrm>
              <a:off x="1680" y="3456"/>
              <a:ext cx="2640" cy="288"/>
            </a:xfrm>
            <a:prstGeom prst="rect">
              <a:avLst/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Channel 3 (b+60 - b+90) </a:t>
              </a:r>
              <a:endParaRPr/>
            </a:p>
          </p:txBody>
        </p:sp>
        <p:sp>
          <p:nvSpPr>
            <p:cNvPr id="153" name="Google Shape;153;p27"/>
            <p:cNvSpPr txBox="1"/>
            <p:nvPr/>
          </p:nvSpPr>
          <p:spPr>
            <a:xfrm>
              <a:off x="864" y="2880"/>
              <a:ext cx="816" cy="864"/>
            </a:xfrm>
            <a:prstGeom prst="rect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Station A</a:t>
              </a:r>
              <a:endParaRPr/>
            </a:p>
          </p:txBody>
        </p:sp>
        <p:sp>
          <p:nvSpPr>
            <p:cNvPr id="154" name="Google Shape;154;p27"/>
            <p:cNvSpPr txBox="1"/>
            <p:nvPr/>
          </p:nvSpPr>
          <p:spPr>
            <a:xfrm>
              <a:off x="4320" y="2880"/>
              <a:ext cx="816" cy="864"/>
            </a:xfrm>
            <a:prstGeom prst="rect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Station B</a:t>
              </a:r>
              <a:endParaRPr/>
            </a:p>
          </p:txBody>
        </p:sp>
      </p:grpSp>
      <p:sp>
        <p:nvSpPr>
          <p:cNvPr id="155" name="Google Shape;155;p27"/>
          <p:cNvSpPr txBox="1"/>
          <p:nvPr/>
        </p:nvSpPr>
        <p:spPr>
          <a:xfrm>
            <a:off x="1066800" y="1905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1066800" y="1828800"/>
            <a:ext cx="80772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Assume a spectrum of 90KHz is allocated over a base frequency b for communication between stations A and B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Assume each channel occupies 30KHz.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There are 3 channels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Each channel is simplex (Transmission occurs in one way)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For full duplex communication: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Use two different channels (front and reverse channels)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Use time division in a channel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826275" y="617525"/>
            <a:ext cx="81177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Regulations for the radio (electromagnetic) spectrum</a:t>
            </a:r>
            <a:endParaRPr sz="4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1182675" y="2017698"/>
            <a:ext cx="7761300" cy="474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radio spectrum is a scarce resource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is regulated by global and local authorities; divided into frequency bands and rented for several years to higher bidder by local governments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Romania, the regulation authority is ANCOM; </a:t>
            </a:r>
            <a:r>
              <a:rPr lang="en-US" sz="24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https://www.ancom.ro/spectru-radio_4688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globally, the International Telecommunication Union (ITU) regulates the radio spectrum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Char char="●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some frequency bands are free like the industrial, science, medicine (ISM) bands - Wi-Fi uses this</a:t>
            </a:r>
            <a:endParaRPr sz="3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Basics of Radio Communication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Radio waves generation (1)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990600" y="1752600"/>
            <a:ext cx="815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a high-frequency alternating current (AC) passes through a copper conductor it generates radio waves which are propagated into the air using an antena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radio waves have frequencies between: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Hz – 300 KHz  - low frequency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300 KHz – 30 MHz – high frequency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30 MHz – 300 MHz – very high frequency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300 MHz – 300 GHz – ultra high frequency</a:t>
            </a: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819400"/>
            <a:ext cx="64008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1150937" y="617537"/>
            <a:ext cx="77931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Radio waves generation (2)</a:t>
            </a:r>
            <a:endParaRPr sz="4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Font typeface="Tahoma"/>
              <a:buChar char="●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the required antenna size for good reception is inversely proportional to the square of signal frequency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ahoma"/>
              <a:buChar char="●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higher frequency bands for the service  allows for more compact antennas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ahoma"/>
              <a:buChar char="●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however, received signal power with nondirectional antennas is proportional to the inverse of frequency squared, so it is harder to cover large distances with higher frequency signals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Radio propagation</a:t>
            </a:r>
            <a:endParaRPr/>
          </a:p>
        </p:txBody>
      </p:sp>
      <p:pic>
        <p:nvPicPr>
          <p:cNvPr id="186" name="Google Shape;1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62200"/>
            <a:ext cx="7543800" cy="172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Radio propagation (2)</a:t>
            </a: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990600" y="1752600"/>
            <a:ext cx="7808912" cy="2478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radio waves are generated by an antenna and they propagate in all directions as a straight line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radio waves travel at a velocity of 186.000 miles per second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radio waves become weaker as they travel a long distance</a:t>
            </a:r>
            <a:endParaRPr/>
          </a:p>
        </p:txBody>
      </p:sp>
      <p:pic>
        <p:nvPicPr>
          <p:cNvPr id="193" name="Google Shape;19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4191000"/>
            <a:ext cx="5953125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Radio propagation (3)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are 3 modes of propagation: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surface mode – for low frequency waves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 mode – for high frequency waves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ionospheric mode – long distance high frequency waves</a:t>
            </a:r>
            <a:endParaRPr/>
          </a:p>
        </p:txBody>
      </p:sp>
      <p:pic>
        <p:nvPicPr>
          <p:cNvPr id="200" name="Google Shape;2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886200"/>
            <a:ext cx="6553200" cy="2506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Modulation</a:t>
            </a:r>
            <a:endParaRPr/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modulation = adding information (e.g. voice) to a carrier electromagnetic (radio) signal</a:t>
            </a:r>
            <a:endParaRPr/>
          </a:p>
        </p:txBody>
      </p:sp>
      <p:pic>
        <p:nvPicPr>
          <p:cNvPr id="207" name="Google Shape;2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2971800"/>
            <a:ext cx="6791325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908900" y="617525"/>
            <a:ext cx="803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Analog modulation.</a:t>
            </a:r>
            <a:endParaRPr sz="36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Frequency Modulation (FM).</a:t>
            </a:r>
            <a:r>
              <a:rPr lang="en-US" sz="2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Amplitude Modulation (AM).</a:t>
            </a:r>
            <a:endParaRPr sz="1600"/>
          </a:p>
        </p:txBody>
      </p:sp>
      <p:pic>
        <p:nvPicPr>
          <p:cNvPr descr="D:\Forest\didactic\2009-2010\Retele dinamice\AMFM-modulation.gif" id="213" name="Google Shape;21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2209800"/>
            <a:ext cx="4495800" cy="3513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Radio frequency interference</a:t>
            </a:r>
            <a:endParaRPr/>
          </a:p>
        </p:txBody>
      </p:sp>
      <p:pic>
        <p:nvPicPr>
          <p:cNvPr id="219" name="Google Shape;219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Radio signal attenuation (path loss)</a:t>
            </a:r>
            <a:endParaRPr/>
          </a:p>
        </p:txBody>
      </p:sp>
      <p:pic>
        <p:nvPicPr>
          <p:cNvPr id="225" name="Google Shape;225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81200"/>
            <a:ext cx="77724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